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charts/chart2.xml" ContentType="application/vnd.openxmlformats-officedocument.drawingml.chart+xml"/>
  <Override PartName="/ppt/notesSlides/notesSlide8.xml" ContentType="application/vnd.openxmlformats-officedocument.presentationml.notesSlide+xml"/>
  <Override PartName="/ppt/charts/chart3.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4.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5.xml" ContentType="application/vnd.openxmlformats-officedocument.drawingml.chart+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6.xml" ContentType="application/vnd.openxmlformats-officedocument.drawingml.chart+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604"/>
    <p:restoredTop sz="81194"/>
  </p:normalViewPr>
  <p:slideViewPr>
    <p:cSldViewPr snapToGrid="0">
      <p:cViewPr varScale="1">
        <p:scale>
          <a:sx n="127" d="100"/>
          <a:sy n="127" d="100"/>
        </p:scale>
        <p:origin x="97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v>RF case</c:v>
          </c:tx>
          <c:spPr>
            <a:ln w="26670">
              <a:solidFill>
                <a:srgbClr val="087F95"/>
              </a:solidFill>
            </a:ln>
          </c:spPr>
          <c:marker>
            <c:symbol val="none"/>
          </c:marker>
          <c:xVal>
            <c:numRef>
              <c:f>'Chart Data'!$A$2:$A$74</c:f>
              <c:numCache>
                <c:formatCode>General</c:formatCode>
                <c:ptCount val="73"/>
                <c:pt idx="0">
                  <c:v>0</c:v>
                </c:pt>
                <c:pt idx="1">
                  <c:v>0.33333299999999999</c:v>
                </c:pt>
                <c:pt idx="2">
                  <c:v>0.66666700000000001</c:v>
                </c:pt>
                <c:pt idx="3">
                  <c:v>1</c:v>
                </c:pt>
                <c:pt idx="4">
                  <c:v>1.3333330000000001</c:v>
                </c:pt>
                <c:pt idx="5">
                  <c:v>1.6666669999999999</c:v>
                </c:pt>
                <c:pt idx="6">
                  <c:v>2</c:v>
                </c:pt>
                <c:pt idx="7">
                  <c:v>2.3333330000000001</c:v>
                </c:pt>
                <c:pt idx="8">
                  <c:v>2.6666669999999999</c:v>
                </c:pt>
                <c:pt idx="9">
                  <c:v>3</c:v>
                </c:pt>
                <c:pt idx="10">
                  <c:v>3.3333330000000001</c:v>
                </c:pt>
                <c:pt idx="11">
                  <c:v>3.6666669999999999</c:v>
                </c:pt>
                <c:pt idx="12">
                  <c:v>4</c:v>
                </c:pt>
                <c:pt idx="13">
                  <c:v>4.3333329999999997</c:v>
                </c:pt>
                <c:pt idx="14">
                  <c:v>4.6666670000000003</c:v>
                </c:pt>
                <c:pt idx="15">
                  <c:v>5</c:v>
                </c:pt>
                <c:pt idx="16">
                  <c:v>5.3333329999999997</c:v>
                </c:pt>
                <c:pt idx="17">
                  <c:v>5.6666670000000003</c:v>
                </c:pt>
                <c:pt idx="18">
                  <c:v>6</c:v>
                </c:pt>
                <c:pt idx="19">
                  <c:v>6.3333329999999997</c:v>
                </c:pt>
                <c:pt idx="20">
                  <c:v>6.6666670000000003</c:v>
                </c:pt>
                <c:pt idx="21">
                  <c:v>7</c:v>
                </c:pt>
                <c:pt idx="22">
                  <c:v>7.3333329999999997</c:v>
                </c:pt>
                <c:pt idx="23">
                  <c:v>7.6666670000000003</c:v>
                </c:pt>
                <c:pt idx="24">
                  <c:v>8</c:v>
                </c:pt>
                <c:pt idx="25">
                  <c:v>8.3333329999999997</c:v>
                </c:pt>
                <c:pt idx="26">
                  <c:v>8.6666670000000003</c:v>
                </c:pt>
                <c:pt idx="27">
                  <c:v>9</c:v>
                </c:pt>
                <c:pt idx="28">
                  <c:v>9.3333329999999997</c:v>
                </c:pt>
                <c:pt idx="29">
                  <c:v>9.6666670000000003</c:v>
                </c:pt>
                <c:pt idx="30">
                  <c:v>10</c:v>
                </c:pt>
                <c:pt idx="31">
                  <c:v>10.333333</c:v>
                </c:pt>
                <c:pt idx="32">
                  <c:v>10.666667</c:v>
                </c:pt>
                <c:pt idx="33">
                  <c:v>11</c:v>
                </c:pt>
                <c:pt idx="34">
                  <c:v>11.333333</c:v>
                </c:pt>
                <c:pt idx="35">
                  <c:v>11.666667</c:v>
                </c:pt>
                <c:pt idx="36">
                  <c:v>12</c:v>
                </c:pt>
                <c:pt idx="37">
                  <c:v>12.333333</c:v>
                </c:pt>
                <c:pt idx="38">
                  <c:v>12.666667</c:v>
                </c:pt>
                <c:pt idx="39">
                  <c:v>13</c:v>
                </c:pt>
                <c:pt idx="40">
                  <c:v>13.333333</c:v>
                </c:pt>
                <c:pt idx="41">
                  <c:v>13.666667</c:v>
                </c:pt>
                <c:pt idx="42">
                  <c:v>14</c:v>
                </c:pt>
                <c:pt idx="43">
                  <c:v>14.333333</c:v>
                </c:pt>
                <c:pt idx="44">
                  <c:v>14.666667</c:v>
                </c:pt>
                <c:pt idx="45">
                  <c:v>15</c:v>
                </c:pt>
                <c:pt idx="46">
                  <c:v>15.333333</c:v>
                </c:pt>
                <c:pt idx="47">
                  <c:v>15.666667</c:v>
                </c:pt>
                <c:pt idx="48">
                  <c:v>16</c:v>
                </c:pt>
                <c:pt idx="49">
                  <c:v>16.333333</c:v>
                </c:pt>
                <c:pt idx="50">
                  <c:v>16.666667</c:v>
                </c:pt>
                <c:pt idx="51">
                  <c:v>17</c:v>
                </c:pt>
                <c:pt idx="52">
                  <c:v>17.333333</c:v>
                </c:pt>
                <c:pt idx="53">
                  <c:v>17.666667</c:v>
                </c:pt>
                <c:pt idx="54">
                  <c:v>18</c:v>
                </c:pt>
                <c:pt idx="55">
                  <c:v>18.333333</c:v>
                </c:pt>
                <c:pt idx="56">
                  <c:v>18.666667</c:v>
                </c:pt>
                <c:pt idx="57">
                  <c:v>19</c:v>
                </c:pt>
                <c:pt idx="58">
                  <c:v>19.333333</c:v>
                </c:pt>
                <c:pt idx="59">
                  <c:v>19.666667</c:v>
                </c:pt>
                <c:pt idx="60">
                  <c:v>20</c:v>
                </c:pt>
                <c:pt idx="61">
                  <c:v>20.333333</c:v>
                </c:pt>
                <c:pt idx="62">
                  <c:v>20.666667</c:v>
                </c:pt>
                <c:pt idx="63">
                  <c:v>21</c:v>
                </c:pt>
                <c:pt idx="64">
                  <c:v>21.333333</c:v>
                </c:pt>
                <c:pt idx="65">
                  <c:v>21.666667</c:v>
                </c:pt>
                <c:pt idx="66">
                  <c:v>22</c:v>
                </c:pt>
                <c:pt idx="67">
                  <c:v>22.333333</c:v>
                </c:pt>
                <c:pt idx="68">
                  <c:v>22.666667</c:v>
                </c:pt>
                <c:pt idx="69">
                  <c:v>23</c:v>
                </c:pt>
                <c:pt idx="70">
                  <c:v>23.333333</c:v>
                </c:pt>
                <c:pt idx="71">
                  <c:v>23.666667</c:v>
                </c:pt>
                <c:pt idx="72">
                  <c:v>24</c:v>
                </c:pt>
              </c:numCache>
            </c:numRef>
          </c:xVal>
          <c:yVal>
            <c:numRef>
              <c:f>'Chart Data'!$B$2:$B$74</c:f>
              <c:numCache>
                <c:formatCode>General</c:formatCode>
                <c:ptCount val="73"/>
                <c:pt idx="0">
                  <c:v>22.831354000000001</c:v>
                </c:pt>
                <c:pt idx="1">
                  <c:v>22.815477000000001</c:v>
                </c:pt>
                <c:pt idx="2">
                  <c:v>22.799654</c:v>
                </c:pt>
                <c:pt idx="3">
                  <c:v>22.784027999999999</c:v>
                </c:pt>
                <c:pt idx="4">
                  <c:v>22.768743000000001</c:v>
                </c:pt>
                <c:pt idx="5">
                  <c:v>22.75394</c:v>
                </c:pt>
                <c:pt idx="6">
                  <c:v>22.739757999999998</c:v>
                </c:pt>
                <c:pt idx="7">
                  <c:v>22.726327999999999</c:v>
                </c:pt>
                <c:pt idx="8">
                  <c:v>22.713773</c:v>
                </c:pt>
                <c:pt idx="9">
                  <c:v>22.702209</c:v>
                </c:pt>
                <c:pt idx="10">
                  <c:v>22.691735999999999</c:v>
                </c:pt>
                <c:pt idx="11">
                  <c:v>22.682445000000001</c:v>
                </c:pt>
                <c:pt idx="12">
                  <c:v>22.674413999999999</c:v>
                </c:pt>
                <c:pt idx="13">
                  <c:v>22.667707</c:v>
                </c:pt>
                <c:pt idx="14">
                  <c:v>22.662374</c:v>
                </c:pt>
                <c:pt idx="15">
                  <c:v>22.658453999999999</c:v>
                </c:pt>
                <c:pt idx="16">
                  <c:v>22.65597</c:v>
                </c:pt>
                <c:pt idx="17">
                  <c:v>22.654933</c:v>
                </c:pt>
                <c:pt idx="18">
                  <c:v>22.655729999999998</c:v>
                </c:pt>
                <c:pt idx="19">
                  <c:v>34.832985999999998</c:v>
                </c:pt>
                <c:pt idx="20">
                  <c:v>39.213183999999998</c:v>
                </c:pt>
                <c:pt idx="21">
                  <c:v>39.705759</c:v>
                </c:pt>
                <c:pt idx="22">
                  <c:v>39.858798999999998</c:v>
                </c:pt>
                <c:pt idx="23">
                  <c:v>39.960234</c:v>
                </c:pt>
                <c:pt idx="24">
                  <c:v>40.056285000000003</c:v>
                </c:pt>
                <c:pt idx="25">
                  <c:v>40.153422999999997</c:v>
                </c:pt>
                <c:pt idx="26">
                  <c:v>40.252071999999998</c:v>
                </c:pt>
                <c:pt idx="27">
                  <c:v>40.351643000000003</c:v>
                </c:pt>
                <c:pt idx="28">
                  <c:v>40.451301999999998</c:v>
                </c:pt>
                <c:pt idx="29">
                  <c:v>40.548233000000003</c:v>
                </c:pt>
                <c:pt idx="30">
                  <c:v>40.640586999999996</c:v>
                </c:pt>
                <c:pt idx="31">
                  <c:v>40.729030999999999</c:v>
                </c:pt>
                <c:pt idx="32">
                  <c:v>40.813735000000001</c:v>
                </c:pt>
                <c:pt idx="33">
                  <c:v>40.894345000000001</c:v>
                </c:pt>
                <c:pt idx="34">
                  <c:v>50.446531999999998</c:v>
                </c:pt>
                <c:pt idx="35">
                  <c:v>58.476736000000002</c:v>
                </c:pt>
                <c:pt idx="36">
                  <c:v>60.206577000000003</c:v>
                </c:pt>
                <c:pt idx="37">
                  <c:v>60.840772999999999</c:v>
                </c:pt>
                <c:pt idx="38">
                  <c:v>61.193348999999998</c:v>
                </c:pt>
                <c:pt idx="39">
                  <c:v>61.467230000000001</c:v>
                </c:pt>
                <c:pt idx="40">
                  <c:v>61.717323</c:v>
                </c:pt>
                <c:pt idx="41">
                  <c:v>57.433582999999999</c:v>
                </c:pt>
                <c:pt idx="42">
                  <c:v>44.654511999999997</c:v>
                </c:pt>
                <c:pt idx="43">
                  <c:v>42.136056000000004</c:v>
                </c:pt>
                <c:pt idx="44">
                  <c:v>41.889474</c:v>
                </c:pt>
                <c:pt idx="45">
                  <c:v>41.865273000000002</c:v>
                </c:pt>
                <c:pt idx="46">
                  <c:v>41.623469999999998</c:v>
                </c:pt>
                <c:pt idx="47">
                  <c:v>41.239198000000002</c:v>
                </c:pt>
                <c:pt idx="48">
                  <c:v>41.117657999999999</c:v>
                </c:pt>
                <c:pt idx="49">
                  <c:v>41.06</c:v>
                </c:pt>
                <c:pt idx="50">
                  <c:v>41.002256000000003</c:v>
                </c:pt>
                <c:pt idx="51">
                  <c:v>40.935395999999997</c:v>
                </c:pt>
                <c:pt idx="52">
                  <c:v>40.858697999999997</c:v>
                </c:pt>
                <c:pt idx="53">
                  <c:v>40.111573999999997</c:v>
                </c:pt>
                <c:pt idx="54">
                  <c:v>25.880078000000001</c:v>
                </c:pt>
                <c:pt idx="55">
                  <c:v>23.279266</c:v>
                </c:pt>
                <c:pt idx="56">
                  <c:v>23.063313999999998</c:v>
                </c:pt>
                <c:pt idx="57">
                  <c:v>23.020973999999999</c:v>
                </c:pt>
                <c:pt idx="58">
                  <c:v>23.006872000000001</c:v>
                </c:pt>
                <c:pt idx="59">
                  <c:v>22.997316999999999</c:v>
                </c:pt>
                <c:pt idx="60">
                  <c:v>22.988151999999999</c:v>
                </c:pt>
                <c:pt idx="61">
                  <c:v>22.978577000000001</c:v>
                </c:pt>
                <c:pt idx="62">
                  <c:v>22.968397</c:v>
                </c:pt>
                <c:pt idx="63">
                  <c:v>22.957540000000002</c:v>
                </c:pt>
                <c:pt idx="64">
                  <c:v>22.945974</c:v>
                </c:pt>
                <c:pt idx="65">
                  <c:v>22.933689000000001</c:v>
                </c:pt>
                <c:pt idx="66">
                  <c:v>22.920701000000001</c:v>
                </c:pt>
                <c:pt idx="67">
                  <c:v>22.907045</c:v>
                </c:pt>
                <c:pt idx="68">
                  <c:v>22.892778</c:v>
                </c:pt>
                <c:pt idx="69">
                  <c:v>22.877974999999999</c:v>
                </c:pt>
                <c:pt idx="70">
                  <c:v>22.862729000000002</c:v>
                </c:pt>
                <c:pt idx="71">
                  <c:v>22.847149000000002</c:v>
                </c:pt>
                <c:pt idx="72">
                  <c:v>22.831354000000001</c:v>
                </c:pt>
              </c:numCache>
            </c:numRef>
          </c:yVal>
          <c:smooth val="1"/>
          <c:extLst>
            <c:ext xmlns:c16="http://schemas.microsoft.com/office/drawing/2014/chart" uri="{C3380CC4-5D6E-409C-BE32-E72D297353CC}">
              <c16:uniqueId val="{00000000-DD08-AC47-8E9A-5CB0C032F45E}"/>
            </c:ext>
          </c:extLst>
        </c:ser>
        <c:ser>
          <c:idx val="1"/>
          <c:order val="1"/>
          <c:tx>
            <c:v>Edge server</c:v>
          </c:tx>
          <c:spPr>
            <a:ln w="26670">
              <a:solidFill>
                <a:srgbClr val="AD7A22"/>
              </a:solidFill>
            </a:ln>
          </c:spPr>
          <c:marker>
            <c:symbol val="none"/>
          </c:marker>
          <c:xVal>
            <c:numRef>
              <c:f>'Chart Data'!$C$2:$C$74</c:f>
              <c:numCache>
                <c:formatCode>General</c:formatCode>
                <c:ptCount val="73"/>
                <c:pt idx="0">
                  <c:v>0</c:v>
                </c:pt>
                <c:pt idx="1">
                  <c:v>0.33333299999999999</c:v>
                </c:pt>
                <c:pt idx="2">
                  <c:v>0.66666700000000001</c:v>
                </c:pt>
                <c:pt idx="3">
                  <c:v>1</c:v>
                </c:pt>
                <c:pt idx="4">
                  <c:v>1.3333330000000001</c:v>
                </c:pt>
                <c:pt idx="5">
                  <c:v>1.6666669999999999</c:v>
                </c:pt>
                <c:pt idx="6">
                  <c:v>2</c:v>
                </c:pt>
                <c:pt idx="7">
                  <c:v>2.3333330000000001</c:v>
                </c:pt>
                <c:pt idx="8">
                  <c:v>2.6666669999999999</c:v>
                </c:pt>
                <c:pt idx="9">
                  <c:v>3</c:v>
                </c:pt>
                <c:pt idx="10">
                  <c:v>3.3333330000000001</c:v>
                </c:pt>
                <c:pt idx="11">
                  <c:v>3.6666669999999999</c:v>
                </c:pt>
                <c:pt idx="12">
                  <c:v>4</c:v>
                </c:pt>
                <c:pt idx="13">
                  <c:v>4.3333329999999997</c:v>
                </c:pt>
                <c:pt idx="14">
                  <c:v>4.6666670000000003</c:v>
                </c:pt>
                <c:pt idx="15">
                  <c:v>5</c:v>
                </c:pt>
                <c:pt idx="16">
                  <c:v>5.3333329999999997</c:v>
                </c:pt>
                <c:pt idx="17">
                  <c:v>5.6666670000000003</c:v>
                </c:pt>
                <c:pt idx="18">
                  <c:v>6</c:v>
                </c:pt>
                <c:pt idx="19">
                  <c:v>6.3333329999999997</c:v>
                </c:pt>
                <c:pt idx="20">
                  <c:v>6.6666670000000003</c:v>
                </c:pt>
                <c:pt idx="21">
                  <c:v>7</c:v>
                </c:pt>
                <c:pt idx="22">
                  <c:v>7.3333329999999997</c:v>
                </c:pt>
                <c:pt idx="23">
                  <c:v>7.6666670000000003</c:v>
                </c:pt>
                <c:pt idx="24">
                  <c:v>8</c:v>
                </c:pt>
                <c:pt idx="25">
                  <c:v>8.3333329999999997</c:v>
                </c:pt>
                <c:pt idx="26">
                  <c:v>8.6666670000000003</c:v>
                </c:pt>
                <c:pt idx="27">
                  <c:v>9</c:v>
                </c:pt>
                <c:pt idx="28">
                  <c:v>9.3333329999999997</c:v>
                </c:pt>
                <c:pt idx="29">
                  <c:v>9.6666670000000003</c:v>
                </c:pt>
                <c:pt idx="30">
                  <c:v>10</c:v>
                </c:pt>
                <c:pt idx="31">
                  <c:v>10.333333</c:v>
                </c:pt>
                <c:pt idx="32">
                  <c:v>10.666667</c:v>
                </c:pt>
                <c:pt idx="33">
                  <c:v>11</c:v>
                </c:pt>
                <c:pt idx="34">
                  <c:v>11.333333</c:v>
                </c:pt>
                <c:pt idx="35">
                  <c:v>11.666667</c:v>
                </c:pt>
                <c:pt idx="36">
                  <c:v>12</c:v>
                </c:pt>
                <c:pt idx="37">
                  <c:v>12.333333</c:v>
                </c:pt>
                <c:pt idx="38">
                  <c:v>12.666667</c:v>
                </c:pt>
                <c:pt idx="39">
                  <c:v>13</c:v>
                </c:pt>
                <c:pt idx="40">
                  <c:v>13.333333</c:v>
                </c:pt>
                <c:pt idx="41">
                  <c:v>13.666667</c:v>
                </c:pt>
                <c:pt idx="42">
                  <c:v>14</c:v>
                </c:pt>
                <c:pt idx="43">
                  <c:v>14.333333</c:v>
                </c:pt>
                <c:pt idx="44">
                  <c:v>14.666667</c:v>
                </c:pt>
                <c:pt idx="45">
                  <c:v>15</c:v>
                </c:pt>
                <c:pt idx="46">
                  <c:v>15.333333</c:v>
                </c:pt>
                <c:pt idx="47">
                  <c:v>15.666667</c:v>
                </c:pt>
                <c:pt idx="48">
                  <c:v>16</c:v>
                </c:pt>
                <c:pt idx="49">
                  <c:v>16.333333</c:v>
                </c:pt>
                <c:pt idx="50">
                  <c:v>16.666667</c:v>
                </c:pt>
                <c:pt idx="51">
                  <c:v>17</c:v>
                </c:pt>
                <c:pt idx="52">
                  <c:v>17.333333</c:v>
                </c:pt>
                <c:pt idx="53">
                  <c:v>17.666667</c:v>
                </c:pt>
                <c:pt idx="54">
                  <c:v>18</c:v>
                </c:pt>
                <c:pt idx="55">
                  <c:v>18.333333</c:v>
                </c:pt>
                <c:pt idx="56">
                  <c:v>18.666667</c:v>
                </c:pt>
                <c:pt idx="57">
                  <c:v>19</c:v>
                </c:pt>
                <c:pt idx="58">
                  <c:v>19.333333</c:v>
                </c:pt>
                <c:pt idx="59">
                  <c:v>19.666667</c:v>
                </c:pt>
                <c:pt idx="60">
                  <c:v>20</c:v>
                </c:pt>
                <c:pt idx="61">
                  <c:v>20.333333</c:v>
                </c:pt>
                <c:pt idx="62">
                  <c:v>20.666667</c:v>
                </c:pt>
                <c:pt idx="63">
                  <c:v>21</c:v>
                </c:pt>
                <c:pt idx="64">
                  <c:v>21.333333</c:v>
                </c:pt>
                <c:pt idx="65">
                  <c:v>21.666667</c:v>
                </c:pt>
                <c:pt idx="66">
                  <c:v>22</c:v>
                </c:pt>
                <c:pt idx="67">
                  <c:v>22.333333</c:v>
                </c:pt>
                <c:pt idx="68">
                  <c:v>22.666667</c:v>
                </c:pt>
                <c:pt idx="69">
                  <c:v>23</c:v>
                </c:pt>
                <c:pt idx="70">
                  <c:v>23.333333</c:v>
                </c:pt>
                <c:pt idx="71">
                  <c:v>23.666667</c:v>
                </c:pt>
                <c:pt idx="72">
                  <c:v>24</c:v>
                </c:pt>
              </c:numCache>
            </c:numRef>
          </c:xVal>
          <c:yVal>
            <c:numRef>
              <c:f>'Chart Data'!$D$2:$D$74</c:f>
              <c:numCache>
                <c:formatCode>General</c:formatCode>
                <c:ptCount val="73"/>
                <c:pt idx="0">
                  <c:v>12.011816</c:v>
                </c:pt>
                <c:pt idx="1">
                  <c:v>11.995938000000001</c:v>
                </c:pt>
                <c:pt idx="2">
                  <c:v>11.980116000000001</c:v>
                </c:pt>
                <c:pt idx="3">
                  <c:v>11.964491000000001</c:v>
                </c:pt>
                <c:pt idx="4">
                  <c:v>11.949208</c:v>
                </c:pt>
                <c:pt idx="5">
                  <c:v>11.934407</c:v>
                </c:pt>
                <c:pt idx="6">
                  <c:v>11.920228</c:v>
                </c:pt>
                <c:pt idx="7">
                  <c:v>11.906802000000001</c:v>
                </c:pt>
                <c:pt idx="8">
                  <c:v>11.894252</c:v>
                </c:pt>
                <c:pt idx="9">
                  <c:v>11.882690999999999</c:v>
                </c:pt>
                <c:pt idx="10">
                  <c:v>11.872223999999999</c:v>
                </c:pt>
                <c:pt idx="11">
                  <c:v>11.862938</c:v>
                </c:pt>
                <c:pt idx="12">
                  <c:v>11.854913</c:v>
                </c:pt>
                <c:pt idx="13">
                  <c:v>11.848212</c:v>
                </c:pt>
                <c:pt idx="14">
                  <c:v>11.842886</c:v>
                </c:pt>
                <c:pt idx="15">
                  <c:v>11.838972</c:v>
                </c:pt>
                <c:pt idx="16">
                  <c:v>11.836494999999999</c:v>
                </c:pt>
                <c:pt idx="17">
                  <c:v>11.835464</c:v>
                </c:pt>
                <c:pt idx="18">
                  <c:v>11.836086</c:v>
                </c:pt>
                <c:pt idx="19">
                  <c:v>19.135231000000001</c:v>
                </c:pt>
                <c:pt idx="20">
                  <c:v>22.470761</c:v>
                </c:pt>
                <c:pt idx="21">
                  <c:v>22.959648999999999</c:v>
                </c:pt>
                <c:pt idx="22">
                  <c:v>23.112079999999999</c:v>
                </c:pt>
                <c:pt idx="23">
                  <c:v>23.213432999999998</c:v>
                </c:pt>
                <c:pt idx="24">
                  <c:v>23.309481999999999</c:v>
                </c:pt>
                <c:pt idx="25">
                  <c:v>23.406625999999999</c:v>
                </c:pt>
                <c:pt idx="26">
                  <c:v>23.505282000000001</c:v>
                </c:pt>
                <c:pt idx="27">
                  <c:v>23.604855000000001</c:v>
                </c:pt>
                <c:pt idx="28">
                  <c:v>23.704512000000001</c:v>
                </c:pt>
                <c:pt idx="29">
                  <c:v>23.801424000000001</c:v>
                </c:pt>
                <c:pt idx="30">
                  <c:v>23.893757999999998</c:v>
                </c:pt>
                <c:pt idx="31">
                  <c:v>23.982185000000001</c:v>
                </c:pt>
                <c:pt idx="32">
                  <c:v>24.066870999999999</c:v>
                </c:pt>
                <c:pt idx="33">
                  <c:v>24.147265000000001</c:v>
                </c:pt>
                <c:pt idx="34">
                  <c:v>29.324795000000002</c:v>
                </c:pt>
                <c:pt idx="35">
                  <c:v>34.633330999999998</c:v>
                </c:pt>
                <c:pt idx="36">
                  <c:v>36.357126000000001</c:v>
                </c:pt>
                <c:pt idx="37">
                  <c:v>36.988711000000002</c:v>
                </c:pt>
                <c:pt idx="38">
                  <c:v>37.340615</c:v>
                </c:pt>
                <c:pt idx="39">
                  <c:v>37.614311000000001</c:v>
                </c:pt>
                <c:pt idx="40">
                  <c:v>37.864303999999997</c:v>
                </c:pt>
                <c:pt idx="41">
                  <c:v>35.583838</c:v>
                </c:pt>
                <c:pt idx="42">
                  <c:v>27.539793</c:v>
                </c:pt>
                <c:pt idx="43">
                  <c:v>25.385753000000001</c:v>
                </c:pt>
                <c:pt idx="44">
                  <c:v>25.141869</c:v>
                </c:pt>
                <c:pt idx="45">
                  <c:v>25.118013000000001</c:v>
                </c:pt>
                <c:pt idx="46">
                  <c:v>24.874426</c:v>
                </c:pt>
                <c:pt idx="47">
                  <c:v>24.490815000000001</c:v>
                </c:pt>
                <c:pt idx="48">
                  <c:v>24.370094000000002</c:v>
                </c:pt>
                <c:pt idx="49">
                  <c:v>24.312514</c:v>
                </c:pt>
                <c:pt idx="50">
                  <c:v>24.254739000000001</c:v>
                </c:pt>
                <c:pt idx="51">
                  <c:v>24.187833999999999</c:v>
                </c:pt>
                <c:pt idx="52">
                  <c:v>24.111093</c:v>
                </c:pt>
                <c:pt idx="53">
                  <c:v>23.683164999999999</c:v>
                </c:pt>
                <c:pt idx="54">
                  <c:v>14.642488</c:v>
                </c:pt>
                <c:pt idx="55">
                  <c:v>12.457355</c:v>
                </c:pt>
                <c:pt idx="56">
                  <c:v>12.243436000000001</c:v>
                </c:pt>
                <c:pt idx="57">
                  <c:v>12.201406</c:v>
                </c:pt>
                <c:pt idx="58">
                  <c:v>12.187357</c:v>
                </c:pt>
                <c:pt idx="59">
                  <c:v>12.177808000000001</c:v>
                </c:pt>
                <c:pt idx="60">
                  <c:v>12.168642999999999</c:v>
                </c:pt>
                <c:pt idx="61">
                  <c:v>12.159065999999999</c:v>
                </c:pt>
                <c:pt idx="62">
                  <c:v>12.148883</c:v>
                </c:pt>
                <c:pt idx="63">
                  <c:v>12.138023</c:v>
                </c:pt>
                <c:pt idx="64">
                  <c:v>12.126453</c:v>
                </c:pt>
                <c:pt idx="65">
                  <c:v>12.114165</c:v>
                </c:pt>
                <c:pt idx="66">
                  <c:v>12.101174</c:v>
                </c:pt>
                <c:pt idx="67">
                  <c:v>12.087515</c:v>
                </c:pt>
                <c:pt idx="68">
                  <c:v>12.073245</c:v>
                </c:pt>
                <c:pt idx="69">
                  <c:v>12.058439999999999</c:v>
                </c:pt>
                <c:pt idx="70">
                  <c:v>12.043193</c:v>
                </c:pt>
                <c:pt idx="71">
                  <c:v>12.027611</c:v>
                </c:pt>
                <c:pt idx="72">
                  <c:v>12.011816</c:v>
                </c:pt>
              </c:numCache>
            </c:numRef>
          </c:yVal>
          <c:smooth val="1"/>
          <c:extLst>
            <c:ext xmlns:c16="http://schemas.microsoft.com/office/drawing/2014/chart" uri="{C3380CC4-5D6E-409C-BE32-E72D297353CC}">
              <c16:uniqueId val="{00000001-DD08-AC47-8E9A-5CB0C032F45E}"/>
            </c:ext>
          </c:extLst>
        </c:ser>
        <c:ser>
          <c:idx val="2"/>
          <c:order val="2"/>
          <c:tx>
            <c:v>Battery</c:v>
          </c:tx>
          <c:spPr>
            <a:ln w="26670">
              <a:solidFill>
                <a:srgbClr val="4675AD"/>
              </a:solidFill>
            </a:ln>
          </c:spPr>
          <c:marker>
            <c:symbol val="none"/>
          </c:marker>
          <c:xVal>
            <c:numRef>
              <c:f>'Chart Data'!$E$2:$E$74</c:f>
              <c:numCache>
                <c:formatCode>General</c:formatCode>
                <c:ptCount val="73"/>
                <c:pt idx="0">
                  <c:v>0</c:v>
                </c:pt>
                <c:pt idx="1">
                  <c:v>0.33333299999999999</c:v>
                </c:pt>
                <c:pt idx="2">
                  <c:v>0.66666700000000001</c:v>
                </c:pt>
                <c:pt idx="3">
                  <c:v>1</c:v>
                </c:pt>
                <c:pt idx="4">
                  <c:v>1.3333330000000001</c:v>
                </c:pt>
                <c:pt idx="5">
                  <c:v>1.6666669999999999</c:v>
                </c:pt>
                <c:pt idx="6">
                  <c:v>2</c:v>
                </c:pt>
                <c:pt idx="7">
                  <c:v>2.3333330000000001</c:v>
                </c:pt>
                <c:pt idx="8">
                  <c:v>2.6666669999999999</c:v>
                </c:pt>
                <c:pt idx="9">
                  <c:v>3</c:v>
                </c:pt>
                <c:pt idx="10">
                  <c:v>3.3333330000000001</c:v>
                </c:pt>
                <c:pt idx="11">
                  <c:v>3.6666669999999999</c:v>
                </c:pt>
                <c:pt idx="12">
                  <c:v>4</c:v>
                </c:pt>
                <c:pt idx="13">
                  <c:v>4.3333329999999997</c:v>
                </c:pt>
                <c:pt idx="14">
                  <c:v>4.6666670000000003</c:v>
                </c:pt>
                <c:pt idx="15">
                  <c:v>5</c:v>
                </c:pt>
                <c:pt idx="16">
                  <c:v>5.3333329999999997</c:v>
                </c:pt>
                <c:pt idx="17">
                  <c:v>5.6666670000000003</c:v>
                </c:pt>
                <c:pt idx="18">
                  <c:v>6</c:v>
                </c:pt>
                <c:pt idx="19">
                  <c:v>6.3333329999999997</c:v>
                </c:pt>
                <c:pt idx="20">
                  <c:v>6.6666670000000003</c:v>
                </c:pt>
                <c:pt idx="21">
                  <c:v>7</c:v>
                </c:pt>
                <c:pt idx="22">
                  <c:v>7.3333329999999997</c:v>
                </c:pt>
                <c:pt idx="23">
                  <c:v>7.6666670000000003</c:v>
                </c:pt>
                <c:pt idx="24">
                  <c:v>8</c:v>
                </c:pt>
                <c:pt idx="25">
                  <c:v>8.3333329999999997</c:v>
                </c:pt>
                <c:pt idx="26">
                  <c:v>8.6666670000000003</c:v>
                </c:pt>
                <c:pt idx="27">
                  <c:v>9</c:v>
                </c:pt>
                <c:pt idx="28">
                  <c:v>9.3333329999999997</c:v>
                </c:pt>
                <c:pt idx="29">
                  <c:v>9.6666670000000003</c:v>
                </c:pt>
                <c:pt idx="30">
                  <c:v>10</c:v>
                </c:pt>
                <c:pt idx="31">
                  <c:v>10.333333</c:v>
                </c:pt>
                <c:pt idx="32">
                  <c:v>10.666667</c:v>
                </c:pt>
                <c:pt idx="33">
                  <c:v>11</c:v>
                </c:pt>
                <c:pt idx="34">
                  <c:v>11.333333</c:v>
                </c:pt>
                <c:pt idx="35">
                  <c:v>11.666667</c:v>
                </c:pt>
                <c:pt idx="36">
                  <c:v>12</c:v>
                </c:pt>
                <c:pt idx="37">
                  <c:v>12.333333</c:v>
                </c:pt>
                <c:pt idx="38">
                  <c:v>12.666667</c:v>
                </c:pt>
                <c:pt idx="39">
                  <c:v>13</c:v>
                </c:pt>
                <c:pt idx="40">
                  <c:v>13.333333</c:v>
                </c:pt>
                <c:pt idx="41">
                  <c:v>13.666667</c:v>
                </c:pt>
                <c:pt idx="42">
                  <c:v>14</c:v>
                </c:pt>
                <c:pt idx="43">
                  <c:v>14.333333</c:v>
                </c:pt>
                <c:pt idx="44">
                  <c:v>14.666667</c:v>
                </c:pt>
                <c:pt idx="45">
                  <c:v>15</c:v>
                </c:pt>
                <c:pt idx="46">
                  <c:v>15.333333</c:v>
                </c:pt>
                <c:pt idx="47">
                  <c:v>15.666667</c:v>
                </c:pt>
                <c:pt idx="48">
                  <c:v>16</c:v>
                </c:pt>
                <c:pt idx="49">
                  <c:v>16.333333</c:v>
                </c:pt>
                <c:pt idx="50">
                  <c:v>16.666667</c:v>
                </c:pt>
                <c:pt idx="51">
                  <c:v>17</c:v>
                </c:pt>
                <c:pt idx="52">
                  <c:v>17.333333</c:v>
                </c:pt>
                <c:pt idx="53">
                  <c:v>17.666667</c:v>
                </c:pt>
                <c:pt idx="54">
                  <c:v>18</c:v>
                </c:pt>
                <c:pt idx="55">
                  <c:v>18.333333</c:v>
                </c:pt>
                <c:pt idx="56">
                  <c:v>18.666667</c:v>
                </c:pt>
                <c:pt idx="57">
                  <c:v>19</c:v>
                </c:pt>
                <c:pt idx="58">
                  <c:v>19.333333</c:v>
                </c:pt>
                <c:pt idx="59">
                  <c:v>19.666667</c:v>
                </c:pt>
                <c:pt idx="60">
                  <c:v>20</c:v>
                </c:pt>
                <c:pt idx="61">
                  <c:v>20.333333</c:v>
                </c:pt>
                <c:pt idx="62">
                  <c:v>20.666667</c:v>
                </c:pt>
                <c:pt idx="63">
                  <c:v>21</c:v>
                </c:pt>
                <c:pt idx="64">
                  <c:v>21.333333</c:v>
                </c:pt>
                <c:pt idx="65">
                  <c:v>21.666667</c:v>
                </c:pt>
                <c:pt idx="66">
                  <c:v>22</c:v>
                </c:pt>
                <c:pt idx="67">
                  <c:v>22.333333</c:v>
                </c:pt>
                <c:pt idx="68">
                  <c:v>22.666667</c:v>
                </c:pt>
                <c:pt idx="69">
                  <c:v>23</c:v>
                </c:pt>
                <c:pt idx="70">
                  <c:v>23.333333</c:v>
                </c:pt>
                <c:pt idx="71">
                  <c:v>23.666667</c:v>
                </c:pt>
                <c:pt idx="72">
                  <c:v>24</c:v>
                </c:pt>
              </c:numCache>
            </c:numRef>
          </c:xVal>
          <c:yVal>
            <c:numRef>
              <c:f>'Chart Data'!$F$2:$F$74</c:f>
              <c:numCache>
                <c:formatCode>General</c:formatCode>
                <c:ptCount val="73"/>
                <c:pt idx="0">
                  <c:v>13.555857</c:v>
                </c:pt>
                <c:pt idx="1">
                  <c:v>13.592069</c:v>
                </c:pt>
                <c:pt idx="2">
                  <c:v>13.632348</c:v>
                </c:pt>
                <c:pt idx="3">
                  <c:v>13.67737</c:v>
                </c:pt>
                <c:pt idx="4">
                  <c:v>13.727784</c:v>
                </c:pt>
                <c:pt idx="5">
                  <c:v>13.784208</c:v>
                </c:pt>
                <c:pt idx="6">
                  <c:v>13.847225999999999</c:v>
                </c:pt>
                <c:pt idx="7">
                  <c:v>13.917370999999999</c:v>
                </c:pt>
                <c:pt idx="8">
                  <c:v>13.995125</c:v>
                </c:pt>
                <c:pt idx="9">
                  <c:v>14.080899</c:v>
                </c:pt>
                <c:pt idx="10">
                  <c:v>14.175022999999999</c:v>
                </c:pt>
                <c:pt idx="11">
                  <c:v>14.277734000000001</c:v>
                </c:pt>
                <c:pt idx="12">
                  <c:v>14.389158</c:v>
                </c:pt>
                <c:pt idx="13">
                  <c:v>14.509299</c:v>
                </c:pt>
                <c:pt idx="14">
                  <c:v>14.638026999999999</c:v>
                </c:pt>
                <c:pt idx="15">
                  <c:v>14.775069</c:v>
                </c:pt>
                <c:pt idx="16">
                  <c:v>14.919999000000001</c:v>
                </c:pt>
                <c:pt idx="17">
                  <c:v>15.072632</c:v>
                </c:pt>
                <c:pt idx="18">
                  <c:v>15.235018999999999</c:v>
                </c:pt>
                <c:pt idx="19">
                  <c:v>15.428132</c:v>
                </c:pt>
                <c:pt idx="20">
                  <c:v>15.830825000000001</c:v>
                </c:pt>
                <c:pt idx="21">
                  <c:v>16.455148999999999</c:v>
                </c:pt>
                <c:pt idx="22">
                  <c:v>17.255291</c:v>
                </c:pt>
                <c:pt idx="23">
                  <c:v>18.206174000000001</c:v>
                </c:pt>
                <c:pt idx="24">
                  <c:v>19.285209999999999</c:v>
                </c:pt>
                <c:pt idx="25">
                  <c:v>20.472898000000001</c:v>
                </c:pt>
                <c:pt idx="26">
                  <c:v>21.759236000000001</c:v>
                </c:pt>
                <c:pt idx="27">
                  <c:v>23.098085999999999</c:v>
                </c:pt>
                <c:pt idx="28">
                  <c:v>23.118713</c:v>
                </c:pt>
                <c:pt idx="29">
                  <c:v>22.617170999999999</c:v>
                </c:pt>
                <c:pt idx="30">
                  <c:v>22.082456000000001</c:v>
                </c:pt>
                <c:pt idx="31">
                  <c:v>21.569282000000001</c:v>
                </c:pt>
                <c:pt idx="32">
                  <c:v>21.078371000000001</c:v>
                </c:pt>
                <c:pt idx="33">
                  <c:v>20.605374999999999</c:v>
                </c:pt>
                <c:pt idx="34">
                  <c:v>20.146691000000001</c:v>
                </c:pt>
                <c:pt idx="35">
                  <c:v>19.699704000000001</c:v>
                </c:pt>
                <c:pt idx="36">
                  <c:v>19.262506999999999</c:v>
                </c:pt>
                <c:pt idx="37">
                  <c:v>18.833622999999999</c:v>
                </c:pt>
                <c:pt idx="38">
                  <c:v>18.411843000000001</c:v>
                </c:pt>
                <c:pt idx="39">
                  <c:v>17.996123000000001</c:v>
                </c:pt>
                <c:pt idx="40">
                  <c:v>17.585619000000001</c:v>
                </c:pt>
                <c:pt idx="41">
                  <c:v>17.179641</c:v>
                </c:pt>
                <c:pt idx="42">
                  <c:v>16.777507</c:v>
                </c:pt>
                <c:pt idx="43">
                  <c:v>16.378495000000001</c:v>
                </c:pt>
                <c:pt idx="44">
                  <c:v>15.983916000000001</c:v>
                </c:pt>
                <c:pt idx="45">
                  <c:v>15.603301999999999</c:v>
                </c:pt>
                <c:pt idx="46">
                  <c:v>15.238272</c:v>
                </c:pt>
                <c:pt idx="47">
                  <c:v>14.887567000000001</c:v>
                </c:pt>
                <c:pt idx="48">
                  <c:v>14.550772</c:v>
                </c:pt>
                <c:pt idx="49">
                  <c:v>14.227651</c:v>
                </c:pt>
                <c:pt idx="50">
                  <c:v>13.917622</c:v>
                </c:pt>
                <c:pt idx="51">
                  <c:v>13.620079</c:v>
                </c:pt>
                <c:pt idx="52">
                  <c:v>13.334438</c:v>
                </c:pt>
                <c:pt idx="53">
                  <c:v>13.060161000000001</c:v>
                </c:pt>
                <c:pt idx="54">
                  <c:v>12.797048</c:v>
                </c:pt>
                <c:pt idx="55">
                  <c:v>12.88199</c:v>
                </c:pt>
                <c:pt idx="56">
                  <c:v>12.950447</c:v>
                </c:pt>
                <c:pt idx="57">
                  <c:v>13.004766999999999</c:v>
                </c:pt>
                <c:pt idx="58">
                  <c:v>13.046989999999999</c:v>
                </c:pt>
                <c:pt idx="59">
                  <c:v>13.101152000000001</c:v>
                </c:pt>
                <c:pt idx="60">
                  <c:v>13.157337</c:v>
                </c:pt>
                <c:pt idx="61">
                  <c:v>13.207027</c:v>
                </c:pt>
                <c:pt idx="62">
                  <c:v>13.250666000000001</c:v>
                </c:pt>
                <c:pt idx="63">
                  <c:v>13.289134000000001</c:v>
                </c:pt>
                <c:pt idx="64">
                  <c:v>13.323396000000001</c:v>
                </c:pt>
                <c:pt idx="65">
                  <c:v>13.354421</c:v>
                </c:pt>
                <c:pt idx="66">
                  <c:v>13.383153999999999</c:v>
                </c:pt>
                <c:pt idx="67">
                  <c:v>13.410506</c:v>
                </c:pt>
                <c:pt idx="68">
                  <c:v>13.437348999999999</c:v>
                </c:pt>
                <c:pt idx="69">
                  <c:v>13.464518</c:v>
                </c:pt>
                <c:pt idx="70">
                  <c:v>13.492815</c:v>
                </c:pt>
                <c:pt idx="71">
                  <c:v>13.523013000000001</c:v>
                </c:pt>
                <c:pt idx="72">
                  <c:v>13.555857</c:v>
                </c:pt>
              </c:numCache>
            </c:numRef>
          </c:yVal>
          <c:smooth val="1"/>
          <c:extLst>
            <c:ext xmlns:c16="http://schemas.microsoft.com/office/drawing/2014/chart" uri="{C3380CC4-5D6E-409C-BE32-E72D297353CC}">
              <c16:uniqueId val="{00000002-DD08-AC47-8E9A-5CB0C032F45E}"/>
            </c:ext>
          </c:extLst>
        </c:ser>
        <c:dLbls>
          <c:showLegendKey val="0"/>
          <c:showVal val="0"/>
          <c:showCatName val="0"/>
          <c:showSerName val="0"/>
          <c:showPercent val="0"/>
          <c:showBubbleSize val="0"/>
        </c:dLbls>
        <c:axId val="48650112"/>
        <c:axId val="48672768"/>
      </c:scatterChart>
      <c:valAx>
        <c:axId val="48672768"/>
        <c:scaling>
          <c:orientation val="minMax"/>
          <c:max val="70"/>
          <c:min val="0"/>
        </c:scaling>
        <c:delete val="0"/>
        <c:axPos val="l"/>
        <c:majorGridlines>
          <c:spPr>
            <a:ln w="9525">
              <a:solidFill>
                <a:srgbClr val="E4EBEF"/>
              </a:solidFill>
            </a:ln>
          </c:spPr>
        </c:majorGridlines>
        <c:title>
          <c:tx>
            <c:rich>
              <a:bodyPr/>
              <a:lstStyle/>
              <a:p>
                <a:r>
                  <a:rPr lang="en-US">
                    <a:latin typeface="Arial"/>
                    <a:ea typeface="Arial"/>
                    <a:cs typeface="Arial"/>
                  </a:rPr>
                  <a:t>Temperature [°C]</a:t>
                </a:r>
              </a:p>
            </c:rich>
          </c:tx>
          <c:overlay val="0"/>
        </c:title>
        <c:numFmt formatCode="General" sourceLinked="1"/>
        <c:majorTickMark val="none"/>
        <c:minorTickMark val="none"/>
        <c:tickLblPos val="nextTo"/>
        <c:spPr>
          <a:ln w="9525">
            <a:solidFill>
              <a:srgbClr val="587081"/>
            </a:solidFill>
          </a:ln>
        </c:spPr>
        <c:txPr>
          <a:bodyPr anchorCtr="1"/>
          <a:lstStyle/>
          <a:p>
            <a:pPr>
              <a:defRPr sz="1350">
                <a:solidFill>
                  <a:srgbClr val="587081"/>
                </a:solidFill>
                <a:latin typeface="Arial"/>
                <a:ea typeface="Arial"/>
                <a:cs typeface="Arial"/>
              </a:defRPr>
            </a:pPr>
            <a:endParaRPr lang="en-US"/>
          </a:p>
        </c:txPr>
        <c:crossAx val="48650112"/>
        <c:crossesAt val="0"/>
        <c:crossBetween val="midCat"/>
      </c:valAx>
      <c:valAx>
        <c:axId val="48650112"/>
        <c:scaling>
          <c:orientation val="minMax"/>
          <c:max val="24"/>
          <c:min val="0"/>
        </c:scaling>
        <c:delete val="0"/>
        <c:axPos val="b"/>
        <c:title>
          <c:tx>
            <c:rich>
              <a:bodyPr/>
              <a:lstStyle/>
              <a:p>
                <a:r>
                  <a:rPr lang="en-US">
                    <a:latin typeface="Arial"/>
                    <a:ea typeface="Arial"/>
                    <a:cs typeface="Arial"/>
                  </a:rPr>
                  <a:t>Elapsed time [h]</a:t>
                </a:r>
              </a:p>
            </c:rich>
          </c:tx>
          <c:overlay val="0"/>
        </c:title>
        <c:numFmt formatCode="General" sourceLinked="1"/>
        <c:majorTickMark val="none"/>
        <c:minorTickMark val="none"/>
        <c:tickLblPos val="nextTo"/>
        <c:spPr>
          <a:ln w="9525">
            <a:solidFill>
              <a:srgbClr val="587081"/>
            </a:solidFill>
          </a:ln>
        </c:spPr>
        <c:txPr>
          <a:bodyPr anchorCtr="1"/>
          <a:lstStyle/>
          <a:p>
            <a:pPr>
              <a:defRPr sz="1350">
                <a:solidFill>
                  <a:srgbClr val="587081"/>
                </a:solidFill>
                <a:latin typeface="Arial"/>
                <a:ea typeface="Arial"/>
                <a:cs typeface="Arial"/>
              </a:defRPr>
            </a:pPr>
            <a:endParaRPr lang="en-US"/>
          </a:p>
        </c:txPr>
        <c:crossAx val="48672768"/>
        <c:crosses val="autoZero"/>
        <c:crossBetween val="midCat"/>
        <c:majorUnit val="6"/>
      </c:valAx>
      <c:spPr>
        <a:solidFill>
          <a:srgbClr val="FFFFFF"/>
        </a:solidFill>
      </c:spPr>
    </c:plotArea>
    <c:legend>
      <c:legendPos val="b"/>
      <c:overlay val="0"/>
      <c:txPr>
        <a:bodyPr anchorCtr="1"/>
        <a:lstStyle/>
        <a:p>
          <a:pPr>
            <a:defRPr sz="1425">
              <a:solidFill>
                <a:srgbClr val="142B3D"/>
              </a:solidFill>
              <a:latin typeface="Arial"/>
              <a:ea typeface="Arial"/>
              <a:cs typeface="Arial"/>
            </a:defRPr>
          </a:pPr>
          <a:endParaRPr lang="en-US"/>
        </a:p>
      </c:txPr>
    </c:legend>
    <c:plotVisOnly val="1"/>
    <c:dispBlanksAs val="zero"/>
    <c:showDLblsOverMax val="1"/>
  </c:chart>
  <c:spPr>
    <a:solidFill>
      <a:srgbClr val="FFFFFF"/>
    </a:solidFill>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All heaters [kWh/day]</c:v>
          </c:tx>
          <c:spPr>
            <a:solidFill>
              <a:srgbClr val="087F95"/>
            </a:solidFill>
          </c:spPr>
          <c:invertIfNegative val="0"/>
          <c:dPt>
            <c:idx val="0"/>
            <c:invertIfNegative val="0"/>
            <c:bubble3D val="0"/>
            <c:spPr>
              <a:solidFill>
                <a:srgbClr val="587081"/>
              </a:solidFill>
            </c:spPr>
            <c:extLst>
              <c:ext xmlns:c16="http://schemas.microsoft.com/office/drawing/2014/chart" uri="{C3380CC4-5D6E-409C-BE32-E72D297353CC}">
                <c16:uniqueId val="{00000001-640C-D84B-AD8C-3C7C02A52323}"/>
              </c:ext>
            </c:extLst>
          </c:dPt>
          <c:dPt>
            <c:idx val="1"/>
            <c:invertIfNegative val="0"/>
            <c:bubble3D val="0"/>
            <c:spPr>
              <a:solidFill>
                <a:srgbClr val="AD7A22"/>
              </a:solidFill>
            </c:spPr>
            <c:extLst>
              <c:ext xmlns:c16="http://schemas.microsoft.com/office/drawing/2014/chart" uri="{C3380CC4-5D6E-409C-BE32-E72D297353CC}">
                <c16:uniqueId val="{00000003-640C-D84B-AD8C-3C7C02A52323}"/>
              </c:ext>
            </c:extLst>
          </c:dPt>
          <c:dPt>
            <c:idx val="2"/>
            <c:invertIfNegative val="0"/>
            <c:bubble3D val="0"/>
            <c:spPr>
              <a:solidFill>
                <a:srgbClr val="4675AD"/>
              </a:solidFill>
            </c:spPr>
            <c:extLst>
              <c:ext xmlns:c16="http://schemas.microsoft.com/office/drawing/2014/chart" uri="{C3380CC4-5D6E-409C-BE32-E72D297353CC}">
                <c16:uniqueId val="{00000005-640C-D84B-AD8C-3C7C02A52323}"/>
              </c:ext>
            </c:extLst>
          </c:dPt>
          <c:dPt>
            <c:idx val="3"/>
            <c:invertIfNegative val="0"/>
            <c:bubble3D val="0"/>
            <c:spPr>
              <a:solidFill>
                <a:srgbClr val="087F95"/>
              </a:solidFill>
            </c:spPr>
            <c:extLst>
              <c:ext xmlns:c16="http://schemas.microsoft.com/office/drawing/2014/chart" uri="{C3380CC4-5D6E-409C-BE32-E72D297353CC}">
                <c16:uniqueId val="{00000007-640C-D84B-AD8C-3C7C02A52323}"/>
              </c:ext>
            </c:extLst>
          </c:dPt>
          <c:dLbls>
            <c:numFmt formatCode="0.00" sourceLinked="0"/>
            <c:spPr>
              <a:noFill/>
              <a:ln>
                <a:noFill/>
              </a:ln>
              <a:effectLst/>
            </c:spPr>
            <c:txPr>
              <a:bodyPr anchorCtr="1"/>
              <a:lstStyle/>
              <a:p>
                <a:pPr>
                  <a:defRPr sz="1650" b="1">
                    <a:solidFill>
                      <a:srgbClr val="142B3D"/>
                    </a:solidFill>
                    <a:latin typeface="Arial"/>
                    <a:ea typeface="Arial"/>
                    <a:cs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Data'!$A$2:$A$5</c:f>
              <c:strCache>
                <c:ptCount val="4"/>
                <c:pt idx="0">
                  <c:v>Original</c:v>
                </c:pt>
                <c:pt idx="1">
                  <c:v>Larger heaters</c:v>
                </c:pt>
                <c:pt idx="2">
                  <c:v>Night isolation</c:v>
                </c:pt>
                <c:pt idx="3">
                  <c:v>Combined</c:v>
                </c:pt>
              </c:strCache>
            </c:strRef>
          </c:cat>
          <c:val>
            <c:numRef>
              <c:f>'Chart Data'!$B$2:$B$5</c:f>
              <c:numCache>
                <c:formatCode>General</c:formatCode>
                <c:ptCount val="4"/>
                <c:pt idx="0">
                  <c:v>5.2627837477600004</c:v>
                </c:pt>
                <c:pt idx="1">
                  <c:v>7.2878513074800004</c:v>
                </c:pt>
                <c:pt idx="2">
                  <c:v>2.0285263910600002</c:v>
                </c:pt>
                <c:pt idx="3">
                  <c:v>2.42013538972</c:v>
                </c:pt>
              </c:numCache>
            </c:numRef>
          </c:val>
          <c:extLst>
            <c:ext xmlns:c16="http://schemas.microsoft.com/office/drawing/2014/chart" uri="{C3380CC4-5D6E-409C-BE32-E72D297353CC}">
              <c16:uniqueId val="{00000008-640C-D84B-AD8C-3C7C02A52323}"/>
            </c:ext>
          </c:extLst>
        </c:ser>
        <c:dLbls>
          <c:dLblPos val="outEnd"/>
          <c:showLegendKey val="0"/>
          <c:showVal val="1"/>
          <c:showCatName val="0"/>
          <c:showSerName val="0"/>
          <c:showPercent val="0"/>
          <c:showBubbleSize val="0"/>
        </c:dLbls>
        <c:gapWidth val="65"/>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E4EBEF"/>
            </a:solidFill>
          </a:ln>
        </c:spPr>
        <c:txPr>
          <a:bodyPr anchorCtr="1"/>
          <a:lstStyle/>
          <a:p>
            <a:pPr>
              <a:defRPr sz="1500">
                <a:solidFill>
                  <a:srgbClr val="142B3D"/>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max val="8.3000000000000007"/>
          <c:min val="0"/>
        </c:scaling>
        <c:delete val="0"/>
        <c:axPos val="l"/>
        <c:majorGridlines>
          <c:spPr>
            <a:ln w="9525">
              <a:solidFill>
                <a:srgbClr val="E4EBEF"/>
              </a:solidFill>
            </a:ln>
          </c:spPr>
        </c:majorGridlines>
        <c:title>
          <c:tx>
            <c:rich>
              <a:bodyPr/>
              <a:lstStyle/>
              <a:p>
                <a:r>
                  <a:rPr lang="en-US">
                    <a:latin typeface="Arial"/>
                    <a:ea typeface="Arial"/>
                    <a:cs typeface="Arial"/>
                  </a:rPr>
                  <a:t>All heaters [kWh/day]</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587081"/>
                </a:solidFill>
                <a:latin typeface="Arial"/>
                <a:ea typeface="Arial"/>
                <a:cs typeface="Arial"/>
              </a:defRPr>
            </a:pPr>
            <a:endParaRPr lang="en-US"/>
          </a:p>
        </c:txPr>
        <c:crossAx val="48650112"/>
        <c:crosses val="autoZero"/>
        <c:crossBetween val="between"/>
      </c:valAx>
      <c:spPr>
        <a:solidFill>
          <a:srgbClr val="FFFFFF"/>
        </a:solidFill>
      </c:spPr>
    </c:plotArea>
    <c:plotVisOnly val="1"/>
    <c:dispBlanksAs val="zero"/>
    <c:showDLblsOverMax val="1"/>
  </c:chart>
  <c:spPr>
    <a:solidFill>
      <a:srgbClr val="FFFFFF"/>
    </a:solidFill>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0"/>
        <c:ser>
          <c:idx val="0"/>
          <c:order val="0"/>
          <c:tx>
            <c:v>300 W cap</c:v>
          </c:tx>
          <c:spPr>
            <a:ln w="26670">
              <a:solidFill>
                <a:srgbClr val="087F95"/>
              </a:solidFill>
            </a:ln>
          </c:spPr>
          <c:marker>
            <c:symbol val="none"/>
          </c:marker>
          <c:xVal>
            <c:numRef>
              <c:f>'Chart Data'!$A$2:$A$290</c:f>
              <c:numCache>
                <c:formatCode>General</c:formatCode>
                <c:ptCount val="289"/>
                <c:pt idx="0">
                  <c:v>0</c:v>
                </c:pt>
                <c:pt idx="1">
                  <c:v>1.3888888888900001E-2</c:v>
                </c:pt>
                <c:pt idx="2">
                  <c:v>2.7777777777800002E-2</c:v>
                </c:pt>
                <c:pt idx="3">
                  <c:v>4.1666666666699999E-2</c:v>
                </c:pt>
                <c:pt idx="4">
                  <c:v>5.5555555555600003E-2</c:v>
                </c:pt>
                <c:pt idx="5">
                  <c:v>6.9444444444399997E-2</c:v>
                </c:pt>
                <c:pt idx="6">
                  <c:v>8.3333333333299994E-2</c:v>
                </c:pt>
                <c:pt idx="7">
                  <c:v>9.7222222222200005E-2</c:v>
                </c:pt>
                <c:pt idx="8">
                  <c:v>0.111111111111</c:v>
                </c:pt>
                <c:pt idx="9">
                  <c:v>0.125</c:v>
                </c:pt>
                <c:pt idx="10">
                  <c:v>0.138888888889</c:v>
                </c:pt>
                <c:pt idx="11">
                  <c:v>0.152777777778</c:v>
                </c:pt>
                <c:pt idx="12">
                  <c:v>0.166666666667</c:v>
                </c:pt>
                <c:pt idx="13">
                  <c:v>0.180555555556</c:v>
                </c:pt>
                <c:pt idx="14">
                  <c:v>0.194444444444</c:v>
                </c:pt>
                <c:pt idx="15">
                  <c:v>0.208333333333</c:v>
                </c:pt>
                <c:pt idx="16">
                  <c:v>0.222222222222</c:v>
                </c:pt>
                <c:pt idx="17">
                  <c:v>0.236111111111</c:v>
                </c:pt>
                <c:pt idx="18">
                  <c:v>0.25</c:v>
                </c:pt>
                <c:pt idx="19">
                  <c:v>0.26388888888899997</c:v>
                </c:pt>
                <c:pt idx="20">
                  <c:v>0.277777777778</c:v>
                </c:pt>
                <c:pt idx="21">
                  <c:v>0.29166666666699997</c:v>
                </c:pt>
                <c:pt idx="22">
                  <c:v>0.305555555556</c:v>
                </c:pt>
                <c:pt idx="23">
                  <c:v>0.319444444444</c:v>
                </c:pt>
                <c:pt idx="24">
                  <c:v>0.33333333333300003</c:v>
                </c:pt>
                <c:pt idx="25">
                  <c:v>0.347222222222</c:v>
                </c:pt>
                <c:pt idx="26">
                  <c:v>0.36111111111100003</c:v>
                </c:pt>
                <c:pt idx="27">
                  <c:v>0.375</c:v>
                </c:pt>
                <c:pt idx="28">
                  <c:v>0.38888888888899997</c:v>
                </c:pt>
                <c:pt idx="29">
                  <c:v>0.402777777778</c:v>
                </c:pt>
                <c:pt idx="30">
                  <c:v>0.41666666666699997</c:v>
                </c:pt>
                <c:pt idx="31">
                  <c:v>0.430555555556</c:v>
                </c:pt>
                <c:pt idx="32">
                  <c:v>0.444444444444</c:v>
                </c:pt>
                <c:pt idx="33">
                  <c:v>0.45833333333300003</c:v>
                </c:pt>
                <c:pt idx="34">
                  <c:v>0.472222222222</c:v>
                </c:pt>
                <c:pt idx="35">
                  <c:v>0.48611111111100003</c:v>
                </c:pt>
                <c:pt idx="36">
                  <c:v>0.5</c:v>
                </c:pt>
                <c:pt idx="37">
                  <c:v>0.51388888888899997</c:v>
                </c:pt>
                <c:pt idx="38">
                  <c:v>0.52777777777799995</c:v>
                </c:pt>
                <c:pt idx="39">
                  <c:v>0.54166666666700003</c:v>
                </c:pt>
                <c:pt idx="40">
                  <c:v>0.555555555556</c:v>
                </c:pt>
                <c:pt idx="41">
                  <c:v>0.569444444444</c:v>
                </c:pt>
                <c:pt idx="42">
                  <c:v>0.58333333333299997</c:v>
                </c:pt>
                <c:pt idx="43">
                  <c:v>0.59722222222200005</c:v>
                </c:pt>
                <c:pt idx="44">
                  <c:v>0.61111111111100003</c:v>
                </c:pt>
                <c:pt idx="45">
                  <c:v>0.625</c:v>
                </c:pt>
                <c:pt idx="46">
                  <c:v>0.63888888888899997</c:v>
                </c:pt>
                <c:pt idx="47">
                  <c:v>0.65277777777799995</c:v>
                </c:pt>
                <c:pt idx="48">
                  <c:v>0.66666666666700003</c:v>
                </c:pt>
                <c:pt idx="49">
                  <c:v>0.680555555556</c:v>
                </c:pt>
                <c:pt idx="50">
                  <c:v>0.694444444444</c:v>
                </c:pt>
                <c:pt idx="51">
                  <c:v>0.70833333333299997</c:v>
                </c:pt>
                <c:pt idx="52">
                  <c:v>0.72222222222200005</c:v>
                </c:pt>
                <c:pt idx="53">
                  <c:v>0.73611111111100003</c:v>
                </c:pt>
                <c:pt idx="54">
                  <c:v>0.75</c:v>
                </c:pt>
                <c:pt idx="55">
                  <c:v>0.76388888888899997</c:v>
                </c:pt>
                <c:pt idx="56">
                  <c:v>0.77777777777799995</c:v>
                </c:pt>
                <c:pt idx="57">
                  <c:v>0.79166666666700003</c:v>
                </c:pt>
                <c:pt idx="58">
                  <c:v>0.805555555556</c:v>
                </c:pt>
                <c:pt idx="59">
                  <c:v>0.819444444444</c:v>
                </c:pt>
                <c:pt idx="60">
                  <c:v>0.83333333333299997</c:v>
                </c:pt>
                <c:pt idx="61">
                  <c:v>0.84722222222200005</c:v>
                </c:pt>
                <c:pt idx="62">
                  <c:v>0.86111111111100003</c:v>
                </c:pt>
                <c:pt idx="63">
                  <c:v>0.875</c:v>
                </c:pt>
                <c:pt idx="64">
                  <c:v>0.88888888888899997</c:v>
                </c:pt>
                <c:pt idx="65">
                  <c:v>0.90277777777799995</c:v>
                </c:pt>
                <c:pt idx="66">
                  <c:v>0.91666666666700003</c:v>
                </c:pt>
                <c:pt idx="67">
                  <c:v>0.930555555556</c:v>
                </c:pt>
                <c:pt idx="68">
                  <c:v>0.944444444444</c:v>
                </c:pt>
                <c:pt idx="69">
                  <c:v>0.95833333333299997</c:v>
                </c:pt>
                <c:pt idx="70">
                  <c:v>0.97222222222200005</c:v>
                </c:pt>
                <c:pt idx="71">
                  <c:v>0.98611111111100003</c:v>
                </c:pt>
                <c:pt idx="72">
                  <c:v>1</c:v>
                </c:pt>
                <c:pt idx="73">
                  <c:v>1.01388888889</c:v>
                </c:pt>
                <c:pt idx="74">
                  <c:v>1.0277777777799999</c:v>
                </c:pt>
                <c:pt idx="75">
                  <c:v>1.0416666666700001</c:v>
                </c:pt>
                <c:pt idx="76">
                  <c:v>1.05555555556</c:v>
                </c:pt>
                <c:pt idx="77">
                  <c:v>1.06944444444</c:v>
                </c:pt>
                <c:pt idx="78">
                  <c:v>1.0833333333299999</c:v>
                </c:pt>
                <c:pt idx="79">
                  <c:v>1.0972222222200001</c:v>
                </c:pt>
                <c:pt idx="80">
                  <c:v>1.11111111111</c:v>
                </c:pt>
                <c:pt idx="81">
                  <c:v>1.125</c:v>
                </c:pt>
                <c:pt idx="82">
                  <c:v>1.13888888889</c:v>
                </c:pt>
                <c:pt idx="83">
                  <c:v>1.1527777777799999</c:v>
                </c:pt>
                <c:pt idx="84">
                  <c:v>1.1666666666700001</c:v>
                </c:pt>
                <c:pt idx="85">
                  <c:v>1.18055555556</c:v>
                </c:pt>
                <c:pt idx="86">
                  <c:v>1.19444444444</c:v>
                </c:pt>
                <c:pt idx="87">
                  <c:v>1.2083333333299999</c:v>
                </c:pt>
                <c:pt idx="88">
                  <c:v>1.2222222222200001</c:v>
                </c:pt>
                <c:pt idx="89">
                  <c:v>1.23611111111</c:v>
                </c:pt>
                <c:pt idx="90">
                  <c:v>1.25</c:v>
                </c:pt>
                <c:pt idx="91">
                  <c:v>1.26388888889</c:v>
                </c:pt>
                <c:pt idx="92">
                  <c:v>1.2777777777799999</c:v>
                </c:pt>
                <c:pt idx="93">
                  <c:v>1.2916666666700001</c:v>
                </c:pt>
                <c:pt idx="94">
                  <c:v>1.30555555556</c:v>
                </c:pt>
                <c:pt idx="95">
                  <c:v>1.31944444444</c:v>
                </c:pt>
                <c:pt idx="96">
                  <c:v>1.3333333333299999</c:v>
                </c:pt>
                <c:pt idx="97">
                  <c:v>1.3472222222200001</c:v>
                </c:pt>
                <c:pt idx="98">
                  <c:v>1.36111111111</c:v>
                </c:pt>
                <c:pt idx="99">
                  <c:v>1.375</c:v>
                </c:pt>
                <c:pt idx="100">
                  <c:v>1.38888888889</c:v>
                </c:pt>
                <c:pt idx="101">
                  <c:v>1.4027777777799999</c:v>
                </c:pt>
                <c:pt idx="102">
                  <c:v>1.4166666666700001</c:v>
                </c:pt>
                <c:pt idx="103">
                  <c:v>1.43055555556</c:v>
                </c:pt>
                <c:pt idx="104">
                  <c:v>1.44444444444</c:v>
                </c:pt>
                <c:pt idx="105">
                  <c:v>1.4583333333299999</c:v>
                </c:pt>
                <c:pt idx="106">
                  <c:v>1.4722222222200001</c:v>
                </c:pt>
                <c:pt idx="107">
                  <c:v>1.48611111111</c:v>
                </c:pt>
                <c:pt idx="108">
                  <c:v>1.5</c:v>
                </c:pt>
                <c:pt idx="109">
                  <c:v>1.51388888889</c:v>
                </c:pt>
                <c:pt idx="110">
                  <c:v>1.5277777777799999</c:v>
                </c:pt>
                <c:pt idx="111">
                  <c:v>1.5416666666700001</c:v>
                </c:pt>
                <c:pt idx="112">
                  <c:v>1.55555555556</c:v>
                </c:pt>
                <c:pt idx="113">
                  <c:v>1.56944444444</c:v>
                </c:pt>
                <c:pt idx="114">
                  <c:v>1.5833333333299999</c:v>
                </c:pt>
                <c:pt idx="115">
                  <c:v>1.5972222222200001</c:v>
                </c:pt>
                <c:pt idx="116">
                  <c:v>1.61111111111</c:v>
                </c:pt>
                <c:pt idx="117">
                  <c:v>1.625</c:v>
                </c:pt>
                <c:pt idx="118">
                  <c:v>1.63888888889</c:v>
                </c:pt>
                <c:pt idx="119">
                  <c:v>1.6527777777799999</c:v>
                </c:pt>
                <c:pt idx="120">
                  <c:v>1.6666666666700001</c:v>
                </c:pt>
                <c:pt idx="121">
                  <c:v>1.68055555556</c:v>
                </c:pt>
                <c:pt idx="122">
                  <c:v>1.69444444444</c:v>
                </c:pt>
                <c:pt idx="123">
                  <c:v>1.7083333333299999</c:v>
                </c:pt>
                <c:pt idx="124">
                  <c:v>1.7222222222200001</c:v>
                </c:pt>
                <c:pt idx="125">
                  <c:v>1.73611111111</c:v>
                </c:pt>
                <c:pt idx="126">
                  <c:v>1.75</c:v>
                </c:pt>
                <c:pt idx="127">
                  <c:v>1.76388888889</c:v>
                </c:pt>
                <c:pt idx="128">
                  <c:v>1.7777777777799999</c:v>
                </c:pt>
                <c:pt idx="129">
                  <c:v>1.7916666666700001</c:v>
                </c:pt>
                <c:pt idx="130">
                  <c:v>1.80555555556</c:v>
                </c:pt>
                <c:pt idx="131">
                  <c:v>1.81944444444</c:v>
                </c:pt>
                <c:pt idx="132">
                  <c:v>1.8333333333299999</c:v>
                </c:pt>
                <c:pt idx="133">
                  <c:v>1.8472222222200001</c:v>
                </c:pt>
                <c:pt idx="134">
                  <c:v>1.86111111111</c:v>
                </c:pt>
                <c:pt idx="135">
                  <c:v>1.875</c:v>
                </c:pt>
                <c:pt idx="136">
                  <c:v>1.88888888889</c:v>
                </c:pt>
                <c:pt idx="137">
                  <c:v>1.9027777777799999</c:v>
                </c:pt>
                <c:pt idx="138">
                  <c:v>1.9166666666700001</c:v>
                </c:pt>
                <c:pt idx="139">
                  <c:v>1.93055555556</c:v>
                </c:pt>
                <c:pt idx="140">
                  <c:v>1.94444444444</c:v>
                </c:pt>
                <c:pt idx="141">
                  <c:v>1.9583333333299999</c:v>
                </c:pt>
                <c:pt idx="142">
                  <c:v>1.9722222222200001</c:v>
                </c:pt>
                <c:pt idx="143">
                  <c:v>1.98611111111</c:v>
                </c:pt>
                <c:pt idx="144">
                  <c:v>2</c:v>
                </c:pt>
                <c:pt idx="145">
                  <c:v>2.01388888889</c:v>
                </c:pt>
                <c:pt idx="146">
                  <c:v>2.0277777777799999</c:v>
                </c:pt>
                <c:pt idx="147">
                  <c:v>2.0416666666699999</c:v>
                </c:pt>
                <c:pt idx="148">
                  <c:v>2.0555555555599998</c:v>
                </c:pt>
                <c:pt idx="149">
                  <c:v>2.0694444444400002</c:v>
                </c:pt>
                <c:pt idx="150">
                  <c:v>2.0833333333300001</c:v>
                </c:pt>
                <c:pt idx="151">
                  <c:v>2.0972222222200001</c:v>
                </c:pt>
                <c:pt idx="152">
                  <c:v>2.11111111111</c:v>
                </c:pt>
                <c:pt idx="153">
                  <c:v>2.125</c:v>
                </c:pt>
                <c:pt idx="154">
                  <c:v>2.13888888889</c:v>
                </c:pt>
                <c:pt idx="155">
                  <c:v>2.1527777777799999</c:v>
                </c:pt>
                <c:pt idx="156">
                  <c:v>2.1666666666699999</c:v>
                </c:pt>
                <c:pt idx="157">
                  <c:v>2.1805555555599998</c:v>
                </c:pt>
                <c:pt idx="158">
                  <c:v>2.1944444444400002</c:v>
                </c:pt>
                <c:pt idx="159">
                  <c:v>2.2083333333300001</c:v>
                </c:pt>
                <c:pt idx="160">
                  <c:v>2.2222222222200001</c:v>
                </c:pt>
                <c:pt idx="161">
                  <c:v>2.23611111111</c:v>
                </c:pt>
                <c:pt idx="162">
                  <c:v>2.25</c:v>
                </c:pt>
                <c:pt idx="163">
                  <c:v>2.26388888889</c:v>
                </c:pt>
                <c:pt idx="164">
                  <c:v>2.2777777777799999</c:v>
                </c:pt>
                <c:pt idx="165">
                  <c:v>2.2916666666699999</c:v>
                </c:pt>
                <c:pt idx="166">
                  <c:v>2.3055555555599998</c:v>
                </c:pt>
                <c:pt idx="167">
                  <c:v>2.3194444444400002</c:v>
                </c:pt>
                <c:pt idx="168">
                  <c:v>2.3333333333300001</c:v>
                </c:pt>
                <c:pt idx="169">
                  <c:v>2.3472222222200001</c:v>
                </c:pt>
                <c:pt idx="170">
                  <c:v>2.36111111111</c:v>
                </c:pt>
                <c:pt idx="171">
                  <c:v>2.375</c:v>
                </c:pt>
                <c:pt idx="172">
                  <c:v>2.38888888889</c:v>
                </c:pt>
                <c:pt idx="173">
                  <c:v>2.4027777777799999</c:v>
                </c:pt>
                <c:pt idx="174">
                  <c:v>2.4166666666699999</c:v>
                </c:pt>
                <c:pt idx="175">
                  <c:v>2.4305555555599998</c:v>
                </c:pt>
                <c:pt idx="176">
                  <c:v>2.4444444444400002</c:v>
                </c:pt>
                <c:pt idx="177">
                  <c:v>2.4583333333300001</c:v>
                </c:pt>
                <c:pt idx="178">
                  <c:v>2.4722222222200001</c:v>
                </c:pt>
                <c:pt idx="179">
                  <c:v>2.48611111111</c:v>
                </c:pt>
                <c:pt idx="180">
                  <c:v>2.5</c:v>
                </c:pt>
                <c:pt idx="181">
                  <c:v>2.51388888889</c:v>
                </c:pt>
                <c:pt idx="182">
                  <c:v>2.5277777777799999</c:v>
                </c:pt>
                <c:pt idx="183">
                  <c:v>2.5416666666699999</c:v>
                </c:pt>
                <c:pt idx="184">
                  <c:v>2.5555555555599998</c:v>
                </c:pt>
                <c:pt idx="185">
                  <c:v>2.5694444444400002</c:v>
                </c:pt>
                <c:pt idx="186">
                  <c:v>2.5833333333300001</c:v>
                </c:pt>
                <c:pt idx="187">
                  <c:v>2.5972222222200001</c:v>
                </c:pt>
                <c:pt idx="188">
                  <c:v>2.61111111111</c:v>
                </c:pt>
                <c:pt idx="189">
                  <c:v>2.625</c:v>
                </c:pt>
                <c:pt idx="190">
                  <c:v>2.63888888889</c:v>
                </c:pt>
                <c:pt idx="191">
                  <c:v>2.6527777777799999</c:v>
                </c:pt>
                <c:pt idx="192">
                  <c:v>2.6666666666699999</c:v>
                </c:pt>
                <c:pt idx="193">
                  <c:v>2.6805555555599998</c:v>
                </c:pt>
                <c:pt idx="194">
                  <c:v>2.6944444444400002</c:v>
                </c:pt>
                <c:pt idx="195">
                  <c:v>2.7083333333300001</c:v>
                </c:pt>
                <c:pt idx="196">
                  <c:v>2.7222222222200001</c:v>
                </c:pt>
                <c:pt idx="197">
                  <c:v>2.73611111111</c:v>
                </c:pt>
                <c:pt idx="198">
                  <c:v>2.75</c:v>
                </c:pt>
                <c:pt idx="199">
                  <c:v>2.76388888889</c:v>
                </c:pt>
                <c:pt idx="200">
                  <c:v>2.7777777777799999</c:v>
                </c:pt>
                <c:pt idx="201">
                  <c:v>2.7916666666699999</c:v>
                </c:pt>
                <c:pt idx="202">
                  <c:v>2.8055555555599998</c:v>
                </c:pt>
                <c:pt idx="203">
                  <c:v>2.8194444444400002</c:v>
                </c:pt>
                <c:pt idx="204">
                  <c:v>2.8333333333300001</c:v>
                </c:pt>
                <c:pt idx="205">
                  <c:v>2.8472222222200001</c:v>
                </c:pt>
                <c:pt idx="206">
                  <c:v>2.86111111111</c:v>
                </c:pt>
                <c:pt idx="207">
                  <c:v>2.875</c:v>
                </c:pt>
                <c:pt idx="208">
                  <c:v>2.88888888889</c:v>
                </c:pt>
                <c:pt idx="209">
                  <c:v>2.9027777777799999</c:v>
                </c:pt>
                <c:pt idx="210">
                  <c:v>2.9166666666699999</c:v>
                </c:pt>
                <c:pt idx="211">
                  <c:v>2.9305555555599998</c:v>
                </c:pt>
                <c:pt idx="212">
                  <c:v>2.9444444444400002</c:v>
                </c:pt>
                <c:pt idx="213">
                  <c:v>2.9583333333300001</c:v>
                </c:pt>
                <c:pt idx="214">
                  <c:v>2.9722222222200001</c:v>
                </c:pt>
                <c:pt idx="215">
                  <c:v>2.98611111111</c:v>
                </c:pt>
                <c:pt idx="216">
                  <c:v>3</c:v>
                </c:pt>
                <c:pt idx="217">
                  <c:v>3.01388888889</c:v>
                </c:pt>
                <c:pt idx="218">
                  <c:v>3.0277777777799999</c:v>
                </c:pt>
                <c:pt idx="219">
                  <c:v>3.0416666666699999</c:v>
                </c:pt>
                <c:pt idx="220">
                  <c:v>3.0555555555599998</c:v>
                </c:pt>
                <c:pt idx="221">
                  <c:v>3.0694444444400002</c:v>
                </c:pt>
                <c:pt idx="222">
                  <c:v>3.0833333333300001</c:v>
                </c:pt>
                <c:pt idx="223">
                  <c:v>3.0972222222200001</c:v>
                </c:pt>
                <c:pt idx="224">
                  <c:v>3.11111111111</c:v>
                </c:pt>
                <c:pt idx="225">
                  <c:v>3.125</c:v>
                </c:pt>
                <c:pt idx="226">
                  <c:v>3.13888888889</c:v>
                </c:pt>
                <c:pt idx="227">
                  <c:v>3.1527777777799999</c:v>
                </c:pt>
                <c:pt idx="228">
                  <c:v>3.1666666666699999</c:v>
                </c:pt>
                <c:pt idx="229">
                  <c:v>3.1805555555599998</c:v>
                </c:pt>
                <c:pt idx="230">
                  <c:v>3.1944444444400002</c:v>
                </c:pt>
                <c:pt idx="231">
                  <c:v>3.2083333333300001</c:v>
                </c:pt>
                <c:pt idx="232">
                  <c:v>3.2222222222200001</c:v>
                </c:pt>
                <c:pt idx="233">
                  <c:v>3.23611111111</c:v>
                </c:pt>
                <c:pt idx="234">
                  <c:v>3.25</c:v>
                </c:pt>
                <c:pt idx="235">
                  <c:v>3.26388888889</c:v>
                </c:pt>
                <c:pt idx="236">
                  <c:v>3.2777777777799999</c:v>
                </c:pt>
                <c:pt idx="237">
                  <c:v>3.2916666666699999</c:v>
                </c:pt>
                <c:pt idx="238">
                  <c:v>3.3055555555599998</c:v>
                </c:pt>
                <c:pt idx="239">
                  <c:v>3.3194444444400002</c:v>
                </c:pt>
                <c:pt idx="240">
                  <c:v>3.3333333333300001</c:v>
                </c:pt>
                <c:pt idx="241">
                  <c:v>3.3472222222200001</c:v>
                </c:pt>
                <c:pt idx="242">
                  <c:v>3.36111111111</c:v>
                </c:pt>
                <c:pt idx="243">
                  <c:v>3.375</c:v>
                </c:pt>
                <c:pt idx="244">
                  <c:v>3.38888888889</c:v>
                </c:pt>
                <c:pt idx="245">
                  <c:v>3.4027777777799999</c:v>
                </c:pt>
                <c:pt idx="246">
                  <c:v>3.4166666666699999</c:v>
                </c:pt>
                <c:pt idx="247">
                  <c:v>3.4305555555599998</c:v>
                </c:pt>
                <c:pt idx="248">
                  <c:v>3.4444444444400002</c:v>
                </c:pt>
                <c:pt idx="249">
                  <c:v>3.4583333333300001</c:v>
                </c:pt>
                <c:pt idx="250">
                  <c:v>3.4722222222200001</c:v>
                </c:pt>
                <c:pt idx="251">
                  <c:v>3.48611111111</c:v>
                </c:pt>
                <c:pt idx="252">
                  <c:v>3.5</c:v>
                </c:pt>
                <c:pt idx="253">
                  <c:v>3.51388888889</c:v>
                </c:pt>
                <c:pt idx="254">
                  <c:v>3.5277777777799999</c:v>
                </c:pt>
                <c:pt idx="255">
                  <c:v>3.5416666666699999</c:v>
                </c:pt>
                <c:pt idx="256">
                  <c:v>3.5555555555599998</c:v>
                </c:pt>
                <c:pt idx="257">
                  <c:v>3.5694444444400002</c:v>
                </c:pt>
                <c:pt idx="258">
                  <c:v>3.5833333333300001</c:v>
                </c:pt>
                <c:pt idx="259">
                  <c:v>3.5972222222200001</c:v>
                </c:pt>
                <c:pt idx="260">
                  <c:v>3.61111111111</c:v>
                </c:pt>
                <c:pt idx="261">
                  <c:v>3.625</c:v>
                </c:pt>
                <c:pt idx="262">
                  <c:v>3.63888888889</c:v>
                </c:pt>
                <c:pt idx="263">
                  <c:v>3.6527777777799999</c:v>
                </c:pt>
                <c:pt idx="264">
                  <c:v>3.6666666666699999</c:v>
                </c:pt>
                <c:pt idx="265">
                  <c:v>3.6805555555599998</c:v>
                </c:pt>
                <c:pt idx="266">
                  <c:v>3.6944444444400002</c:v>
                </c:pt>
                <c:pt idx="267">
                  <c:v>3.7083333333300001</c:v>
                </c:pt>
                <c:pt idx="268">
                  <c:v>3.7222222222200001</c:v>
                </c:pt>
                <c:pt idx="269">
                  <c:v>3.73611111111</c:v>
                </c:pt>
                <c:pt idx="270">
                  <c:v>3.75</c:v>
                </c:pt>
                <c:pt idx="271">
                  <c:v>3.76388888889</c:v>
                </c:pt>
                <c:pt idx="272">
                  <c:v>3.7777777777799999</c:v>
                </c:pt>
                <c:pt idx="273">
                  <c:v>3.7916666666699999</c:v>
                </c:pt>
                <c:pt idx="274">
                  <c:v>3.8055555555599998</c:v>
                </c:pt>
                <c:pt idx="275">
                  <c:v>3.8194444444400002</c:v>
                </c:pt>
                <c:pt idx="276">
                  <c:v>3.8333333333300001</c:v>
                </c:pt>
                <c:pt idx="277">
                  <c:v>3.8472222222200001</c:v>
                </c:pt>
                <c:pt idx="278">
                  <c:v>3.86111111111</c:v>
                </c:pt>
                <c:pt idx="279">
                  <c:v>3.875</c:v>
                </c:pt>
                <c:pt idx="280">
                  <c:v>3.88888888889</c:v>
                </c:pt>
                <c:pt idx="281">
                  <c:v>3.9027777777799999</c:v>
                </c:pt>
                <c:pt idx="282">
                  <c:v>3.9166666666699999</c:v>
                </c:pt>
                <c:pt idx="283">
                  <c:v>3.9305555555599998</c:v>
                </c:pt>
                <c:pt idx="284">
                  <c:v>3.9444444444400002</c:v>
                </c:pt>
                <c:pt idx="285">
                  <c:v>3.9583333333300001</c:v>
                </c:pt>
                <c:pt idx="286">
                  <c:v>3.9722222222200001</c:v>
                </c:pt>
                <c:pt idx="287">
                  <c:v>3.98611111111</c:v>
                </c:pt>
                <c:pt idx="288">
                  <c:v>4</c:v>
                </c:pt>
              </c:numCache>
            </c:numRef>
          </c:xVal>
          <c:yVal>
            <c:numRef>
              <c:f>'Chart Data'!$B$2:$B$290</c:f>
              <c:numCache>
                <c:formatCode>General</c:formatCode>
                <c:ptCount val="289"/>
                <c:pt idx="0">
                  <c:v>-40</c:v>
                </c:pt>
                <c:pt idx="1">
                  <c:v>-39.699824599999999</c:v>
                </c:pt>
                <c:pt idx="2">
                  <c:v>-39.350671900000002</c:v>
                </c:pt>
                <c:pt idx="3">
                  <c:v>-39.009766999999997</c:v>
                </c:pt>
                <c:pt idx="4">
                  <c:v>-38.675522899999997</c:v>
                </c:pt>
                <c:pt idx="5">
                  <c:v>-38.346992</c:v>
                </c:pt>
                <c:pt idx="6">
                  <c:v>-38.023547499999999</c:v>
                </c:pt>
                <c:pt idx="7">
                  <c:v>-37.7047375</c:v>
                </c:pt>
                <c:pt idx="8">
                  <c:v>-37.390213099999997</c:v>
                </c:pt>
                <c:pt idx="9">
                  <c:v>-37.079691400000002</c:v>
                </c:pt>
                <c:pt idx="10">
                  <c:v>-36.772934100000001</c:v>
                </c:pt>
                <c:pt idx="11">
                  <c:v>-36.4697356</c:v>
                </c:pt>
                <c:pt idx="12">
                  <c:v>-36.169915899999999</c:v>
                </c:pt>
                <c:pt idx="13">
                  <c:v>-35.873315499999997</c:v>
                </c:pt>
                <c:pt idx="14">
                  <c:v>-35.5797922</c:v>
                </c:pt>
                <c:pt idx="15">
                  <c:v>-35.289217999999998</c:v>
                </c:pt>
                <c:pt idx="16">
                  <c:v>-35.001477899999998</c:v>
                </c:pt>
                <c:pt idx="17">
                  <c:v>-34.716467799999997</c:v>
                </c:pt>
                <c:pt idx="18">
                  <c:v>-34.434092999999997</c:v>
                </c:pt>
                <c:pt idx="19">
                  <c:v>-34.154267400000002</c:v>
                </c:pt>
                <c:pt idx="20">
                  <c:v>-33.876912500000003</c:v>
                </c:pt>
                <c:pt idx="21">
                  <c:v>-33.601956299999998</c:v>
                </c:pt>
                <c:pt idx="22">
                  <c:v>-33.3293325</c:v>
                </c:pt>
                <c:pt idx="23">
                  <c:v>-33.058980200000001</c:v>
                </c:pt>
                <c:pt idx="24">
                  <c:v>-32.790843000000002</c:v>
                </c:pt>
                <c:pt idx="25">
                  <c:v>-32.524868599999998</c:v>
                </c:pt>
                <c:pt idx="26">
                  <c:v>-32.261008199999999</c:v>
                </c:pt>
                <c:pt idx="27">
                  <c:v>-31.999216499999999</c:v>
                </c:pt>
                <c:pt idx="28">
                  <c:v>-31.7394511</c:v>
                </c:pt>
                <c:pt idx="29">
                  <c:v>-31.481671800000001</c:v>
                </c:pt>
                <c:pt idx="30">
                  <c:v>-31.225841299999999</c:v>
                </c:pt>
                <c:pt idx="31">
                  <c:v>-30.9719239</c:v>
                </c:pt>
                <c:pt idx="32">
                  <c:v>-30.7198861</c:v>
                </c:pt>
                <c:pt idx="33">
                  <c:v>-30.469695999999999</c:v>
                </c:pt>
                <c:pt idx="34">
                  <c:v>-30.2213232</c:v>
                </c:pt>
                <c:pt idx="35">
                  <c:v>-29.974738800000001</c:v>
                </c:pt>
                <c:pt idx="36">
                  <c:v>-29.729914999999998</c:v>
                </c:pt>
                <c:pt idx="37">
                  <c:v>-29.4868253</c:v>
                </c:pt>
                <c:pt idx="38">
                  <c:v>-29.245444200000001</c:v>
                </c:pt>
                <c:pt idx="39">
                  <c:v>-29.005747199999998</c:v>
                </c:pt>
                <c:pt idx="40">
                  <c:v>-28.767710600000001</c:v>
                </c:pt>
                <c:pt idx="41">
                  <c:v>-28.531311800000001</c:v>
                </c:pt>
                <c:pt idx="42">
                  <c:v>-28.296528500000001</c:v>
                </c:pt>
                <c:pt idx="43">
                  <c:v>-28.063339500000001</c:v>
                </c:pt>
                <c:pt idx="44">
                  <c:v>-27.831724099999999</c:v>
                </c:pt>
                <c:pt idx="45">
                  <c:v>-27.601662099999999</c:v>
                </c:pt>
                <c:pt idx="46">
                  <c:v>-27.373134100000001</c:v>
                </c:pt>
                <c:pt idx="47">
                  <c:v>-27.146121099999998</c:v>
                </c:pt>
                <c:pt idx="48">
                  <c:v>-26.9206045</c:v>
                </c:pt>
                <c:pt idx="49">
                  <c:v>-26.696566399999998</c:v>
                </c:pt>
                <c:pt idx="50">
                  <c:v>-26.473989199999998</c:v>
                </c:pt>
                <c:pt idx="51">
                  <c:v>-26.252855799999999</c:v>
                </c:pt>
                <c:pt idx="52">
                  <c:v>-26.033149300000002</c:v>
                </c:pt>
                <c:pt idx="53">
                  <c:v>-25.814853500000002</c:v>
                </c:pt>
                <c:pt idx="54">
                  <c:v>-25.5979524</c:v>
                </c:pt>
                <c:pt idx="55">
                  <c:v>-25.382430200000002</c:v>
                </c:pt>
                <c:pt idx="56">
                  <c:v>-25.168271600000001</c:v>
                </c:pt>
                <c:pt idx="57">
                  <c:v>-24.955461700000001</c:v>
                </c:pt>
                <c:pt idx="58">
                  <c:v>-24.743985800000001</c:v>
                </c:pt>
                <c:pt idx="59">
                  <c:v>-24.533829300000001</c:v>
                </c:pt>
                <c:pt idx="60">
                  <c:v>-24.3249782</c:v>
                </c:pt>
                <c:pt idx="61">
                  <c:v>-24.117418600000001</c:v>
                </c:pt>
                <c:pt idx="62">
                  <c:v>-23.911137</c:v>
                </c:pt>
                <c:pt idx="63">
                  <c:v>-23.7061198</c:v>
                </c:pt>
                <c:pt idx="64">
                  <c:v>-23.502354199999999</c:v>
                </c:pt>
                <c:pt idx="65">
                  <c:v>-23.299827100000002</c:v>
                </c:pt>
                <c:pt idx="66">
                  <c:v>-23.098526</c:v>
                </c:pt>
                <c:pt idx="67">
                  <c:v>-22.898438299999999</c:v>
                </c:pt>
                <c:pt idx="68">
                  <c:v>-22.699552000000001</c:v>
                </c:pt>
                <c:pt idx="69">
                  <c:v>-22.501854999999999</c:v>
                </c:pt>
                <c:pt idx="70">
                  <c:v>-22.305335500000002</c:v>
                </c:pt>
                <c:pt idx="71">
                  <c:v>-22.1099818</c:v>
                </c:pt>
                <c:pt idx="72">
                  <c:v>-21.915782700000001</c:v>
                </c:pt>
                <c:pt idx="73">
                  <c:v>-21.722726900000001</c:v>
                </c:pt>
                <c:pt idx="74">
                  <c:v>-21.530803299999999</c:v>
                </c:pt>
                <c:pt idx="75">
                  <c:v>-21.340001000000001</c:v>
                </c:pt>
                <c:pt idx="76">
                  <c:v>-21.150309400000001</c:v>
                </c:pt>
                <c:pt idx="77">
                  <c:v>-20.9617179</c:v>
                </c:pt>
                <c:pt idx="78">
                  <c:v>-20.7742161</c:v>
                </c:pt>
                <c:pt idx="79">
                  <c:v>-20.587793900000001</c:v>
                </c:pt>
                <c:pt idx="80">
                  <c:v>-20.402441199999998</c:v>
                </c:pt>
                <c:pt idx="81">
                  <c:v>-20.218147999999999</c:v>
                </c:pt>
                <c:pt idx="82">
                  <c:v>-20.034904699999998</c:v>
                </c:pt>
                <c:pt idx="83">
                  <c:v>-19.852701499999998</c:v>
                </c:pt>
                <c:pt idx="84">
                  <c:v>-19.671529100000001</c:v>
                </c:pt>
                <c:pt idx="85">
                  <c:v>-19.491378000000001</c:v>
                </c:pt>
                <c:pt idx="86">
                  <c:v>-19.312239099999999</c:v>
                </c:pt>
                <c:pt idx="87">
                  <c:v>-19.1341033</c:v>
                </c:pt>
                <c:pt idx="88">
                  <c:v>-18.9569616</c:v>
                </c:pt>
                <c:pt idx="89">
                  <c:v>-18.7808052</c:v>
                </c:pt>
                <c:pt idx="90">
                  <c:v>-18.605625400000001</c:v>
                </c:pt>
                <c:pt idx="91">
                  <c:v>-18.431413599999999</c:v>
                </c:pt>
                <c:pt idx="92">
                  <c:v>-18.258161300000001</c:v>
                </c:pt>
                <c:pt idx="93">
                  <c:v>-18.085860100000001</c:v>
                </c:pt>
                <c:pt idx="94">
                  <c:v>-17.914501900000001</c:v>
                </c:pt>
                <c:pt idx="95">
                  <c:v>-17.744078500000001</c:v>
                </c:pt>
                <c:pt idx="96">
                  <c:v>-17.574581800000001</c:v>
                </c:pt>
                <c:pt idx="97">
                  <c:v>-17.406003800000001</c:v>
                </c:pt>
                <c:pt idx="98">
                  <c:v>-17.238336799999999</c:v>
                </c:pt>
                <c:pt idx="99">
                  <c:v>-17.071573099999998</c:v>
                </c:pt>
                <c:pt idx="100">
                  <c:v>-16.9057049</c:v>
                </c:pt>
                <c:pt idx="101">
                  <c:v>-16.740724700000001</c:v>
                </c:pt>
                <c:pt idx="102">
                  <c:v>-16.576625199999999</c:v>
                </c:pt>
                <c:pt idx="103">
                  <c:v>-16.4133988</c:v>
                </c:pt>
                <c:pt idx="104">
                  <c:v>-16.251038300000001</c:v>
                </c:pt>
                <c:pt idx="105">
                  <c:v>-16.0895367</c:v>
                </c:pt>
                <c:pt idx="106">
                  <c:v>-15.9288866</c:v>
                </c:pt>
                <c:pt idx="107">
                  <c:v>-15.7690812</c:v>
                </c:pt>
                <c:pt idx="108">
                  <c:v>-15.610113399999999</c:v>
                </c:pt>
                <c:pt idx="109">
                  <c:v>-15.451976500000001</c:v>
                </c:pt>
                <c:pt idx="110">
                  <c:v>-15.2946636</c:v>
                </c:pt>
                <c:pt idx="111">
                  <c:v>-15.138168</c:v>
                </c:pt>
                <c:pt idx="112">
                  <c:v>-14.9824831</c:v>
                </c:pt>
                <c:pt idx="113">
                  <c:v>-14.827602300000001</c:v>
                </c:pt>
                <c:pt idx="114">
                  <c:v>-14.6735191</c:v>
                </c:pt>
                <c:pt idx="115">
                  <c:v>-14.520227200000001</c:v>
                </c:pt>
                <c:pt idx="116">
                  <c:v>-14.3677201</c:v>
                </c:pt>
                <c:pt idx="117">
                  <c:v>-14.2159917</c:v>
                </c:pt>
                <c:pt idx="118">
                  <c:v>-14.0650356</c:v>
                </c:pt>
                <c:pt idx="119">
                  <c:v>-13.914845700000001</c:v>
                </c:pt>
                <c:pt idx="120">
                  <c:v>-13.765415900000001</c:v>
                </c:pt>
                <c:pt idx="121">
                  <c:v>-13.6167403</c:v>
                </c:pt>
                <c:pt idx="122">
                  <c:v>-13.468812700000001</c:v>
                </c:pt>
                <c:pt idx="123">
                  <c:v>-13.321627400000001</c:v>
                </c:pt>
                <c:pt idx="124">
                  <c:v>-13.175178499999999</c:v>
                </c:pt>
                <c:pt idx="125">
                  <c:v>-13.029460200000001</c:v>
                </c:pt>
                <c:pt idx="126">
                  <c:v>-12.884466700000001</c:v>
                </c:pt>
                <c:pt idx="127">
                  <c:v>-12.7401924</c:v>
                </c:pt>
                <c:pt idx="128">
                  <c:v>-12.5966317</c:v>
                </c:pt>
                <c:pt idx="129">
                  <c:v>-12.453779000000001</c:v>
                </c:pt>
                <c:pt idx="130">
                  <c:v>-12.3116287</c:v>
                </c:pt>
                <c:pt idx="131">
                  <c:v>-12.170175499999999</c:v>
                </c:pt>
                <c:pt idx="132">
                  <c:v>-12.0294138</c:v>
                </c:pt>
                <c:pt idx="133">
                  <c:v>-11.8893384</c:v>
                </c:pt>
                <c:pt idx="134">
                  <c:v>-11.7499439</c:v>
                </c:pt>
                <c:pt idx="135">
                  <c:v>-11.611224999999999</c:v>
                </c:pt>
                <c:pt idx="136">
                  <c:v>-11.4731766</c:v>
                </c:pt>
                <c:pt idx="137">
                  <c:v>-11.3357934</c:v>
                </c:pt>
                <c:pt idx="138">
                  <c:v>-11.1990704</c:v>
                </c:pt>
                <c:pt idx="139">
                  <c:v>-11.063002300000001</c:v>
                </c:pt>
                <c:pt idx="140">
                  <c:v>-10.927584299999999</c:v>
                </c:pt>
                <c:pt idx="141">
                  <c:v>-10.7928113</c:v>
                </c:pt>
                <c:pt idx="142">
                  <c:v>-10.658678399999999</c:v>
                </c:pt>
                <c:pt idx="143">
                  <c:v>-10.525180600000001</c:v>
                </c:pt>
                <c:pt idx="144">
                  <c:v>-10.392313</c:v>
                </c:pt>
                <c:pt idx="145">
                  <c:v>-10.260070900000001</c:v>
                </c:pt>
                <c:pt idx="146">
                  <c:v>-10.1284495</c:v>
                </c:pt>
                <c:pt idx="147">
                  <c:v>-9.9974439000000004</c:v>
                </c:pt>
                <c:pt idx="148">
                  <c:v>-9.8670495999999996</c:v>
                </c:pt>
                <c:pt idx="149">
                  <c:v>-9.7372616999999995</c:v>
                </c:pt>
                <c:pt idx="150">
                  <c:v>-9.6080757999999999</c:v>
                </c:pt>
                <c:pt idx="151">
                  <c:v>-9.4794871000000001</c:v>
                </c:pt>
                <c:pt idx="152">
                  <c:v>-9.3514911999999999</c:v>
                </c:pt>
                <c:pt idx="153">
                  <c:v>-9.2240833999999996</c:v>
                </c:pt>
                <c:pt idx="154">
                  <c:v>-9.0972594000000004</c:v>
                </c:pt>
                <c:pt idx="155">
                  <c:v>-8.9710146000000002</c:v>
                </c:pt>
                <c:pt idx="156">
                  <c:v>-8.8453446000000007</c:v>
                </c:pt>
                <c:pt idx="157">
                  <c:v>-8.7202450999999996</c:v>
                </c:pt>
                <c:pt idx="158">
                  <c:v>-8.5957117000000007</c:v>
                </c:pt>
                <c:pt idx="159">
                  <c:v>-8.4717400000000005</c:v>
                </c:pt>
                <c:pt idx="160">
                  <c:v>-8.3483257999999996</c:v>
                </c:pt>
                <c:pt idx="161">
                  <c:v>-8.2254649000000004</c:v>
                </c:pt>
                <c:pt idx="162">
                  <c:v>-8.1031528999999995</c:v>
                </c:pt>
                <c:pt idx="163">
                  <c:v>-7.9813856999999997</c:v>
                </c:pt>
                <c:pt idx="164">
                  <c:v>-7.8601592</c:v>
                </c:pt>
                <c:pt idx="165">
                  <c:v>-7.7394692000000003</c:v>
                </c:pt>
                <c:pt idx="166">
                  <c:v>-7.6193115999999996</c:v>
                </c:pt>
                <c:pt idx="167">
                  <c:v>-7.4996822999999999</c:v>
                </c:pt>
                <c:pt idx="168">
                  <c:v>-7.3805774</c:v>
                </c:pt>
                <c:pt idx="169">
                  <c:v>-7.2619927000000004</c:v>
                </c:pt>
                <c:pt idx="170">
                  <c:v>-7.1439243000000001</c:v>
                </c:pt>
                <c:pt idx="171">
                  <c:v>-7.0263682000000003</c:v>
                </c:pt>
                <c:pt idx="172">
                  <c:v>-6.9093204999999998</c:v>
                </c:pt>
                <c:pt idx="173">
                  <c:v>-6.7927774000000003</c:v>
                </c:pt>
                <c:pt idx="174">
                  <c:v>-6.6767348000000002</c:v>
                </c:pt>
                <c:pt idx="175">
                  <c:v>-6.5611891</c:v>
                </c:pt>
                <c:pt idx="176">
                  <c:v>-6.4461363</c:v>
                </c:pt>
                <c:pt idx="177">
                  <c:v>-6.3315726000000003</c:v>
                </c:pt>
                <c:pt idx="178">
                  <c:v>-6.2174943999999996</c:v>
                </c:pt>
                <c:pt idx="179">
                  <c:v>-6.1038978000000004</c:v>
                </c:pt>
                <c:pt idx="180">
                  <c:v>-5.9907792000000004</c:v>
                </c:pt>
                <c:pt idx="181">
                  <c:v>-5.8781347999999998</c:v>
                </c:pt>
                <c:pt idx="182">
                  <c:v>-5.7659608999999996</c:v>
                </c:pt>
                <c:pt idx="183">
                  <c:v>-5.6542539999999999</c:v>
                </c:pt>
                <c:pt idx="184">
                  <c:v>-5.5430105000000003</c:v>
                </c:pt>
                <c:pt idx="185">
                  <c:v>-5.4322265999999999</c:v>
                </c:pt>
                <c:pt idx="186">
                  <c:v>-5.3218988999999999</c:v>
                </c:pt>
                <c:pt idx="187">
                  <c:v>-5.2120237999999999</c:v>
                </c:pt>
                <c:pt idx="188">
                  <c:v>-5.1029809999999998</c:v>
                </c:pt>
                <c:pt idx="189">
                  <c:v>-5.0098091</c:v>
                </c:pt>
                <c:pt idx="190">
                  <c:v>-4.9452952999999997</c:v>
                </c:pt>
                <c:pt idx="191">
                  <c:v>-4.9093435999999997</c:v>
                </c:pt>
                <c:pt idx="192">
                  <c:v>-4.8971438000000003</c:v>
                </c:pt>
                <c:pt idx="193">
                  <c:v>-4.9018914000000002</c:v>
                </c:pt>
                <c:pt idx="194">
                  <c:v>-4.9166679000000002</c:v>
                </c:pt>
                <c:pt idx="195">
                  <c:v>-4.9355874999999996</c:v>
                </c:pt>
                <c:pt idx="196">
                  <c:v>-4.9543330000000001</c:v>
                </c:pt>
                <c:pt idx="197">
                  <c:v>-4.9702384000000004</c:v>
                </c:pt>
                <c:pt idx="198">
                  <c:v>-4.9820796999999999</c:v>
                </c:pt>
                <c:pt idx="199">
                  <c:v>-4.989719</c:v>
                </c:pt>
                <c:pt idx="200">
                  <c:v>-4.9937139000000004</c:v>
                </c:pt>
                <c:pt idx="201">
                  <c:v>-4.9949664</c:v>
                </c:pt>
                <c:pt idx="202">
                  <c:v>-4.9944518999999996</c:v>
                </c:pt>
                <c:pt idx="203">
                  <c:v>-4.9930392000000001</c:v>
                </c:pt>
                <c:pt idx="204">
                  <c:v>-4.9913964000000002</c:v>
                </c:pt>
                <c:pt idx="205">
                  <c:v>-4.9899636000000003</c:v>
                </c:pt>
                <c:pt idx="206">
                  <c:v>-4.9889717999999998</c:v>
                </c:pt>
                <c:pt idx="207">
                  <c:v>-4.9884871999999998</c:v>
                </c:pt>
                <c:pt idx="208">
                  <c:v>-4.9884642000000001</c:v>
                </c:pt>
                <c:pt idx="209">
                  <c:v>-4.9887961000000001</c:v>
                </c:pt>
                <c:pt idx="210">
                  <c:v>-4.9893555000000003</c:v>
                </c:pt>
                <c:pt idx="211">
                  <c:v>-4.9900226999999999</c:v>
                </c:pt>
                <c:pt idx="212">
                  <c:v>-4.9907022999999997</c:v>
                </c:pt>
                <c:pt idx="213">
                  <c:v>-4.9913287000000004</c:v>
                </c:pt>
                <c:pt idx="214">
                  <c:v>-4.9918661999999996</c:v>
                </c:pt>
                <c:pt idx="215">
                  <c:v>-4.9923028</c:v>
                </c:pt>
                <c:pt idx="216">
                  <c:v>-4.9926439</c:v>
                </c:pt>
                <c:pt idx="217">
                  <c:v>-4.9929049000000001</c:v>
                </c:pt>
                <c:pt idx="218">
                  <c:v>-4.9931052999999999</c:v>
                </c:pt>
                <c:pt idx="219">
                  <c:v>-4.9932641000000002</c:v>
                </c:pt>
                <c:pt idx="220">
                  <c:v>-4.9933978000000003</c:v>
                </c:pt>
                <c:pt idx="221">
                  <c:v>-4.9935181000000002</c:v>
                </c:pt>
                <c:pt idx="222">
                  <c:v>-4.9936328999999997</c:v>
                </c:pt>
                <c:pt idx="223">
                  <c:v>-4.9937462000000004</c:v>
                </c:pt>
                <c:pt idx="224">
                  <c:v>-4.9938592000000002</c:v>
                </c:pt>
                <c:pt idx="225">
                  <c:v>-4.9939714000000004</c:v>
                </c:pt>
                <c:pt idx="226">
                  <c:v>-4.9940813999999998</c:v>
                </c:pt>
                <c:pt idx="227">
                  <c:v>-4.9941874000000004</c:v>
                </c:pt>
                <c:pt idx="228">
                  <c:v>-4.9942880000000001</c:v>
                </c:pt>
                <c:pt idx="229">
                  <c:v>-4.9943822000000004</c:v>
                </c:pt>
                <c:pt idx="230">
                  <c:v>-4.9944696000000004</c:v>
                </c:pt>
                <c:pt idx="231">
                  <c:v>-4.9945500999999997</c:v>
                </c:pt>
                <c:pt idx="232">
                  <c:v>-4.9946241000000002</c:v>
                </c:pt>
                <c:pt idx="233">
                  <c:v>-4.9946919999999997</c:v>
                </c:pt>
                <c:pt idx="234">
                  <c:v>-4.9947546999999997</c:v>
                </c:pt>
                <c:pt idx="235">
                  <c:v>-4.9948126999999998</c:v>
                </c:pt>
                <c:pt idx="236">
                  <c:v>-4.9948667999999996</c:v>
                </c:pt>
                <c:pt idx="237">
                  <c:v>-4.9949174000000003</c:v>
                </c:pt>
                <c:pt idx="238">
                  <c:v>-4.9949649000000003</c:v>
                </c:pt>
                <c:pt idx="239">
                  <c:v>-4.9950096999999998</c:v>
                </c:pt>
                <c:pt idx="240">
                  <c:v>-4.9950520999999997</c:v>
                </c:pt>
                <c:pt idx="241">
                  <c:v>-4.9950920999999999</c:v>
                </c:pt>
                <c:pt idx="242">
                  <c:v>-4.9951300999999999</c:v>
                </c:pt>
                <c:pt idx="243">
                  <c:v>-4.9951660000000002</c:v>
                </c:pt>
                <c:pt idx="244">
                  <c:v>-4.9951999000000002</c:v>
                </c:pt>
                <c:pt idx="245">
                  <c:v>-4.9952321</c:v>
                </c:pt>
                <c:pt idx="246">
                  <c:v>-4.9952626000000002</c:v>
                </c:pt>
                <c:pt idx="247">
                  <c:v>-4.9952914000000002</c:v>
                </c:pt>
                <c:pt idx="248">
                  <c:v>-4.9953187000000003</c:v>
                </c:pt>
                <c:pt idx="249">
                  <c:v>-4.9953446000000001</c:v>
                </c:pt>
                <c:pt idx="250">
                  <c:v>-4.9953690999999996</c:v>
                </c:pt>
                <c:pt idx="251">
                  <c:v>-4.9953924000000001</c:v>
                </c:pt>
                <c:pt idx="252">
                  <c:v>-4.9954143999999996</c:v>
                </c:pt>
                <c:pt idx="253">
                  <c:v>-4.9954353999999999</c:v>
                </c:pt>
                <c:pt idx="254">
                  <c:v>-4.9954554</c:v>
                </c:pt>
                <c:pt idx="255">
                  <c:v>-4.9954742999999997</c:v>
                </c:pt>
                <c:pt idx="256">
                  <c:v>-4.9954923000000004</c:v>
                </c:pt>
                <c:pt idx="257">
                  <c:v>-4.9955094999999998</c:v>
                </c:pt>
                <c:pt idx="258">
                  <c:v>-4.9955258000000002</c:v>
                </c:pt>
                <c:pt idx="259">
                  <c:v>-4.9955413000000002</c:v>
                </c:pt>
                <c:pt idx="260">
                  <c:v>-4.9955560999999999</c:v>
                </c:pt>
                <c:pt idx="261">
                  <c:v>-4.9955701000000001</c:v>
                </c:pt>
                <c:pt idx="262">
                  <c:v>-4.9955834000000001</c:v>
                </c:pt>
                <c:pt idx="263">
                  <c:v>-4.9955961000000002</c:v>
                </c:pt>
                <c:pt idx="264">
                  <c:v>-4.9956082000000004</c:v>
                </c:pt>
                <c:pt idx="265">
                  <c:v>-4.9956196000000004</c:v>
                </c:pt>
                <c:pt idx="266">
                  <c:v>-4.9956304999999999</c:v>
                </c:pt>
                <c:pt idx="267">
                  <c:v>-4.9956408000000003</c:v>
                </c:pt>
                <c:pt idx="268">
                  <c:v>-4.9956506000000003</c:v>
                </c:pt>
                <c:pt idx="269">
                  <c:v>-4.9956598000000003</c:v>
                </c:pt>
                <c:pt idx="270">
                  <c:v>-4.9956686000000001</c:v>
                </c:pt>
                <c:pt idx="271">
                  <c:v>-4.9956769000000003</c:v>
                </c:pt>
                <c:pt idx="272">
                  <c:v>-4.9956847</c:v>
                </c:pt>
                <c:pt idx="273">
                  <c:v>-4.9956921000000003</c:v>
                </c:pt>
                <c:pt idx="274">
                  <c:v>-4.9956991000000004</c:v>
                </c:pt>
                <c:pt idx="275">
                  <c:v>-4.9957056</c:v>
                </c:pt>
                <c:pt idx="276">
                  <c:v>-4.9957117999999996</c:v>
                </c:pt>
                <c:pt idx="277">
                  <c:v>-4.9957175999999999</c:v>
                </c:pt>
                <c:pt idx="278">
                  <c:v>-4.9957229999999999</c:v>
                </c:pt>
                <c:pt idx="279">
                  <c:v>-4.9957279999999997</c:v>
                </c:pt>
                <c:pt idx="280">
                  <c:v>-4.9957326999999996</c:v>
                </c:pt>
                <c:pt idx="281">
                  <c:v>-4.9957371000000004</c:v>
                </c:pt>
                <c:pt idx="282">
                  <c:v>-4.9957411</c:v>
                </c:pt>
                <c:pt idx="283">
                  <c:v>-4.9957449</c:v>
                </c:pt>
                <c:pt idx="284">
                  <c:v>-4.9957482999999998</c:v>
                </c:pt>
                <c:pt idx="285">
                  <c:v>-4.9957513999999996</c:v>
                </c:pt>
                <c:pt idx="286">
                  <c:v>-4.9957542999999998</c:v>
                </c:pt>
                <c:pt idx="287">
                  <c:v>-4.9957567999999997</c:v>
                </c:pt>
                <c:pt idx="288">
                  <c:v>-4.9957590999999999</c:v>
                </c:pt>
              </c:numCache>
            </c:numRef>
          </c:yVal>
          <c:smooth val="1"/>
          <c:extLst>
            <c:ext xmlns:c16="http://schemas.microsoft.com/office/drawing/2014/chart" uri="{C3380CC4-5D6E-409C-BE32-E72D297353CC}">
              <c16:uniqueId val="{00000000-A942-B048-9408-654DAB119AE9}"/>
            </c:ext>
          </c:extLst>
        </c:ser>
        <c:ser>
          <c:idx val="1"/>
          <c:order val="1"/>
          <c:tx>
            <c:v>270 W ceiling</c:v>
          </c:tx>
          <c:spPr>
            <a:ln w="26670">
              <a:solidFill>
                <a:srgbClr val="AD7A22"/>
              </a:solidFill>
            </a:ln>
          </c:spPr>
          <c:marker>
            <c:symbol val="none"/>
          </c:marker>
          <c:xVal>
            <c:numRef>
              <c:f>'Chart Data'!$C$2:$C$290</c:f>
              <c:numCache>
                <c:formatCode>General</c:formatCode>
                <c:ptCount val="289"/>
                <c:pt idx="0">
                  <c:v>0</c:v>
                </c:pt>
                <c:pt idx="1">
                  <c:v>1.3888888888900001E-2</c:v>
                </c:pt>
                <c:pt idx="2">
                  <c:v>2.7777777777800002E-2</c:v>
                </c:pt>
                <c:pt idx="3">
                  <c:v>4.1666666666699999E-2</c:v>
                </c:pt>
                <c:pt idx="4">
                  <c:v>5.5555555555600003E-2</c:v>
                </c:pt>
                <c:pt idx="5">
                  <c:v>6.9444444444399997E-2</c:v>
                </c:pt>
                <c:pt idx="6">
                  <c:v>8.3333333333299994E-2</c:v>
                </c:pt>
                <c:pt idx="7">
                  <c:v>9.7222222222200005E-2</c:v>
                </c:pt>
                <c:pt idx="8">
                  <c:v>0.111111111111</c:v>
                </c:pt>
                <c:pt idx="9">
                  <c:v>0.125</c:v>
                </c:pt>
                <c:pt idx="10">
                  <c:v>0.138888888889</c:v>
                </c:pt>
                <c:pt idx="11">
                  <c:v>0.152777777778</c:v>
                </c:pt>
                <c:pt idx="12">
                  <c:v>0.166666666667</c:v>
                </c:pt>
                <c:pt idx="13">
                  <c:v>0.180555555556</c:v>
                </c:pt>
                <c:pt idx="14">
                  <c:v>0.194444444444</c:v>
                </c:pt>
                <c:pt idx="15">
                  <c:v>0.208333333333</c:v>
                </c:pt>
                <c:pt idx="16">
                  <c:v>0.222222222222</c:v>
                </c:pt>
                <c:pt idx="17">
                  <c:v>0.236111111111</c:v>
                </c:pt>
                <c:pt idx="18">
                  <c:v>0.25</c:v>
                </c:pt>
                <c:pt idx="19">
                  <c:v>0.26388888888899997</c:v>
                </c:pt>
                <c:pt idx="20">
                  <c:v>0.277777777778</c:v>
                </c:pt>
                <c:pt idx="21">
                  <c:v>0.29166666666699997</c:v>
                </c:pt>
                <c:pt idx="22">
                  <c:v>0.305555555556</c:v>
                </c:pt>
                <c:pt idx="23">
                  <c:v>0.319444444444</c:v>
                </c:pt>
                <c:pt idx="24">
                  <c:v>0.33333333333300003</c:v>
                </c:pt>
                <c:pt idx="25">
                  <c:v>0.347222222222</c:v>
                </c:pt>
                <c:pt idx="26">
                  <c:v>0.36111111111100003</c:v>
                </c:pt>
                <c:pt idx="27">
                  <c:v>0.375</c:v>
                </c:pt>
                <c:pt idx="28">
                  <c:v>0.38888888888899997</c:v>
                </c:pt>
                <c:pt idx="29">
                  <c:v>0.402777777778</c:v>
                </c:pt>
                <c:pt idx="30">
                  <c:v>0.41666666666699997</c:v>
                </c:pt>
                <c:pt idx="31">
                  <c:v>0.430555555556</c:v>
                </c:pt>
                <c:pt idx="32">
                  <c:v>0.444444444444</c:v>
                </c:pt>
                <c:pt idx="33">
                  <c:v>0.45833333333300003</c:v>
                </c:pt>
                <c:pt idx="34">
                  <c:v>0.472222222222</c:v>
                </c:pt>
                <c:pt idx="35">
                  <c:v>0.48611111111100003</c:v>
                </c:pt>
                <c:pt idx="36">
                  <c:v>0.5</c:v>
                </c:pt>
                <c:pt idx="37">
                  <c:v>0.51388888888899997</c:v>
                </c:pt>
                <c:pt idx="38">
                  <c:v>0.52777777777799995</c:v>
                </c:pt>
                <c:pt idx="39">
                  <c:v>0.54166666666700003</c:v>
                </c:pt>
                <c:pt idx="40">
                  <c:v>0.555555555556</c:v>
                </c:pt>
                <c:pt idx="41">
                  <c:v>0.569444444444</c:v>
                </c:pt>
                <c:pt idx="42">
                  <c:v>0.58333333333299997</c:v>
                </c:pt>
                <c:pt idx="43">
                  <c:v>0.59722222222200005</c:v>
                </c:pt>
                <c:pt idx="44">
                  <c:v>0.61111111111100003</c:v>
                </c:pt>
                <c:pt idx="45">
                  <c:v>0.625</c:v>
                </c:pt>
                <c:pt idx="46">
                  <c:v>0.63888888888899997</c:v>
                </c:pt>
                <c:pt idx="47">
                  <c:v>0.65277777777799995</c:v>
                </c:pt>
                <c:pt idx="48">
                  <c:v>0.66666666666700003</c:v>
                </c:pt>
                <c:pt idx="49">
                  <c:v>0.680555555556</c:v>
                </c:pt>
                <c:pt idx="50">
                  <c:v>0.694444444444</c:v>
                </c:pt>
                <c:pt idx="51">
                  <c:v>0.70833333333299997</c:v>
                </c:pt>
                <c:pt idx="52">
                  <c:v>0.72222222222200005</c:v>
                </c:pt>
                <c:pt idx="53">
                  <c:v>0.73611111111100003</c:v>
                </c:pt>
                <c:pt idx="54">
                  <c:v>0.75</c:v>
                </c:pt>
                <c:pt idx="55">
                  <c:v>0.76388888888899997</c:v>
                </c:pt>
                <c:pt idx="56">
                  <c:v>0.77777777777799995</c:v>
                </c:pt>
                <c:pt idx="57">
                  <c:v>0.79166666666700003</c:v>
                </c:pt>
                <c:pt idx="58">
                  <c:v>0.805555555556</c:v>
                </c:pt>
                <c:pt idx="59">
                  <c:v>0.819444444444</c:v>
                </c:pt>
                <c:pt idx="60">
                  <c:v>0.83333333333299997</c:v>
                </c:pt>
                <c:pt idx="61">
                  <c:v>0.84722222222200005</c:v>
                </c:pt>
                <c:pt idx="62">
                  <c:v>0.86111111111100003</c:v>
                </c:pt>
                <c:pt idx="63">
                  <c:v>0.875</c:v>
                </c:pt>
                <c:pt idx="64">
                  <c:v>0.88888888888899997</c:v>
                </c:pt>
                <c:pt idx="65">
                  <c:v>0.90277777777799995</c:v>
                </c:pt>
                <c:pt idx="66">
                  <c:v>0.91666666666700003</c:v>
                </c:pt>
                <c:pt idx="67">
                  <c:v>0.930555555556</c:v>
                </c:pt>
                <c:pt idx="68">
                  <c:v>0.944444444444</c:v>
                </c:pt>
                <c:pt idx="69">
                  <c:v>0.95833333333299997</c:v>
                </c:pt>
                <c:pt idx="70">
                  <c:v>0.97222222222200005</c:v>
                </c:pt>
                <c:pt idx="71">
                  <c:v>0.98611111111100003</c:v>
                </c:pt>
                <c:pt idx="72">
                  <c:v>1</c:v>
                </c:pt>
                <c:pt idx="73">
                  <c:v>1.01388888889</c:v>
                </c:pt>
                <c:pt idx="74">
                  <c:v>1.0277777777799999</c:v>
                </c:pt>
                <c:pt idx="75">
                  <c:v>1.0416666666700001</c:v>
                </c:pt>
                <c:pt idx="76">
                  <c:v>1.05555555556</c:v>
                </c:pt>
                <c:pt idx="77">
                  <c:v>1.06944444444</c:v>
                </c:pt>
                <c:pt idx="78">
                  <c:v>1.0833333333299999</c:v>
                </c:pt>
                <c:pt idx="79">
                  <c:v>1.0972222222200001</c:v>
                </c:pt>
                <c:pt idx="80">
                  <c:v>1.11111111111</c:v>
                </c:pt>
                <c:pt idx="81">
                  <c:v>1.125</c:v>
                </c:pt>
                <c:pt idx="82">
                  <c:v>1.13888888889</c:v>
                </c:pt>
                <c:pt idx="83">
                  <c:v>1.1527777777799999</c:v>
                </c:pt>
                <c:pt idx="84">
                  <c:v>1.1666666666700001</c:v>
                </c:pt>
                <c:pt idx="85">
                  <c:v>1.18055555556</c:v>
                </c:pt>
                <c:pt idx="86">
                  <c:v>1.19444444444</c:v>
                </c:pt>
                <c:pt idx="87">
                  <c:v>1.2083333333299999</c:v>
                </c:pt>
                <c:pt idx="88">
                  <c:v>1.2222222222200001</c:v>
                </c:pt>
                <c:pt idx="89">
                  <c:v>1.23611111111</c:v>
                </c:pt>
                <c:pt idx="90">
                  <c:v>1.25</c:v>
                </c:pt>
                <c:pt idx="91">
                  <c:v>1.26388888889</c:v>
                </c:pt>
                <c:pt idx="92">
                  <c:v>1.2777777777799999</c:v>
                </c:pt>
                <c:pt idx="93">
                  <c:v>1.2916666666700001</c:v>
                </c:pt>
                <c:pt idx="94">
                  <c:v>1.30555555556</c:v>
                </c:pt>
                <c:pt idx="95">
                  <c:v>1.31944444444</c:v>
                </c:pt>
                <c:pt idx="96">
                  <c:v>1.3333333333299999</c:v>
                </c:pt>
                <c:pt idx="97">
                  <c:v>1.3472222222200001</c:v>
                </c:pt>
                <c:pt idx="98">
                  <c:v>1.36111111111</c:v>
                </c:pt>
                <c:pt idx="99">
                  <c:v>1.375</c:v>
                </c:pt>
                <c:pt idx="100">
                  <c:v>1.38888888889</c:v>
                </c:pt>
                <c:pt idx="101">
                  <c:v>1.4027777777799999</c:v>
                </c:pt>
                <c:pt idx="102">
                  <c:v>1.4166666666700001</c:v>
                </c:pt>
                <c:pt idx="103">
                  <c:v>1.43055555556</c:v>
                </c:pt>
                <c:pt idx="104">
                  <c:v>1.44444444444</c:v>
                </c:pt>
                <c:pt idx="105">
                  <c:v>1.4583333333299999</c:v>
                </c:pt>
                <c:pt idx="106">
                  <c:v>1.4722222222200001</c:v>
                </c:pt>
                <c:pt idx="107">
                  <c:v>1.48611111111</c:v>
                </c:pt>
                <c:pt idx="108">
                  <c:v>1.5</c:v>
                </c:pt>
                <c:pt idx="109">
                  <c:v>1.51388888889</c:v>
                </c:pt>
                <c:pt idx="110">
                  <c:v>1.5277777777799999</c:v>
                </c:pt>
                <c:pt idx="111">
                  <c:v>1.5416666666700001</c:v>
                </c:pt>
                <c:pt idx="112">
                  <c:v>1.55555555556</c:v>
                </c:pt>
                <c:pt idx="113">
                  <c:v>1.56944444444</c:v>
                </c:pt>
                <c:pt idx="114">
                  <c:v>1.5833333333299999</c:v>
                </c:pt>
                <c:pt idx="115">
                  <c:v>1.5972222222200001</c:v>
                </c:pt>
                <c:pt idx="116">
                  <c:v>1.61111111111</c:v>
                </c:pt>
                <c:pt idx="117">
                  <c:v>1.625</c:v>
                </c:pt>
                <c:pt idx="118">
                  <c:v>1.63888888889</c:v>
                </c:pt>
                <c:pt idx="119">
                  <c:v>1.6527777777799999</c:v>
                </c:pt>
                <c:pt idx="120">
                  <c:v>1.6666666666700001</c:v>
                </c:pt>
                <c:pt idx="121">
                  <c:v>1.68055555556</c:v>
                </c:pt>
                <c:pt idx="122">
                  <c:v>1.69444444444</c:v>
                </c:pt>
                <c:pt idx="123">
                  <c:v>1.7083333333299999</c:v>
                </c:pt>
                <c:pt idx="124">
                  <c:v>1.7222222222200001</c:v>
                </c:pt>
                <c:pt idx="125">
                  <c:v>1.73611111111</c:v>
                </c:pt>
                <c:pt idx="126">
                  <c:v>1.75</c:v>
                </c:pt>
                <c:pt idx="127">
                  <c:v>1.76388888889</c:v>
                </c:pt>
                <c:pt idx="128">
                  <c:v>1.7777777777799999</c:v>
                </c:pt>
                <c:pt idx="129">
                  <c:v>1.7916666666700001</c:v>
                </c:pt>
                <c:pt idx="130">
                  <c:v>1.80555555556</c:v>
                </c:pt>
                <c:pt idx="131">
                  <c:v>1.81944444444</c:v>
                </c:pt>
                <c:pt idx="132">
                  <c:v>1.8333333333299999</c:v>
                </c:pt>
                <c:pt idx="133">
                  <c:v>1.8472222222200001</c:v>
                </c:pt>
                <c:pt idx="134">
                  <c:v>1.86111111111</c:v>
                </c:pt>
                <c:pt idx="135">
                  <c:v>1.875</c:v>
                </c:pt>
                <c:pt idx="136">
                  <c:v>1.88888888889</c:v>
                </c:pt>
                <c:pt idx="137">
                  <c:v>1.9027777777799999</c:v>
                </c:pt>
                <c:pt idx="138">
                  <c:v>1.9166666666700001</c:v>
                </c:pt>
                <c:pt idx="139">
                  <c:v>1.93055555556</c:v>
                </c:pt>
                <c:pt idx="140">
                  <c:v>1.94444444444</c:v>
                </c:pt>
                <c:pt idx="141">
                  <c:v>1.9583333333299999</c:v>
                </c:pt>
                <c:pt idx="142">
                  <c:v>1.9722222222200001</c:v>
                </c:pt>
                <c:pt idx="143">
                  <c:v>1.98611111111</c:v>
                </c:pt>
                <c:pt idx="144">
                  <c:v>2</c:v>
                </c:pt>
                <c:pt idx="145">
                  <c:v>2.01388888889</c:v>
                </c:pt>
                <c:pt idx="146">
                  <c:v>2.0277777777799999</c:v>
                </c:pt>
                <c:pt idx="147">
                  <c:v>2.0416666666699999</c:v>
                </c:pt>
                <c:pt idx="148">
                  <c:v>2.0555555555599998</c:v>
                </c:pt>
                <c:pt idx="149">
                  <c:v>2.0694444444400002</c:v>
                </c:pt>
                <c:pt idx="150">
                  <c:v>2.0833333333300001</c:v>
                </c:pt>
                <c:pt idx="151">
                  <c:v>2.0972222222200001</c:v>
                </c:pt>
                <c:pt idx="152">
                  <c:v>2.11111111111</c:v>
                </c:pt>
                <c:pt idx="153">
                  <c:v>2.125</c:v>
                </c:pt>
                <c:pt idx="154">
                  <c:v>2.13888888889</c:v>
                </c:pt>
                <c:pt idx="155">
                  <c:v>2.1527777777799999</c:v>
                </c:pt>
                <c:pt idx="156">
                  <c:v>2.1666666666699999</c:v>
                </c:pt>
                <c:pt idx="157">
                  <c:v>2.1805555555599998</c:v>
                </c:pt>
                <c:pt idx="158">
                  <c:v>2.1944444444400002</c:v>
                </c:pt>
                <c:pt idx="159">
                  <c:v>2.2083333333300001</c:v>
                </c:pt>
                <c:pt idx="160">
                  <c:v>2.2222222222200001</c:v>
                </c:pt>
                <c:pt idx="161">
                  <c:v>2.23611111111</c:v>
                </c:pt>
                <c:pt idx="162">
                  <c:v>2.25</c:v>
                </c:pt>
                <c:pt idx="163">
                  <c:v>2.26388888889</c:v>
                </c:pt>
                <c:pt idx="164">
                  <c:v>2.2777777777799999</c:v>
                </c:pt>
                <c:pt idx="165">
                  <c:v>2.2916666666699999</c:v>
                </c:pt>
                <c:pt idx="166">
                  <c:v>2.3055555555599998</c:v>
                </c:pt>
                <c:pt idx="167">
                  <c:v>2.3194444444400002</c:v>
                </c:pt>
                <c:pt idx="168">
                  <c:v>2.3333333333300001</c:v>
                </c:pt>
                <c:pt idx="169">
                  <c:v>2.3472222222200001</c:v>
                </c:pt>
                <c:pt idx="170">
                  <c:v>2.36111111111</c:v>
                </c:pt>
                <c:pt idx="171">
                  <c:v>2.375</c:v>
                </c:pt>
                <c:pt idx="172">
                  <c:v>2.38888888889</c:v>
                </c:pt>
                <c:pt idx="173">
                  <c:v>2.4027777777799999</c:v>
                </c:pt>
                <c:pt idx="174">
                  <c:v>2.4166666666699999</c:v>
                </c:pt>
                <c:pt idx="175">
                  <c:v>2.4305555555599998</c:v>
                </c:pt>
                <c:pt idx="176">
                  <c:v>2.4444444444400002</c:v>
                </c:pt>
                <c:pt idx="177">
                  <c:v>2.4583333333300001</c:v>
                </c:pt>
                <c:pt idx="178">
                  <c:v>2.4722222222200001</c:v>
                </c:pt>
                <c:pt idx="179">
                  <c:v>2.48611111111</c:v>
                </c:pt>
                <c:pt idx="180">
                  <c:v>2.5</c:v>
                </c:pt>
                <c:pt idx="181">
                  <c:v>2.51388888889</c:v>
                </c:pt>
                <c:pt idx="182">
                  <c:v>2.5277777777799999</c:v>
                </c:pt>
                <c:pt idx="183">
                  <c:v>2.5416666666699999</c:v>
                </c:pt>
                <c:pt idx="184">
                  <c:v>2.5555555555599998</c:v>
                </c:pt>
                <c:pt idx="185">
                  <c:v>2.5694444444400002</c:v>
                </c:pt>
                <c:pt idx="186">
                  <c:v>2.5833333333300001</c:v>
                </c:pt>
                <c:pt idx="187">
                  <c:v>2.5972222222200001</c:v>
                </c:pt>
                <c:pt idx="188">
                  <c:v>2.61111111111</c:v>
                </c:pt>
                <c:pt idx="189">
                  <c:v>2.625</c:v>
                </c:pt>
                <c:pt idx="190">
                  <c:v>2.63888888889</c:v>
                </c:pt>
                <c:pt idx="191">
                  <c:v>2.6527777777799999</c:v>
                </c:pt>
                <c:pt idx="192">
                  <c:v>2.6666666666699999</c:v>
                </c:pt>
                <c:pt idx="193">
                  <c:v>2.6805555555599998</c:v>
                </c:pt>
                <c:pt idx="194">
                  <c:v>2.6944444444400002</c:v>
                </c:pt>
                <c:pt idx="195">
                  <c:v>2.7083333333300001</c:v>
                </c:pt>
                <c:pt idx="196">
                  <c:v>2.7222222222200001</c:v>
                </c:pt>
                <c:pt idx="197">
                  <c:v>2.73611111111</c:v>
                </c:pt>
                <c:pt idx="198">
                  <c:v>2.75</c:v>
                </c:pt>
                <c:pt idx="199">
                  <c:v>2.76388888889</c:v>
                </c:pt>
                <c:pt idx="200">
                  <c:v>2.7777777777799999</c:v>
                </c:pt>
                <c:pt idx="201">
                  <c:v>2.7916666666699999</c:v>
                </c:pt>
                <c:pt idx="202">
                  <c:v>2.8055555555599998</c:v>
                </c:pt>
                <c:pt idx="203">
                  <c:v>2.8194444444400002</c:v>
                </c:pt>
                <c:pt idx="204">
                  <c:v>2.8333333333300001</c:v>
                </c:pt>
                <c:pt idx="205">
                  <c:v>2.8472222222200001</c:v>
                </c:pt>
                <c:pt idx="206">
                  <c:v>2.86111111111</c:v>
                </c:pt>
                <c:pt idx="207">
                  <c:v>2.875</c:v>
                </c:pt>
                <c:pt idx="208">
                  <c:v>2.88888888889</c:v>
                </c:pt>
                <c:pt idx="209">
                  <c:v>2.9027777777799999</c:v>
                </c:pt>
                <c:pt idx="210">
                  <c:v>2.9166666666699999</c:v>
                </c:pt>
                <c:pt idx="211">
                  <c:v>2.9305555555599998</c:v>
                </c:pt>
                <c:pt idx="212">
                  <c:v>2.9444444444400002</c:v>
                </c:pt>
                <c:pt idx="213">
                  <c:v>2.9583333333300001</c:v>
                </c:pt>
                <c:pt idx="214">
                  <c:v>2.9722222222200001</c:v>
                </c:pt>
                <c:pt idx="215">
                  <c:v>2.98611111111</c:v>
                </c:pt>
                <c:pt idx="216">
                  <c:v>3</c:v>
                </c:pt>
                <c:pt idx="217">
                  <c:v>3.01388888889</c:v>
                </c:pt>
                <c:pt idx="218">
                  <c:v>3.0277777777799999</c:v>
                </c:pt>
                <c:pt idx="219">
                  <c:v>3.0416666666699999</c:v>
                </c:pt>
                <c:pt idx="220">
                  <c:v>3.0555555555599998</c:v>
                </c:pt>
                <c:pt idx="221">
                  <c:v>3.0694444444400002</c:v>
                </c:pt>
                <c:pt idx="222">
                  <c:v>3.0833333333300001</c:v>
                </c:pt>
                <c:pt idx="223">
                  <c:v>3.0972222222200001</c:v>
                </c:pt>
                <c:pt idx="224">
                  <c:v>3.11111111111</c:v>
                </c:pt>
                <c:pt idx="225">
                  <c:v>3.125</c:v>
                </c:pt>
                <c:pt idx="226">
                  <c:v>3.13888888889</c:v>
                </c:pt>
                <c:pt idx="227">
                  <c:v>3.1527777777799999</c:v>
                </c:pt>
                <c:pt idx="228">
                  <c:v>3.1666666666699999</c:v>
                </c:pt>
                <c:pt idx="229">
                  <c:v>3.1805555555599998</c:v>
                </c:pt>
                <c:pt idx="230">
                  <c:v>3.1944444444400002</c:v>
                </c:pt>
                <c:pt idx="231">
                  <c:v>3.2083333333300001</c:v>
                </c:pt>
                <c:pt idx="232">
                  <c:v>3.2222222222200001</c:v>
                </c:pt>
                <c:pt idx="233">
                  <c:v>3.23611111111</c:v>
                </c:pt>
                <c:pt idx="234">
                  <c:v>3.25</c:v>
                </c:pt>
                <c:pt idx="235">
                  <c:v>3.26388888889</c:v>
                </c:pt>
                <c:pt idx="236">
                  <c:v>3.2777777777799999</c:v>
                </c:pt>
                <c:pt idx="237">
                  <c:v>3.2916666666699999</c:v>
                </c:pt>
                <c:pt idx="238">
                  <c:v>3.3055555555599998</c:v>
                </c:pt>
                <c:pt idx="239">
                  <c:v>3.3194444444400002</c:v>
                </c:pt>
                <c:pt idx="240">
                  <c:v>3.3333333333300001</c:v>
                </c:pt>
                <c:pt idx="241">
                  <c:v>3.3472222222200001</c:v>
                </c:pt>
                <c:pt idx="242">
                  <c:v>3.36111111111</c:v>
                </c:pt>
                <c:pt idx="243">
                  <c:v>3.375</c:v>
                </c:pt>
                <c:pt idx="244">
                  <c:v>3.38888888889</c:v>
                </c:pt>
                <c:pt idx="245">
                  <c:v>3.4027777777799999</c:v>
                </c:pt>
                <c:pt idx="246">
                  <c:v>3.4166666666699999</c:v>
                </c:pt>
                <c:pt idx="247">
                  <c:v>3.4305555555599998</c:v>
                </c:pt>
                <c:pt idx="248">
                  <c:v>3.4444444444400002</c:v>
                </c:pt>
                <c:pt idx="249">
                  <c:v>3.4583333333300001</c:v>
                </c:pt>
                <c:pt idx="250">
                  <c:v>3.4722222222200001</c:v>
                </c:pt>
                <c:pt idx="251">
                  <c:v>3.48611111111</c:v>
                </c:pt>
                <c:pt idx="252">
                  <c:v>3.5</c:v>
                </c:pt>
                <c:pt idx="253">
                  <c:v>3.51388888889</c:v>
                </c:pt>
                <c:pt idx="254">
                  <c:v>3.5277777777799999</c:v>
                </c:pt>
                <c:pt idx="255">
                  <c:v>3.5416666666699999</c:v>
                </c:pt>
                <c:pt idx="256">
                  <c:v>3.5555555555599998</c:v>
                </c:pt>
                <c:pt idx="257">
                  <c:v>3.5694444444400002</c:v>
                </c:pt>
                <c:pt idx="258">
                  <c:v>3.5833333333300001</c:v>
                </c:pt>
                <c:pt idx="259">
                  <c:v>3.5972222222200001</c:v>
                </c:pt>
                <c:pt idx="260">
                  <c:v>3.61111111111</c:v>
                </c:pt>
                <c:pt idx="261">
                  <c:v>3.625</c:v>
                </c:pt>
                <c:pt idx="262">
                  <c:v>3.63888888889</c:v>
                </c:pt>
                <c:pt idx="263">
                  <c:v>3.6527777777799999</c:v>
                </c:pt>
                <c:pt idx="264">
                  <c:v>3.6666666666699999</c:v>
                </c:pt>
                <c:pt idx="265">
                  <c:v>3.6805555555599998</c:v>
                </c:pt>
                <c:pt idx="266">
                  <c:v>3.6944444444400002</c:v>
                </c:pt>
                <c:pt idx="267">
                  <c:v>3.7083333333300001</c:v>
                </c:pt>
                <c:pt idx="268">
                  <c:v>3.7222222222200001</c:v>
                </c:pt>
                <c:pt idx="269">
                  <c:v>3.73611111111</c:v>
                </c:pt>
                <c:pt idx="270">
                  <c:v>3.75</c:v>
                </c:pt>
                <c:pt idx="271">
                  <c:v>3.76388888889</c:v>
                </c:pt>
                <c:pt idx="272">
                  <c:v>3.7777777777799999</c:v>
                </c:pt>
                <c:pt idx="273">
                  <c:v>3.7916666666699999</c:v>
                </c:pt>
                <c:pt idx="274">
                  <c:v>3.8055555555599998</c:v>
                </c:pt>
                <c:pt idx="275">
                  <c:v>3.8194444444400002</c:v>
                </c:pt>
                <c:pt idx="276">
                  <c:v>3.8333333333300001</c:v>
                </c:pt>
                <c:pt idx="277">
                  <c:v>3.8472222222200001</c:v>
                </c:pt>
                <c:pt idx="278">
                  <c:v>3.86111111111</c:v>
                </c:pt>
                <c:pt idx="279">
                  <c:v>3.875</c:v>
                </c:pt>
                <c:pt idx="280">
                  <c:v>3.88888888889</c:v>
                </c:pt>
                <c:pt idx="281">
                  <c:v>3.9027777777799999</c:v>
                </c:pt>
                <c:pt idx="282">
                  <c:v>3.9166666666699999</c:v>
                </c:pt>
                <c:pt idx="283">
                  <c:v>3.9305555555599998</c:v>
                </c:pt>
                <c:pt idx="284">
                  <c:v>3.9444444444400002</c:v>
                </c:pt>
                <c:pt idx="285">
                  <c:v>3.9583333333300001</c:v>
                </c:pt>
                <c:pt idx="286">
                  <c:v>3.9722222222200001</c:v>
                </c:pt>
                <c:pt idx="287">
                  <c:v>3.98611111111</c:v>
                </c:pt>
                <c:pt idx="288">
                  <c:v>4</c:v>
                </c:pt>
              </c:numCache>
            </c:numRef>
          </c:xVal>
          <c:yVal>
            <c:numRef>
              <c:f>'Chart Data'!$D$2:$D$290</c:f>
              <c:numCache>
                <c:formatCode>General</c:formatCode>
                <c:ptCount val="289"/>
                <c:pt idx="0">
                  <c:v>-40</c:v>
                </c:pt>
                <c:pt idx="1">
                  <c:v>-39.736027300000003</c:v>
                </c:pt>
                <c:pt idx="2">
                  <c:v>-39.427462200000001</c:v>
                </c:pt>
                <c:pt idx="3">
                  <c:v>-39.125673900000002</c:v>
                </c:pt>
                <c:pt idx="4">
                  <c:v>-38.829225100000002</c:v>
                </c:pt>
                <c:pt idx="5">
                  <c:v>-38.537300199999997</c:v>
                </c:pt>
                <c:pt idx="6">
                  <c:v>-38.249388199999999</c:v>
                </c:pt>
                <c:pt idx="7">
                  <c:v>-37.965139499999999</c:v>
                </c:pt>
                <c:pt idx="8">
                  <c:v>-37.684295300000002</c:v>
                </c:pt>
                <c:pt idx="9">
                  <c:v>-37.406651599999996</c:v>
                </c:pt>
                <c:pt idx="10">
                  <c:v>-37.132040199999999</c:v>
                </c:pt>
                <c:pt idx="11">
                  <c:v>-36.860317199999997</c:v>
                </c:pt>
                <c:pt idx="12">
                  <c:v>-36.591357100000003</c:v>
                </c:pt>
                <c:pt idx="13">
                  <c:v>-36.325048500000001</c:v>
                </c:pt>
                <c:pt idx="14">
                  <c:v>-36.061291500000003</c:v>
                </c:pt>
                <c:pt idx="15">
                  <c:v>-35.799996200000002</c:v>
                </c:pt>
                <c:pt idx="16">
                  <c:v>-35.541080600000001</c:v>
                </c:pt>
                <c:pt idx="17">
                  <c:v>-35.284470300000002</c:v>
                </c:pt>
                <c:pt idx="18">
                  <c:v>-35.030097099999999</c:v>
                </c:pt>
                <c:pt idx="19">
                  <c:v>-34.777898100000002</c:v>
                </c:pt>
                <c:pt idx="20">
                  <c:v>-34.527815799999999</c:v>
                </c:pt>
                <c:pt idx="21">
                  <c:v>-34.279796599999997</c:v>
                </c:pt>
                <c:pt idx="22">
                  <c:v>-34.033791000000001</c:v>
                </c:pt>
                <c:pt idx="23">
                  <c:v>-33.789752900000003</c:v>
                </c:pt>
                <c:pt idx="24">
                  <c:v>-33.547639199999999</c:v>
                </c:pt>
                <c:pt idx="25">
                  <c:v>-33.3074096</c:v>
                </c:pt>
                <c:pt idx="26">
                  <c:v>-33.069026200000003</c:v>
                </c:pt>
                <c:pt idx="27">
                  <c:v>-32.8324535</c:v>
                </c:pt>
                <c:pt idx="28">
                  <c:v>-32.597657599999998</c:v>
                </c:pt>
                <c:pt idx="29">
                  <c:v>-32.364606799999997</c:v>
                </c:pt>
                <c:pt idx="30">
                  <c:v>-32.133270799999998</c:v>
                </c:pt>
                <c:pt idx="31">
                  <c:v>-31.9036206</c:v>
                </c:pt>
                <c:pt idx="32">
                  <c:v>-31.6756289</c:v>
                </c:pt>
                <c:pt idx="33">
                  <c:v>-31.4492692</c:v>
                </c:pt>
                <c:pt idx="34">
                  <c:v>-31.224516399999999</c:v>
                </c:pt>
                <c:pt idx="35">
                  <c:v>-31.0013462</c:v>
                </c:pt>
                <c:pt idx="36">
                  <c:v>-30.779735500000001</c:v>
                </c:pt>
                <c:pt idx="37">
                  <c:v>-30.559661599999998</c:v>
                </c:pt>
                <c:pt idx="38">
                  <c:v>-30.341103</c:v>
                </c:pt>
                <c:pt idx="39">
                  <c:v>-30.1240387</c:v>
                </c:pt>
                <c:pt idx="40">
                  <c:v>-29.9084483</c:v>
                </c:pt>
                <c:pt idx="41">
                  <c:v>-29.694312400000001</c:v>
                </c:pt>
                <c:pt idx="42">
                  <c:v>-29.481611699999998</c:v>
                </c:pt>
                <c:pt idx="43">
                  <c:v>-29.270327699999999</c:v>
                </c:pt>
                <c:pt idx="44">
                  <c:v>-29.060442399999999</c:v>
                </c:pt>
                <c:pt idx="45">
                  <c:v>-28.851938199999999</c:v>
                </c:pt>
                <c:pt idx="46">
                  <c:v>-28.644798000000002</c:v>
                </c:pt>
                <c:pt idx="47">
                  <c:v>-28.4390052</c:v>
                </c:pt>
                <c:pt idx="48">
                  <c:v>-28.2345434</c:v>
                </c:pt>
                <c:pt idx="49">
                  <c:v>-28.0313968</c:v>
                </c:pt>
                <c:pt idx="50">
                  <c:v>-27.829549799999999</c:v>
                </c:pt>
                <c:pt idx="51">
                  <c:v>-27.628987200000001</c:v>
                </c:pt>
                <c:pt idx="52">
                  <c:v>-27.4296942</c:v>
                </c:pt>
                <c:pt idx="53">
                  <c:v>-27.2316562</c:v>
                </c:pt>
                <c:pt idx="54">
                  <c:v>-27.0348589</c:v>
                </c:pt>
                <c:pt idx="55">
                  <c:v>-26.8392886</c:v>
                </c:pt>
                <c:pt idx="56">
                  <c:v>-26.644931400000001</c:v>
                </c:pt>
                <c:pt idx="57">
                  <c:v>-26.451773899999999</c:v>
                </c:pt>
                <c:pt idx="58">
                  <c:v>-26.259803099999999</c:v>
                </c:pt>
                <c:pt idx="59">
                  <c:v>-26.069006000000002</c:v>
                </c:pt>
                <c:pt idx="60">
                  <c:v>-25.879370099999999</c:v>
                </c:pt>
                <c:pt idx="61">
                  <c:v>-25.6908827</c:v>
                </c:pt>
                <c:pt idx="62">
                  <c:v>-25.503531899999999</c:v>
                </c:pt>
                <c:pt idx="63">
                  <c:v>-25.317305600000001</c:v>
                </c:pt>
                <c:pt idx="64">
                  <c:v>-25.132192100000001</c:v>
                </c:pt>
                <c:pt idx="65">
                  <c:v>-24.948179700000001</c:v>
                </c:pt>
                <c:pt idx="66">
                  <c:v>-24.765257200000001</c:v>
                </c:pt>
                <c:pt idx="67">
                  <c:v>-24.583413400000001</c:v>
                </c:pt>
                <c:pt idx="68">
                  <c:v>-24.402637299999999</c:v>
                </c:pt>
                <c:pt idx="69">
                  <c:v>-24.222918199999999</c:v>
                </c:pt>
                <c:pt idx="70">
                  <c:v>-24.044245400000001</c:v>
                </c:pt>
                <c:pt idx="71">
                  <c:v>-23.866608400000001</c:v>
                </c:pt>
                <c:pt idx="72">
                  <c:v>-23.689997099999999</c:v>
                </c:pt>
                <c:pt idx="73">
                  <c:v>-23.514401299999999</c:v>
                </c:pt>
                <c:pt idx="74">
                  <c:v>-23.339811099999999</c:v>
                </c:pt>
                <c:pt idx="75">
                  <c:v>-23.1662167</c:v>
                </c:pt>
                <c:pt idx="76">
                  <c:v>-22.993608399999999</c:v>
                </c:pt>
                <c:pt idx="77">
                  <c:v>-22.821976800000002</c:v>
                </c:pt>
                <c:pt idx="78">
                  <c:v>-22.651312600000001</c:v>
                </c:pt>
                <c:pt idx="79">
                  <c:v>-22.4816064</c:v>
                </c:pt>
                <c:pt idx="80">
                  <c:v>-22.3128493</c:v>
                </c:pt>
                <c:pt idx="81">
                  <c:v>-22.1450323</c:v>
                </c:pt>
                <c:pt idx="82">
                  <c:v>-21.978146599999999</c:v>
                </c:pt>
                <c:pt idx="83">
                  <c:v>-21.812183600000001</c:v>
                </c:pt>
                <c:pt idx="84">
                  <c:v>-21.647134699999999</c:v>
                </c:pt>
                <c:pt idx="85">
                  <c:v>-21.482991500000001</c:v>
                </c:pt>
                <c:pt idx="86">
                  <c:v>-21.319745600000001</c:v>
                </c:pt>
                <c:pt idx="87">
                  <c:v>-21.157388900000001</c:v>
                </c:pt>
                <c:pt idx="88">
                  <c:v>-20.995913300000002</c:v>
                </c:pt>
                <c:pt idx="89">
                  <c:v>-20.8353109</c:v>
                </c:pt>
                <c:pt idx="90">
                  <c:v>-20.675573700000001</c:v>
                </c:pt>
                <c:pt idx="91">
                  <c:v>-20.516694000000001</c:v>
                </c:pt>
                <c:pt idx="92">
                  <c:v>-20.3586642</c:v>
                </c:pt>
                <c:pt idx="93">
                  <c:v>-20.201476799999998</c:v>
                </c:pt>
                <c:pt idx="94">
                  <c:v>-20.0451242</c:v>
                </c:pt>
                <c:pt idx="95">
                  <c:v>-19.889599100000002</c:v>
                </c:pt>
                <c:pt idx="96">
                  <c:v>-19.734894300000001</c:v>
                </c:pt>
                <c:pt idx="97">
                  <c:v>-19.5810025</c:v>
                </c:pt>
                <c:pt idx="98">
                  <c:v>-19.427916799999998</c:v>
                </c:pt>
                <c:pt idx="99">
                  <c:v>-19.275630199999998</c:v>
                </c:pt>
                <c:pt idx="100">
                  <c:v>-19.1241357</c:v>
                </c:pt>
                <c:pt idx="101">
                  <c:v>-18.973426499999999</c:v>
                </c:pt>
                <c:pt idx="102">
                  <c:v>-18.823495900000001</c:v>
                </c:pt>
                <c:pt idx="103">
                  <c:v>-18.6743372</c:v>
                </c:pt>
                <c:pt idx="104">
                  <c:v>-18.525943900000001</c:v>
                </c:pt>
                <c:pt idx="105">
                  <c:v>-18.378309399999999</c:v>
                </c:pt>
                <c:pt idx="106">
                  <c:v>-18.231427499999999</c:v>
                </c:pt>
                <c:pt idx="107">
                  <c:v>-18.085291600000001</c:v>
                </c:pt>
                <c:pt idx="108">
                  <c:v>-17.9398956</c:v>
                </c:pt>
                <c:pt idx="109">
                  <c:v>-17.795233199999998</c:v>
                </c:pt>
                <c:pt idx="110">
                  <c:v>-17.651298300000001</c:v>
                </c:pt>
                <c:pt idx="111">
                  <c:v>-17.5080849</c:v>
                </c:pt>
                <c:pt idx="112">
                  <c:v>-17.3655869</c:v>
                </c:pt>
                <c:pt idx="113">
                  <c:v>-17.223798500000001</c:v>
                </c:pt>
                <c:pt idx="114">
                  <c:v>-17.082713699999999</c:v>
                </c:pt>
                <c:pt idx="115">
                  <c:v>-16.942326900000001</c:v>
                </c:pt>
                <c:pt idx="116">
                  <c:v>-16.8026321</c:v>
                </c:pt>
                <c:pt idx="117">
                  <c:v>-16.6636238</c:v>
                </c:pt>
                <c:pt idx="118">
                  <c:v>-16.525296399999998</c:v>
                </c:pt>
                <c:pt idx="119">
                  <c:v>-16.387644300000002</c:v>
                </c:pt>
                <c:pt idx="120">
                  <c:v>-16.250661900000001</c:v>
                </c:pt>
                <c:pt idx="121">
                  <c:v>-16.114343900000001</c:v>
                </c:pt>
                <c:pt idx="122">
                  <c:v>-15.9786848</c:v>
                </c:pt>
                <c:pt idx="123">
                  <c:v>-15.843679399999999</c:v>
                </c:pt>
                <c:pt idx="124">
                  <c:v>-15.7093223</c:v>
                </c:pt>
                <c:pt idx="125">
                  <c:v>-15.5756082</c:v>
                </c:pt>
                <c:pt idx="126">
                  <c:v>-15.4425322</c:v>
                </c:pt>
                <c:pt idx="127">
                  <c:v>-15.3100889</c:v>
                </c:pt>
                <c:pt idx="128">
                  <c:v>-15.178273300000001</c:v>
                </c:pt>
                <c:pt idx="129">
                  <c:v>-15.0470805</c:v>
                </c:pt>
                <c:pt idx="130">
                  <c:v>-14.916505300000001</c:v>
                </c:pt>
                <c:pt idx="131">
                  <c:v>-14.786542900000001</c:v>
                </c:pt>
                <c:pt idx="132">
                  <c:v>-14.657188400000001</c:v>
                </c:pt>
                <c:pt idx="133">
                  <c:v>-14.528437</c:v>
                </c:pt>
                <c:pt idx="134">
                  <c:v>-14.4002838</c:v>
                </c:pt>
                <c:pt idx="135">
                  <c:v>-14.272724</c:v>
                </c:pt>
                <c:pt idx="136">
                  <c:v>-14.145752999999999</c:v>
                </c:pt>
                <c:pt idx="137">
                  <c:v>-14.0193662</c:v>
                </c:pt>
                <c:pt idx="138">
                  <c:v>-13.893558799999999</c:v>
                </c:pt>
                <c:pt idx="139">
                  <c:v>-13.768326200000001</c:v>
                </c:pt>
                <c:pt idx="140">
                  <c:v>-13.643663999999999</c:v>
                </c:pt>
                <c:pt idx="141">
                  <c:v>-13.5195676</c:v>
                </c:pt>
                <c:pt idx="142">
                  <c:v>-13.3960326</c:v>
                </c:pt>
                <c:pt idx="143">
                  <c:v>-13.273054399999999</c:v>
                </c:pt>
                <c:pt idx="144">
                  <c:v>-13.1506288</c:v>
                </c:pt>
                <c:pt idx="145">
                  <c:v>-13.0287513</c:v>
                </c:pt>
                <c:pt idx="146">
                  <c:v>-12.9074177</c:v>
                </c:pt>
                <c:pt idx="147">
                  <c:v>-12.7866236</c:v>
                </c:pt>
                <c:pt idx="148">
                  <c:v>-12.6663648</c:v>
                </c:pt>
                <c:pt idx="149">
                  <c:v>-12.5466371</c:v>
                </c:pt>
                <c:pt idx="150">
                  <c:v>-12.4274363</c:v>
                </c:pt>
                <c:pt idx="151">
                  <c:v>-12.3087582</c:v>
                </c:pt>
                <c:pt idx="152">
                  <c:v>-12.190598700000001</c:v>
                </c:pt>
                <c:pt idx="153">
                  <c:v>-12.072953800000001</c:v>
                </c:pt>
                <c:pt idx="154">
                  <c:v>-11.955819399999999</c:v>
                </c:pt>
                <c:pt idx="155">
                  <c:v>-11.8391915</c:v>
                </c:pt>
                <c:pt idx="156">
                  <c:v>-11.723065999999999</c:v>
                </c:pt>
                <c:pt idx="157">
                  <c:v>-11.607439100000001</c:v>
                </c:pt>
                <c:pt idx="158">
                  <c:v>-11.4923068</c:v>
                </c:pt>
                <c:pt idx="159">
                  <c:v>-11.377665199999999</c:v>
                </c:pt>
                <c:pt idx="160">
                  <c:v>-11.263510399999999</c:v>
                </c:pt>
                <c:pt idx="161">
                  <c:v>-11.1498387</c:v>
                </c:pt>
                <c:pt idx="162">
                  <c:v>-11.0366461</c:v>
                </c:pt>
                <c:pt idx="163">
                  <c:v>-10.923928999999999</c:v>
                </c:pt>
                <c:pt idx="164">
                  <c:v>-10.811683499999999</c:v>
                </c:pt>
                <c:pt idx="165">
                  <c:v>-10.699905899999999</c:v>
                </c:pt>
                <c:pt idx="166">
                  <c:v>-10.5885926</c:v>
                </c:pt>
                <c:pt idx="167">
                  <c:v>-10.4777398</c:v>
                </c:pt>
                <c:pt idx="168">
                  <c:v>-10.367343999999999</c:v>
                </c:pt>
                <c:pt idx="169">
                  <c:v>-10.2574015</c:v>
                </c:pt>
                <c:pt idx="170">
                  <c:v>-10.1479087</c:v>
                </c:pt>
                <c:pt idx="171">
                  <c:v>-10.038862</c:v>
                </c:pt>
                <c:pt idx="172">
                  <c:v>-9.9302580000000003</c:v>
                </c:pt>
                <c:pt idx="173">
                  <c:v>-9.8220930000000006</c:v>
                </c:pt>
                <c:pt idx="174">
                  <c:v>-9.7143636999999998</c:v>
                </c:pt>
                <c:pt idx="175">
                  <c:v>-9.6070665000000002</c:v>
                </c:pt>
                <c:pt idx="176">
                  <c:v>-9.5001979999999993</c:v>
                </c:pt>
                <c:pt idx="177">
                  <c:v>-9.3937547000000006</c:v>
                </c:pt>
                <c:pt idx="178">
                  <c:v>-9.2877334000000005</c:v>
                </c:pt>
                <c:pt idx="179">
                  <c:v>-9.1821306000000007</c:v>
                </c:pt>
                <c:pt idx="180">
                  <c:v>-9.0769429000000006</c:v>
                </c:pt>
                <c:pt idx="181">
                  <c:v>-8.9721671000000001</c:v>
                </c:pt>
                <c:pt idx="182">
                  <c:v>-8.8677998000000002</c:v>
                </c:pt>
                <c:pt idx="183">
                  <c:v>-8.7638377999999992</c:v>
                </c:pt>
                <c:pt idx="184">
                  <c:v>-8.6602777999999994</c:v>
                </c:pt>
                <c:pt idx="185">
                  <c:v>-8.5571166000000005</c:v>
                </c:pt>
                <c:pt idx="186">
                  <c:v>-8.4543508999999997</c:v>
                </c:pt>
                <c:pt idx="187">
                  <c:v>-8.3519775999999997</c:v>
                </c:pt>
                <c:pt idx="188">
                  <c:v>-8.2499935000000004</c:v>
                </c:pt>
                <c:pt idx="189">
                  <c:v>-8.1483954999999995</c:v>
                </c:pt>
                <c:pt idx="190">
                  <c:v>-8.0471804000000002</c:v>
                </c:pt>
                <c:pt idx="191">
                  <c:v>-7.9463451000000003</c:v>
                </c:pt>
                <c:pt idx="192">
                  <c:v>-7.8458866</c:v>
                </c:pt>
                <c:pt idx="193">
                  <c:v>-7.7458017000000003</c:v>
                </c:pt>
                <c:pt idx="194">
                  <c:v>-7.6460873999999999</c:v>
                </c:pt>
                <c:pt idx="195">
                  <c:v>-7.5467407</c:v>
                </c:pt>
                <c:pt idx="196">
                  <c:v>-7.4477586999999996</c:v>
                </c:pt>
                <c:pt idx="197">
                  <c:v>-7.3491381999999996</c:v>
                </c:pt>
                <c:pt idx="198">
                  <c:v>-7.2508764000000001</c:v>
                </c:pt>
                <c:pt idx="199">
                  <c:v>-7.1529702000000004</c:v>
                </c:pt>
                <c:pt idx="200">
                  <c:v>-7.0554169</c:v>
                </c:pt>
                <c:pt idx="201">
                  <c:v>-6.9582134</c:v>
                </c:pt>
                <c:pt idx="202">
                  <c:v>-6.8613568000000003</c:v>
                </c:pt>
                <c:pt idx="203">
                  <c:v>-6.7648444000000003</c:v>
                </c:pt>
                <c:pt idx="204">
                  <c:v>-6.6686731999999997</c:v>
                </c:pt>
                <c:pt idx="205">
                  <c:v>-6.5728404999999999</c:v>
                </c:pt>
                <c:pt idx="206">
                  <c:v>-6.4773433000000002</c:v>
                </c:pt>
                <c:pt idx="207">
                  <c:v>-6.3821789000000004</c:v>
                </c:pt>
                <c:pt idx="208">
                  <c:v>-6.2873446</c:v>
                </c:pt>
                <c:pt idx="209">
                  <c:v>-6.1928375000000004</c:v>
                </c:pt>
                <c:pt idx="210">
                  <c:v>-6.0986549999999999</c:v>
                </c:pt>
                <c:pt idx="211">
                  <c:v>-6.0047943000000004</c:v>
                </c:pt>
                <c:pt idx="212">
                  <c:v>-5.9112526000000001</c:v>
                </c:pt>
                <c:pt idx="213">
                  <c:v>-5.8180272999999998</c:v>
                </c:pt>
                <c:pt idx="214">
                  <c:v>-5.7251158000000002</c:v>
                </c:pt>
                <c:pt idx="215">
                  <c:v>-5.6325153999999999</c:v>
                </c:pt>
                <c:pt idx="216">
                  <c:v>-5.5402233000000001</c:v>
                </c:pt>
                <c:pt idx="217">
                  <c:v>-5.4482371000000001</c:v>
                </c:pt>
                <c:pt idx="218">
                  <c:v>-5.3565541000000003</c:v>
                </c:pt>
                <c:pt idx="219">
                  <c:v>-5.2651718000000001</c:v>
                </c:pt>
                <c:pt idx="220">
                  <c:v>-5.1740874000000003</c:v>
                </c:pt>
                <c:pt idx="221">
                  <c:v>-5.0836736</c:v>
                </c:pt>
                <c:pt idx="222">
                  <c:v>-5.0066981999999998</c:v>
                </c:pt>
                <c:pt idx="223">
                  <c:v>-4.9535242999999998</c:v>
                </c:pt>
                <c:pt idx="224">
                  <c:v>-4.9239965999999997</c:v>
                </c:pt>
                <c:pt idx="225">
                  <c:v>-4.9140902999999998</c:v>
                </c:pt>
                <c:pt idx="226">
                  <c:v>-4.9181540000000004</c:v>
                </c:pt>
                <c:pt idx="227">
                  <c:v>-4.9304592999999999</c:v>
                </c:pt>
                <c:pt idx="228">
                  <c:v>-4.9461430999999996</c:v>
                </c:pt>
                <c:pt idx="229">
                  <c:v>-4.9616457</c:v>
                </c:pt>
                <c:pt idx="230">
                  <c:v>-4.9747750000000002</c:v>
                </c:pt>
                <c:pt idx="231">
                  <c:v>-4.9845309000000002</c:v>
                </c:pt>
                <c:pt idx="232">
                  <c:v>-4.9908086999999997</c:v>
                </c:pt>
                <c:pt idx="233">
                  <c:v>-4.9940759999999997</c:v>
                </c:pt>
                <c:pt idx="234">
                  <c:v>-4.9950824000000003</c:v>
                </c:pt>
                <c:pt idx="235">
                  <c:v>-4.9946352999999997</c:v>
                </c:pt>
                <c:pt idx="236">
                  <c:v>-4.9934528</c:v>
                </c:pt>
                <c:pt idx="237">
                  <c:v>-4.9920859000000002</c:v>
                </c:pt>
                <c:pt idx="238">
                  <c:v>-4.9908969000000001</c:v>
                </c:pt>
                <c:pt idx="239">
                  <c:v>-4.9900748000000004</c:v>
                </c:pt>
                <c:pt idx="240">
                  <c:v>-4.9896729999999998</c:v>
                </c:pt>
                <c:pt idx="241">
                  <c:v>-4.9896529999999997</c:v>
                </c:pt>
                <c:pt idx="242">
                  <c:v>-4.9899256999999997</c:v>
                </c:pt>
                <c:pt idx="243">
                  <c:v>-4.9903858000000003</c:v>
                </c:pt>
                <c:pt idx="244">
                  <c:v>-4.9909343000000002</c:v>
                </c:pt>
                <c:pt idx="245">
                  <c:v>-4.9914923</c:v>
                </c:pt>
                <c:pt idx="246">
                  <c:v>-4.9920059999999999</c:v>
                </c:pt>
                <c:pt idx="247">
                  <c:v>-4.9924460000000002</c:v>
                </c:pt>
                <c:pt idx="248">
                  <c:v>-4.9928026000000001</c:v>
                </c:pt>
                <c:pt idx="249">
                  <c:v>-4.9930804000000002</c:v>
                </c:pt>
                <c:pt idx="250">
                  <c:v>-4.9932922</c:v>
                </c:pt>
                <c:pt idx="251">
                  <c:v>-4.9934542000000004</c:v>
                </c:pt>
                <c:pt idx="252">
                  <c:v>-4.9935821000000002</c:v>
                </c:pt>
                <c:pt idx="253">
                  <c:v>-4.9936892999999998</c:v>
                </c:pt>
                <c:pt idx="254">
                  <c:v>-4.9937857000000001</c:v>
                </c:pt>
                <c:pt idx="255">
                  <c:v>-4.9938776000000002</c:v>
                </c:pt>
                <c:pt idx="256">
                  <c:v>-4.9939685000000003</c:v>
                </c:pt>
                <c:pt idx="257">
                  <c:v>-4.9940591000000003</c:v>
                </c:pt>
                <c:pt idx="258">
                  <c:v>-4.9941491999999998</c:v>
                </c:pt>
                <c:pt idx="259">
                  <c:v>-4.9942374000000003</c:v>
                </c:pt>
                <c:pt idx="260">
                  <c:v>-4.9943223999999997</c:v>
                </c:pt>
                <c:pt idx="261">
                  <c:v>-4.9944030000000001</c:v>
                </c:pt>
                <c:pt idx="262">
                  <c:v>-4.9944784000000002</c:v>
                </c:pt>
                <c:pt idx="263">
                  <c:v>-4.9945481000000003</c:v>
                </c:pt>
                <c:pt idx="264">
                  <c:v>-4.9946121999999997</c:v>
                </c:pt>
                <c:pt idx="265">
                  <c:v>-4.9946710000000003</c:v>
                </c:pt>
                <c:pt idx="266">
                  <c:v>-4.9947248000000002</c:v>
                </c:pt>
                <c:pt idx="267">
                  <c:v>-4.9947742999999996</c:v>
                </c:pt>
                <c:pt idx="268">
                  <c:v>-4.9948201000000001</c:v>
                </c:pt>
                <c:pt idx="269">
                  <c:v>-4.9948626000000003</c:v>
                </c:pt>
                <c:pt idx="270">
                  <c:v>-4.9949022000000003</c:v>
                </c:pt>
                <c:pt idx="271">
                  <c:v>-4.9949393999999998</c:v>
                </c:pt>
                <c:pt idx="272">
                  <c:v>-4.9949744000000003</c:v>
                </c:pt>
                <c:pt idx="273">
                  <c:v>-4.9950074000000004</c:v>
                </c:pt>
                <c:pt idx="274">
                  <c:v>-4.9950384999999997</c:v>
                </c:pt>
                <c:pt idx="275">
                  <c:v>-4.9950678999999996</c:v>
                </c:pt>
                <c:pt idx="276">
                  <c:v>-4.9950956</c:v>
                </c:pt>
                <c:pt idx="277">
                  <c:v>-4.9951219</c:v>
                </c:pt>
                <c:pt idx="278">
                  <c:v>-4.9951466</c:v>
                </c:pt>
                <c:pt idx="279">
                  <c:v>-4.9951699999999999</c:v>
                </c:pt>
                <c:pt idx="280">
                  <c:v>-4.9951920000000003</c:v>
                </c:pt>
                <c:pt idx="281">
                  <c:v>-4.9952128</c:v>
                </c:pt>
                <c:pt idx="282">
                  <c:v>-4.9952325000000002</c:v>
                </c:pt>
                <c:pt idx="283">
                  <c:v>-4.9952510999999999</c:v>
                </c:pt>
                <c:pt idx="284">
                  <c:v>-4.9952686000000002</c:v>
                </c:pt>
                <c:pt idx="285">
                  <c:v>-4.9952852999999999</c:v>
                </c:pt>
                <c:pt idx="286">
                  <c:v>-4.9953010000000004</c:v>
                </c:pt>
                <c:pt idx="287">
                  <c:v>-4.9953158999999996</c:v>
                </c:pt>
                <c:pt idx="288">
                  <c:v>-4.9953301000000003</c:v>
                </c:pt>
              </c:numCache>
            </c:numRef>
          </c:yVal>
          <c:smooth val="1"/>
          <c:extLst>
            <c:ext xmlns:c16="http://schemas.microsoft.com/office/drawing/2014/chart" uri="{C3380CC4-5D6E-409C-BE32-E72D297353CC}">
              <c16:uniqueId val="{00000001-A942-B048-9408-654DAB119AE9}"/>
            </c:ext>
          </c:extLst>
        </c:ser>
        <c:ser>
          <c:idx val="2"/>
          <c:order val="2"/>
          <c:tx>
            <c:v>Chosen target</c:v>
          </c:tx>
          <c:spPr>
            <a:ln w="26670">
              <a:solidFill>
                <a:srgbClr val="587081"/>
              </a:solidFill>
            </a:ln>
          </c:spPr>
          <c:marker>
            <c:symbol val="none"/>
          </c:marker>
          <c:xVal>
            <c:numRef>
              <c:f>'Chart Data'!$E$2:$E$290</c:f>
              <c:numCache>
                <c:formatCode>General</c:formatCode>
                <c:ptCount val="289"/>
                <c:pt idx="0">
                  <c:v>0</c:v>
                </c:pt>
                <c:pt idx="1">
                  <c:v>1.3888888888900001E-2</c:v>
                </c:pt>
                <c:pt idx="2">
                  <c:v>2.7777777777800002E-2</c:v>
                </c:pt>
                <c:pt idx="3">
                  <c:v>4.1666666666699999E-2</c:v>
                </c:pt>
                <c:pt idx="4">
                  <c:v>5.5555555555600003E-2</c:v>
                </c:pt>
                <c:pt idx="5">
                  <c:v>6.9444444444399997E-2</c:v>
                </c:pt>
                <c:pt idx="6">
                  <c:v>8.3333333333299994E-2</c:v>
                </c:pt>
                <c:pt idx="7">
                  <c:v>9.7222222222200005E-2</c:v>
                </c:pt>
                <c:pt idx="8">
                  <c:v>0.111111111111</c:v>
                </c:pt>
                <c:pt idx="9">
                  <c:v>0.125</c:v>
                </c:pt>
                <c:pt idx="10">
                  <c:v>0.138888888889</c:v>
                </c:pt>
                <c:pt idx="11">
                  <c:v>0.152777777778</c:v>
                </c:pt>
                <c:pt idx="12">
                  <c:v>0.166666666667</c:v>
                </c:pt>
                <c:pt idx="13">
                  <c:v>0.180555555556</c:v>
                </c:pt>
                <c:pt idx="14">
                  <c:v>0.194444444444</c:v>
                </c:pt>
                <c:pt idx="15">
                  <c:v>0.208333333333</c:v>
                </c:pt>
                <c:pt idx="16">
                  <c:v>0.222222222222</c:v>
                </c:pt>
                <c:pt idx="17">
                  <c:v>0.236111111111</c:v>
                </c:pt>
                <c:pt idx="18">
                  <c:v>0.25</c:v>
                </c:pt>
                <c:pt idx="19">
                  <c:v>0.26388888888899997</c:v>
                </c:pt>
                <c:pt idx="20">
                  <c:v>0.277777777778</c:v>
                </c:pt>
                <c:pt idx="21">
                  <c:v>0.29166666666699997</c:v>
                </c:pt>
                <c:pt idx="22">
                  <c:v>0.305555555556</c:v>
                </c:pt>
                <c:pt idx="23">
                  <c:v>0.319444444444</c:v>
                </c:pt>
                <c:pt idx="24">
                  <c:v>0.33333333333300003</c:v>
                </c:pt>
                <c:pt idx="25">
                  <c:v>0.347222222222</c:v>
                </c:pt>
                <c:pt idx="26">
                  <c:v>0.36111111111100003</c:v>
                </c:pt>
                <c:pt idx="27">
                  <c:v>0.375</c:v>
                </c:pt>
                <c:pt idx="28">
                  <c:v>0.38888888888899997</c:v>
                </c:pt>
                <c:pt idx="29">
                  <c:v>0.402777777778</c:v>
                </c:pt>
                <c:pt idx="30">
                  <c:v>0.41666666666699997</c:v>
                </c:pt>
                <c:pt idx="31">
                  <c:v>0.430555555556</c:v>
                </c:pt>
                <c:pt idx="32">
                  <c:v>0.444444444444</c:v>
                </c:pt>
                <c:pt idx="33">
                  <c:v>0.45833333333300003</c:v>
                </c:pt>
                <c:pt idx="34">
                  <c:v>0.472222222222</c:v>
                </c:pt>
                <c:pt idx="35">
                  <c:v>0.48611111111100003</c:v>
                </c:pt>
                <c:pt idx="36">
                  <c:v>0.5</c:v>
                </c:pt>
                <c:pt idx="37">
                  <c:v>0.51388888888899997</c:v>
                </c:pt>
                <c:pt idx="38">
                  <c:v>0.52777777777799995</c:v>
                </c:pt>
                <c:pt idx="39">
                  <c:v>0.54166666666700003</c:v>
                </c:pt>
                <c:pt idx="40">
                  <c:v>0.555555555556</c:v>
                </c:pt>
                <c:pt idx="41">
                  <c:v>0.569444444444</c:v>
                </c:pt>
                <c:pt idx="42">
                  <c:v>0.58333333333299997</c:v>
                </c:pt>
                <c:pt idx="43">
                  <c:v>0.59722222222200005</c:v>
                </c:pt>
                <c:pt idx="44">
                  <c:v>0.61111111111100003</c:v>
                </c:pt>
                <c:pt idx="45">
                  <c:v>0.625</c:v>
                </c:pt>
                <c:pt idx="46">
                  <c:v>0.63888888888899997</c:v>
                </c:pt>
                <c:pt idx="47">
                  <c:v>0.65277777777799995</c:v>
                </c:pt>
                <c:pt idx="48">
                  <c:v>0.66666666666700003</c:v>
                </c:pt>
                <c:pt idx="49">
                  <c:v>0.680555555556</c:v>
                </c:pt>
                <c:pt idx="50">
                  <c:v>0.694444444444</c:v>
                </c:pt>
                <c:pt idx="51">
                  <c:v>0.70833333333299997</c:v>
                </c:pt>
                <c:pt idx="52">
                  <c:v>0.72222222222200005</c:v>
                </c:pt>
                <c:pt idx="53">
                  <c:v>0.73611111111100003</c:v>
                </c:pt>
                <c:pt idx="54">
                  <c:v>0.75</c:v>
                </c:pt>
                <c:pt idx="55">
                  <c:v>0.76388888888899997</c:v>
                </c:pt>
                <c:pt idx="56">
                  <c:v>0.77777777777799995</c:v>
                </c:pt>
                <c:pt idx="57">
                  <c:v>0.79166666666700003</c:v>
                </c:pt>
                <c:pt idx="58">
                  <c:v>0.805555555556</c:v>
                </c:pt>
                <c:pt idx="59">
                  <c:v>0.819444444444</c:v>
                </c:pt>
                <c:pt idx="60">
                  <c:v>0.83333333333299997</c:v>
                </c:pt>
                <c:pt idx="61">
                  <c:v>0.84722222222200005</c:v>
                </c:pt>
                <c:pt idx="62">
                  <c:v>0.86111111111100003</c:v>
                </c:pt>
                <c:pt idx="63">
                  <c:v>0.875</c:v>
                </c:pt>
                <c:pt idx="64">
                  <c:v>0.88888888888899997</c:v>
                </c:pt>
                <c:pt idx="65">
                  <c:v>0.90277777777799995</c:v>
                </c:pt>
                <c:pt idx="66">
                  <c:v>0.91666666666700003</c:v>
                </c:pt>
                <c:pt idx="67">
                  <c:v>0.930555555556</c:v>
                </c:pt>
                <c:pt idx="68">
                  <c:v>0.944444444444</c:v>
                </c:pt>
                <c:pt idx="69">
                  <c:v>0.95833333333299997</c:v>
                </c:pt>
                <c:pt idx="70">
                  <c:v>0.97222222222200005</c:v>
                </c:pt>
                <c:pt idx="71">
                  <c:v>0.98611111111100003</c:v>
                </c:pt>
                <c:pt idx="72">
                  <c:v>1</c:v>
                </c:pt>
                <c:pt idx="73">
                  <c:v>1.01388888889</c:v>
                </c:pt>
                <c:pt idx="74">
                  <c:v>1.0277777777799999</c:v>
                </c:pt>
                <c:pt idx="75">
                  <c:v>1.0416666666700001</c:v>
                </c:pt>
                <c:pt idx="76">
                  <c:v>1.05555555556</c:v>
                </c:pt>
                <c:pt idx="77">
                  <c:v>1.06944444444</c:v>
                </c:pt>
                <c:pt idx="78">
                  <c:v>1.0833333333299999</c:v>
                </c:pt>
                <c:pt idx="79">
                  <c:v>1.0972222222200001</c:v>
                </c:pt>
                <c:pt idx="80">
                  <c:v>1.11111111111</c:v>
                </c:pt>
                <c:pt idx="81">
                  <c:v>1.125</c:v>
                </c:pt>
                <c:pt idx="82">
                  <c:v>1.13888888889</c:v>
                </c:pt>
                <c:pt idx="83">
                  <c:v>1.1527777777799999</c:v>
                </c:pt>
                <c:pt idx="84">
                  <c:v>1.1666666666700001</c:v>
                </c:pt>
                <c:pt idx="85">
                  <c:v>1.18055555556</c:v>
                </c:pt>
                <c:pt idx="86">
                  <c:v>1.19444444444</c:v>
                </c:pt>
                <c:pt idx="87">
                  <c:v>1.2083333333299999</c:v>
                </c:pt>
                <c:pt idx="88">
                  <c:v>1.2222222222200001</c:v>
                </c:pt>
                <c:pt idx="89">
                  <c:v>1.23611111111</c:v>
                </c:pt>
                <c:pt idx="90">
                  <c:v>1.25</c:v>
                </c:pt>
                <c:pt idx="91">
                  <c:v>1.26388888889</c:v>
                </c:pt>
                <c:pt idx="92">
                  <c:v>1.2777777777799999</c:v>
                </c:pt>
                <c:pt idx="93">
                  <c:v>1.2916666666700001</c:v>
                </c:pt>
                <c:pt idx="94">
                  <c:v>1.30555555556</c:v>
                </c:pt>
                <c:pt idx="95">
                  <c:v>1.31944444444</c:v>
                </c:pt>
                <c:pt idx="96">
                  <c:v>1.3333333333299999</c:v>
                </c:pt>
                <c:pt idx="97">
                  <c:v>1.3472222222200001</c:v>
                </c:pt>
                <c:pt idx="98">
                  <c:v>1.36111111111</c:v>
                </c:pt>
                <c:pt idx="99">
                  <c:v>1.375</c:v>
                </c:pt>
                <c:pt idx="100">
                  <c:v>1.38888888889</c:v>
                </c:pt>
                <c:pt idx="101">
                  <c:v>1.4027777777799999</c:v>
                </c:pt>
                <c:pt idx="102">
                  <c:v>1.4166666666700001</c:v>
                </c:pt>
                <c:pt idx="103">
                  <c:v>1.43055555556</c:v>
                </c:pt>
                <c:pt idx="104">
                  <c:v>1.44444444444</c:v>
                </c:pt>
                <c:pt idx="105">
                  <c:v>1.4583333333299999</c:v>
                </c:pt>
                <c:pt idx="106">
                  <c:v>1.4722222222200001</c:v>
                </c:pt>
                <c:pt idx="107">
                  <c:v>1.48611111111</c:v>
                </c:pt>
                <c:pt idx="108">
                  <c:v>1.5</c:v>
                </c:pt>
                <c:pt idx="109">
                  <c:v>1.51388888889</c:v>
                </c:pt>
                <c:pt idx="110">
                  <c:v>1.5277777777799999</c:v>
                </c:pt>
                <c:pt idx="111">
                  <c:v>1.5416666666700001</c:v>
                </c:pt>
                <c:pt idx="112">
                  <c:v>1.55555555556</c:v>
                </c:pt>
                <c:pt idx="113">
                  <c:v>1.56944444444</c:v>
                </c:pt>
                <c:pt idx="114">
                  <c:v>1.5833333333299999</c:v>
                </c:pt>
                <c:pt idx="115">
                  <c:v>1.5972222222200001</c:v>
                </c:pt>
                <c:pt idx="116">
                  <c:v>1.61111111111</c:v>
                </c:pt>
                <c:pt idx="117">
                  <c:v>1.625</c:v>
                </c:pt>
                <c:pt idx="118">
                  <c:v>1.63888888889</c:v>
                </c:pt>
                <c:pt idx="119">
                  <c:v>1.6527777777799999</c:v>
                </c:pt>
                <c:pt idx="120">
                  <c:v>1.6666666666700001</c:v>
                </c:pt>
                <c:pt idx="121">
                  <c:v>1.68055555556</c:v>
                </c:pt>
                <c:pt idx="122">
                  <c:v>1.69444444444</c:v>
                </c:pt>
                <c:pt idx="123">
                  <c:v>1.7083333333299999</c:v>
                </c:pt>
                <c:pt idx="124">
                  <c:v>1.7222222222200001</c:v>
                </c:pt>
                <c:pt idx="125">
                  <c:v>1.73611111111</c:v>
                </c:pt>
                <c:pt idx="126">
                  <c:v>1.75</c:v>
                </c:pt>
                <c:pt idx="127">
                  <c:v>1.76388888889</c:v>
                </c:pt>
                <c:pt idx="128">
                  <c:v>1.7777777777799999</c:v>
                </c:pt>
                <c:pt idx="129">
                  <c:v>1.7916666666700001</c:v>
                </c:pt>
                <c:pt idx="130">
                  <c:v>1.80555555556</c:v>
                </c:pt>
                <c:pt idx="131">
                  <c:v>1.81944444444</c:v>
                </c:pt>
                <c:pt idx="132">
                  <c:v>1.8333333333299999</c:v>
                </c:pt>
                <c:pt idx="133">
                  <c:v>1.8472222222200001</c:v>
                </c:pt>
                <c:pt idx="134">
                  <c:v>1.86111111111</c:v>
                </c:pt>
                <c:pt idx="135">
                  <c:v>1.875</c:v>
                </c:pt>
                <c:pt idx="136">
                  <c:v>1.88888888889</c:v>
                </c:pt>
                <c:pt idx="137">
                  <c:v>1.9027777777799999</c:v>
                </c:pt>
                <c:pt idx="138">
                  <c:v>1.9166666666700001</c:v>
                </c:pt>
                <c:pt idx="139">
                  <c:v>1.93055555556</c:v>
                </c:pt>
                <c:pt idx="140">
                  <c:v>1.94444444444</c:v>
                </c:pt>
                <c:pt idx="141">
                  <c:v>1.9583333333299999</c:v>
                </c:pt>
                <c:pt idx="142">
                  <c:v>1.9722222222200001</c:v>
                </c:pt>
                <c:pt idx="143">
                  <c:v>1.98611111111</c:v>
                </c:pt>
                <c:pt idx="144">
                  <c:v>2</c:v>
                </c:pt>
                <c:pt idx="145">
                  <c:v>2.01388888889</c:v>
                </c:pt>
                <c:pt idx="146">
                  <c:v>2.0277777777799999</c:v>
                </c:pt>
                <c:pt idx="147">
                  <c:v>2.0416666666699999</c:v>
                </c:pt>
                <c:pt idx="148">
                  <c:v>2.0555555555599998</c:v>
                </c:pt>
                <c:pt idx="149">
                  <c:v>2.0694444444400002</c:v>
                </c:pt>
                <c:pt idx="150">
                  <c:v>2.0833333333300001</c:v>
                </c:pt>
                <c:pt idx="151">
                  <c:v>2.0972222222200001</c:v>
                </c:pt>
                <c:pt idx="152">
                  <c:v>2.11111111111</c:v>
                </c:pt>
                <c:pt idx="153">
                  <c:v>2.125</c:v>
                </c:pt>
                <c:pt idx="154">
                  <c:v>2.13888888889</c:v>
                </c:pt>
                <c:pt idx="155">
                  <c:v>2.1527777777799999</c:v>
                </c:pt>
                <c:pt idx="156">
                  <c:v>2.1666666666699999</c:v>
                </c:pt>
                <c:pt idx="157">
                  <c:v>2.1805555555599998</c:v>
                </c:pt>
                <c:pt idx="158">
                  <c:v>2.1944444444400002</c:v>
                </c:pt>
                <c:pt idx="159">
                  <c:v>2.2083333333300001</c:v>
                </c:pt>
                <c:pt idx="160">
                  <c:v>2.2222222222200001</c:v>
                </c:pt>
                <c:pt idx="161">
                  <c:v>2.23611111111</c:v>
                </c:pt>
                <c:pt idx="162">
                  <c:v>2.25</c:v>
                </c:pt>
                <c:pt idx="163">
                  <c:v>2.26388888889</c:v>
                </c:pt>
                <c:pt idx="164">
                  <c:v>2.2777777777799999</c:v>
                </c:pt>
                <c:pt idx="165">
                  <c:v>2.2916666666699999</c:v>
                </c:pt>
                <c:pt idx="166">
                  <c:v>2.3055555555599998</c:v>
                </c:pt>
                <c:pt idx="167">
                  <c:v>2.3194444444400002</c:v>
                </c:pt>
                <c:pt idx="168">
                  <c:v>2.3333333333300001</c:v>
                </c:pt>
                <c:pt idx="169">
                  <c:v>2.3472222222200001</c:v>
                </c:pt>
                <c:pt idx="170">
                  <c:v>2.36111111111</c:v>
                </c:pt>
                <c:pt idx="171">
                  <c:v>2.375</c:v>
                </c:pt>
                <c:pt idx="172">
                  <c:v>2.38888888889</c:v>
                </c:pt>
                <c:pt idx="173">
                  <c:v>2.4027777777799999</c:v>
                </c:pt>
                <c:pt idx="174">
                  <c:v>2.4166666666699999</c:v>
                </c:pt>
                <c:pt idx="175">
                  <c:v>2.4305555555599998</c:v>
                </c:pt>
                <c:pt idx="176">
                  <c:v>2.4444444444400002</c:v>
                </c:pt>
                <c:pt idx="177">
                  <c:v>2.4583333333300001</c:v>
                </c:pt>
                <c:pt idx="178">
                  <c:v>2.4722222222200001</c:v>
                </c:pt>
                <c:pt idx="179">
                  <c:v>2.48611111111</c:v>
                </c:pt>
                <c:pt idx="180">
                  <c:v>2.5</c:v>
                </c:pt>
                <c:pt idx="181">
                  <c:v>2.51388888889</c:v>
                </c:pt>
                <c:pt idx="182">
                  <c:v>2.5277777777799999</c:v>
                </c:pt>
                <c:pt idx="183">
                  <c:v>2.5416666666699999</c:v>
                </c:pt>
                <c:pt idx="184">
                  <c:v>2.5555555555599998</c:v>
                </c:pt>
                <c:pt idx="185">
                  <c:v>2.5694444444400002</c:v>
                </c:pt>
                <c:pt idx="186">
                  <c:v>2.5833333333300001</c:v>
                </c:pt>
                <c:pt idx="187">
                  <c:v>2.5972222222200001</c:v>
                </c:pt>
                <c:pt idx="188">
                  <c:v>2.61111111111</c:v>
                </c:pt>
                <c:pt idx="189">
                  <c:v>2.625</c:v>
                </c:pt>
                <c:pt idx="190">
                  <c:v>2.63888888889</c:v>
                </c:pt>
                <c:pt idx="191">
                  <c:v>2.6527777777799999</c:v>
                </c:pt>
                <c:pt idx="192">
                  <c:v>2.6666666666699999</c:v>
                </c:pt>
                <c:pt idx="193">
                  <c:v>2.6805555555599998</c:v>
                </c:pt>
                <c:pt idx="194">
                  <c:v>2.6944444444400002</c:v>
                </c:pt>
                <c:pt idx="195">
                  <c:v>2.7083333333300001</c:v>
                </c:pt>
                <c:pt idx="196">
                  <c:v>2.7222222222200001</c:v>
                </c:pt>
                <c:pt idx="197">
                  <c:v>2.73611111111</c:v>
                </c:pt>
                <c:pt idx="198">
                  <c:v>2.75</c:v>
                </c:pt>
                <c:pt idx="199">
                  <c:v>2.76388888889</c:v>
                </c:pt>
                <c:pt idx="200">
                  <c:v>2.7777777777799999</c:v>
                </c:pt>
                <c:pt idx="201">
                  <c:v>2.7916666666699999</c:v>
                </c:pt>
                <c:pt idx="202">
                  <c:v>2.8055555555599998</c:v>
                </c:pt>
                <c:pt idx="203">
                  <c:v>2.8194444444400002</c:v>
                </c:pt>
                <c:pt idx="204">
                  <c:v>2.8333333333300001</c:v>
                </c:pt>
                <c:pt idx="205">
                  <c:v>2.8472222222200001</c:v>
                </c:pt>
                <c:pt idx="206">
                  <c:v>2.86111111111</c:v>
                </c:pt>
                <c:pt idx="207">
                  <c:v>2.875</c:v>
                </c:pt>
                <c:pt idx="208">
                  <c:v>2.88888888889</c:v>
                </c:pt>
                <c:pt idx="209">
                  <c:v>2.9027777777799999</c:v>
                </c:pt>
                <c:pt idx="210">
                  <c:v>2.9166666666699999</c:v>
                </c:pt>
                <c:pt idx="211">
                  <c:v>2.9305555555599998</c:v>
                </c:pt>
                <c:pt idx="212">
                  <c:v>2.9444444444400002</c:v>
                </c:pt>
                <c:pt idx="213">
                  <c:v>2.9583333333300001</c:v>
                </c:pt>
                <c:pt idx="214">
                  <c:v>2.9722222222200001</c:v>
                </c:pt>
                <c:pt idx="215">
                  <c:v>2.98611111111</c:v>
                </c:pt>
                <c:pt idx="216">
                  <c:v>3</c:v>
                </c:pt>
                <c:pt idx="217">
                  <c:v>3.01388888889</c:v>
                </c:pt>
                <c:pt idx="218">
                  <c:v>3.0277777777799999</c:v>
                </c:pt>
                <c:pt idx="219">
                  <c:v>3.0416666666699999</c:v>
                </c:pt>
                <c:pt idx="220">
                  <c:v>3.0555555555599998</c:v>
                </c:pt>
                <c:pt idx="221">
                  <c:v>3.0694444444400002</c:v>
                </c:pt>
                <c:pt idx="222">
                  <c:v>3.0833333333300001</c:v>
                </c:pt>
                <c:pt idx="223">
                  <c:v>3.0972222222200001</c:v>
                </c:pt>
                <c:pt idx="224">
                  <c:v>3.11111111111</c:v>
                </c:pt>
                <c:pt idx="225">
                  <c:v>3.125</c:v>
                </c:pt>
                <c:pt idx="226">
                  <c:v>3.13888888889</c:v>
                </c:pt>
                <c:pt idx="227">
                  <c:v>3.1527777777799999</c:v>
                </c:pt>
                <c:pt idx="228">
                  <c:v>3.1666666666699999</c:v>
                </c:pt>
                <c:pt idx="229">
                  <c:v>3.1805555555599998</c:v>
                </c:pt>
                <c:pt idx="230">
                  <c:v>3.1944444444400002</c:v>
                </c:pt>
                <c:pt idx="231">
                  <c:v>3.2083333333300001</c:v>
                </c:pt>
                <c:pt idx="232">
                  <c:v>3.2222222222200001</c:v>
                </c:pt>
                <c:pt idx="233">
                  <c:v>3.23611111111</c:v>
                </c:pt>
                <c:pt idx="234">
                  <c:v>3.25</c:v>
                </c:pt>
                <c:pt idx="235">
                  <c:v>3.26388888889</c:v>
                </c:pt>
                <c:pt idx="236">
                  <c:v>3.2777777777799999</c:v>
                </c:pt>
                <c:pt idx="237">
                  <c:v>3.2916666666699999</c:v>
                </c:pt>
                <c:pt idx="238">
                  <c:v>3.3055555555599998</c:v>
                </c:pt>
                <c:pt idx="239">
                  <c:v>3.3194444444400002</c:v>
                </c:pt>
                <c:pt idx="240">
                  <c:v>3.3333333333300001</c:v>
                </c:pt>
                <c:pt idx="241">
                  <c:v>3.3472222222200001</c:v>
                </c:pt>
                <c:pt idx="242">
                  <c:v>3.36111111111</c:v>
                </c:pt>
                <c:pt idx="243">
                  <c:v>3.375</c:v>
                </c:pt>
                <c:pt idx="244">
                  <c:v>3.38888888889</c:v>
                </c:pt>
                <c:pt idx="245">
                  <c:v>3.4027777777799999</c:v>
                </c:pt>
                <c:pt idx="246">
                  <c:v>3.4166666666699999</c:v>
                </c:pt>
                <c:pt idx="247">
                  <c:v>3.4305555555599998</c:v>
                </c:pt>
                <c:pt idx="248">
                  <c:v>3.4444444444400002</c:v>
                </c:pt>
                <c:pt idx="249">
                  <c:v>3.4583333333300001</c:v>
                </c:pt>
                <c:pt idx="250">
                  <c:v>3.4722222222200001</c:v>
                </c:pt>
                <c:pt idx="251">
                  <c:v>3.48611111111</c:v>
                </c:pt>
                <c:pt idx="252">
                  <c:v>3.5</c:v>
                </c:pt>
                <c:pt idx="253">
                  <c:v>3.51388888889</c:v>
                </c:pt>
                <c:pt idx="254">
                  <c:v>3.5277777777799999</c:v>
                </c:pt>
                <c:pt idx="255">
                  <c:v>3.5416666666699999</c:v>
                </c:pt>
                <c:pt idx="256">
                  <c:v>3.5555555555599998</c:v>
                </c:pt>
                <c:pt idx="257">
                  <c:v>3.5694444444400002</c:v>
                </c:pt>
                <c:pt idx="258">
                  <c:v>3.5833333333300001</c:v>
                </c:pt>
                <c:pt idx="259">
                  <c:v>3.5972222222200001</c:v>
                </c:pt>
                <c:pt idx="260">
                  <c:v>3.61111111111</c:v>
                </c:pt>
                <c:pt idx="261">
                  <c:v>3.625</c:v>
                </c:pt>
                <c:pt idx="262">
                  <c:v>3.63888888889</c:v>
                </c:pt>
                <c:pt idx="263">
                  <c:v>3.6527777777799999</c:v>
                </c:pt>
                <c:pt idx="264">
                  <c:v>3.6666666666699999</c:v>
                </c:pt>
                <c:pt idx="265">
                  <c:v>3.6805555555599998</c:v>
                </c:pt>
                <c:pt idx="266">
                  <c:v>3.6944444444400002</c:v>
                </c:pt>
                <c:pt idx="267">
                  <c:v>3.7083333333300001</c:v>
                </c:pt>
                <c:pt idx="268">
                  <c:v>3.7222222222200001</c:v>
                </c:pt>
                <c:pt idx="269">
                  <c:v>3.73611111111</c:v>
                </c:pt>
                <c:pt idx="270">
                  <c:v>3.75</c:v>
                </c:pt>
                <c:pt idx="271">
                  <c:v>3.76388888889</c:v>
                </c:pt>
                <c:pt idx="272">
                  <c:v>3.7777777777799999</c:v>
                </c:pt>
                <c:pt idx="273">
                  <c:v>3.7916666666699999</c:v>
                </c:pt>
                <c:pt idx="274">
                  <c:v>3.8055555555599998</c:v>
                </c:pt>
                <c:pt idx="275">
                  <c:v>3.8194444444400002</c:v>
                </c:pt>
                <c:pt idx="276">
                  <c:v>3.8333333333300001</c:v>
                </c:pt>
                <c:pt idx="277">
                  <c:v>3.8472222222200001</c:v>
                </c:pt>
                <c:pt idx="278">
                  <c:v>3.86111111111</c:v>
                </c:pt>
                <c:pt idx="279">
                  <c:v>3.875</c:v>
                </c:pt>
                <c:pt idx="280">
                  <c:v>3.88888888889</c:v>
                </c:pt>
                <c:pt idx="281">
                  <c:v>3.9027777777799999</c:v>
                </c:pt>
                <c:pt idx="282">
                  <c:v>3.9166666666699999</c:v>
                </c:pt>
                <c:pt idx="283">
                  <c:v>3.9305555555599998</c:v>
                </c:pt>
                <c:pt idx="284">
                  <c:v>3.9444444444400002</c:v>
                </c:pt>
                <c:pt idx="285">
                  <c:v>3.9583333333300001</c:v>
                </c:pt>
                <c:pt idx="286">
                  <c:v>3.9722222222200001</c:v>
                </c:pt>
                <c:pt idx="287">
                  <c:v>3.98611111111</c:v>
                </c:pt>
                <c:pt idx="288">
                  <c:v>4</c:v>
                </c:pt>
              </c:numCache>
            </c:numRef>
          </c:xVal>
          <c:yVal>
            <c:numRef>
              <c:f>'Chart Data'!$F$2:$F$290</c:f>
              <c:numCache>
                <c:formatCode>General</c:formatCode>
                <c:ptCount val="289"/>
                <c:pt idx="0">
                  <c:v>-5</c:v>
                </c:pt>
                <c:pt idx="1">
                  <c:v>-5</c:v>
                </c:pt>
                <c:pt idx="2">
                  <c:v>-5</c:v>
                </c:pt>
                <c:pt idx="3">
                  <c:v>-5</c:v>
                </c:pt>
                <c:pt idx="4">
                  <c:v>-5</c:v>
                </c:pt>
                <c:pt idx="5">
                  <c:v>-5</c:v>
                </c:pt>
                <c:pt idx="6">
                  <c:v>-5</c:v>
                </c:pt>
                <c:pt idx="7">
                  <c:v>-5</c:v>
                </c:pt>
                <c:pt idx="8">
                  <c:v>-5</c:v>
                </c:pt>
                <c:pt idx="9">
                  <c:v>-5</c:v>
                </c:pt>
                <c:pt idx="10">
                  <c:v>-5</c:v>
                </c:pt>
                <c:pt idx="11">
                  <c:v>-5</c:v>
                </c:pt>
                <c:pt idx="12">
                  <c:v>-5</c:v>
                </c:pt>
                <c:pt idx="13">
                  <c:v>-5</c:v>
                </c:pt>
                <c:pt idx="14">
                  <c:v>-5</c:v>
                </c:pt>
                <c:pt idx="15">
                  <c:v>-5</c:v>
                </c:pt>
                <c:pt idx="16">
                  <c:v>-5</c:v>
                </c:pt>
                <c:pt idx="17">
                  <c:v>-5</c:v>
                </c:pt>
                <c:pt idx="18">
                  <c:v>-5</c:v>
                </c:pt>
                <c:pt idx="19">
                  <c:v>-5</c:v>
                </c:pt>
                <c:pt idx="20">
                  <c:v>-5</c:v>
                </c:pt>
                <c:pt idx="21">
                  <c:v>-5</c:v>
                </c:pt>
                <c:pt idx="22">
                  <c:v>-5</c:v>
                </c:pt>
                <c:pt idx="23">
                  <c:v>-5</c:v>
                </c:pt>
                <c:pt idx="24">
                  <c:v>-5</c:v>
                </c:pt>
                <c:pt idx="25">
                  <c:v>-5</c:v>
                </c:pt>
                <c:pt idx="26">
                  <c:v>-5</c:v>
                </c:pt>
                <c:pt idx="27">
                  <c:v>-5</c:v>
                </c:pt>
                <c:pt idx="28">
                  <c:v>-5</c:v>
                </c:pt>
                <c:pt idx="29">
                  <c:v>-5</c:v>
                </c:pt>
                <c:pt idx="30">
                  <c:v>-5</c:v>
                </c:pt>
                <c:pt idx="31">
                  <c:v>-5</c:v>
                </c:pt>
                <c:pt idx="32">
                  <c:v>-5</c:v>
                </c:pt>
                <c:pt idx="33">
                  <c:v>-5</c:v>
                </c:pt>
                <c:pt idx="34">
                  <c:v>-5</c:v>
                </c:pt>
                <c:pt idx="35">
                  <c:v>-5</c:v>
                </c:pt>
                <c:pt idx="36">
                  <c:v>-5</c:v>
                </c:pt>
                <c:pt idx="37">
                  <c:v>-5</c:v>
                </c:pt>
                <c:pt idx="38">
                  <c:v>-5</c:v>
                </c:pt>
                <c:pt idx="39">
                  <c:v>-5</c:v>
                </c:pt>
                <c:pt idx="40">
                  <c:v>-5</c:v>
                </c:pt>
                <c:pt idx="41">
                  <c:v>-5</c:v>
                </c:pt>
                <c:pt idx="42">
                  <c:v>-5</c:v>
                </c:pt>
                <c:pt idx="43">
                  <c:v>-5</c:v>
                </c:pt>
                <c:pt idx="44">
                  <c:v>-5</c:v>
                </c:pt>
                <c:pt idx="45">
                  <c:v>-5</c:v>
                </c:pt>
                <c:pt idx="46">
                  <c:v>-5</c:v>
                </c:pt>
                <c:pt idx="47">
                  <c:v>-5</c:v>
                </c:pt>
                <c:pt idx="48">
                  <c:v>-5</c:v>
                </c:pt>
                <c:pt idx="49">
                  <c:v>-5</c:v>
                </c:pt>
                <c:pt idx="50">
                  <c:v>-5</c:v>
                </c:pt>
                <c:pt idx="51">
                  <c:v>-5</c:v>
                </c:pt>
                <c:pt idx="52">
                  <c:v>-5</c:v>
                </c:pt>
                <c:pt idx="53">
                  <c:v>-5</c:v>
                </c:pt>
                <c:pt idx="54">
                  <c:v>-5</c:v>
                </c:pt>
                <c:pt idx="55">
                  <c:v>-5</c:v>
                </c:pt>
                <c:pt idx="56">
                  <c:v>-5</c:v>
                </c:pt>
                <c:pt idx="57">
                  <c:v>-5</c:v>
                </c:pt>
                <c:pt idx="58">
                  <c:v>-5</c:v>
                </c:pt>
                <c:pt idx="59">
                  <c:v>-5</c:v>
                </c:pt>
                <c:pt idx="60">
                  <c:v>-5</c:v>
                </c:pt>
                <c:pt idx="61">
                  <c:v>-5</c:v>
                </c:pt>
                <c:pt idx="62">
                  <c:v>-5</c:v>
                </c:pt>
                <c:pt idx="63">
                  <c:v>-5</c:v>
                </c:pt>
                <c:pt idx="64">
                  <c:v>-5</c:v>
                </c:pt>
                <c:pt idx="65">
                  <c:v>-5</c:v>
                </c:pt>
                <c:pt idx="66">
                  <c:v>-5</c:v>
                </c:pt>
                <c:pt idx="67">
                  <c:v>-5</c:v>
                </c:pt>
                <c:pt idx="68">
                  <c:v>-5</c:v>
                </c:pt>
                <c:pt idx="69">
                  <c:v>-5</c:v>
                </c:pt>
                <c:pt idx="70">
                  <c:v>-5</c:v>
                </c:pt>
                <c:pt idx="71">
                  <c:v>-5</c:v>
                </c:pt>
                <c:pt idx="72">
                  <c:v>-5</c:v>
                </c:pt>
                <c:pt idx="73">
                  <c:v>-5</c:v>
                </c:pt>
                <c:pt idx="74">
                  <c:v>-5</c:v>
                </c:pt>
                <c:pt idx="75">
                  <c:v>-5</c:v>
                </c:pt>
                <c:pt idx="76">
                  <c:v>-5</c:v>
                </c:pt>
                <c:pt idx="77">
                  <c:v>-5</c:v>
                </c:pt>
                <c:pt idx="78">
                  <c:v>-5</c:v>
                </c:pt>
                <c:pt idx="79">
                  <c:v>-5</c:v>
                </c:pt>
                <c:pt idx="80">
                  <c:v>-5</c:v>
                </c:pt>
                <c:pt idx="81">
                  <c:v>-5</c:v>
                </c:pt>
                <c:pt idx="82">
                  <c:v>-5</c:v>
                </c:pt>
                <c:pt idx="83">
                  <c:v>-5</c:v>
                </c:pt>
                <c:pt idx="84">
                  <c:v>-5</c:v>
                </c:pt>
                <c:pt idx="85">
                  <c:v>-5</c:v>
                </c:pt>
                <c:pt idx="86">
                  <c:v>-5</c:v>
                </c:pt>
                <c:pt idx="87">
                  <c:v>-5</c:v>
                </c:pt>
                <c:pt idx="88">
                  <c:v>-5</c:v>
                </c:pt>
                <c:pt idx="89">
                  <c:v>-5</c:v>
                </c:pt>
                <c:pt idx="90">
                  <c:v>-5</c:v>
                </c:pt>
                <c:pt idx="91">
                  <c:v>-5</c:v>
                </c:pt>
                <c:pt idx="92">
                  <c:v>-5</c:v>
                </c:pt>
                <c:pt idx="93">
                  <c:v>-5</c:v>
                </c:pt>
                <c:pt idx="94">
                  <c:v>-5</c:v>
                </c:pt>
                <c:pt idx="95">
                  <c:v>-5</c:v>
                </c:pt>
                <c:pt idx="96">
                  <c:v>-5</c:v>
                </c:pt>
                <c:pt idx="97">
                  <c:v>-5</c:v>
                </c:pt>
                <c:pt idx="98">
                  <c:v>-5</c:v>
                </c:pt>
                <c:pt idx="99">
                  <c:v>-5</c:v>
                </c:pt>
                <c:pt idx="100">
                  <c:v>-5</c:v>
                </c:pt>
                <c:pt idx="101">
                  <c:v>-5</c:v>
                </c:pt>
                <c:pt idx="102">
                  <c:v>-5</c:v>
                </c:pt>
                <c:pt idx="103">
                  <c:v>-5</c:v>
                </c:pt>
                <c:pt idx="104">
                  <c:v>-5</c:v>
                </c:pt>
                <c:pt idx="105">
                  <c:v>-5</c:v>
                </c:pt>
                <c:pt idx="106">
                  <c:v>-5</c:v>
                </c:pt>
                <c:pt idx="107">
                  <c:v>-5</c:v>
                </c:pt>
                <c:pt idx="108">
                  <c:v>-5</c:v>
                </c:pt>
                <c:pt idx="109">
                  <c:v>-5</c:v>
                </c:pt>
                <c:pt idx="110">
                  <c:v>-5</c:v>
                </c:pt>
                <c:pt idx="111">
                  <c:v>-5</c:v>
                </c:pt>
                <c:pt idx="112">
                  <c:v>-5</c:v>
                </c:pt>
                <c:pt idx="113">
                  <c:v>-5</c:v>
                </c:pt>
                <c:pt idx="114">
                  <c:v>-5</c:v>
                </c:pt>
                <c:pt idx="115">
                  <c:v>-5</c:v>
                </c:pt>
                <c:pt idx="116">
                  <c:v>-5</c:v>
                </c:pt>
                <c:pt idx="117">
                  <c:v>-5</c:v>
                </c:pt>
                <c:pt idx="118">
                  <c:v>-5</c:v>
                </c:pt>
                <c:pt idx="119">
                  <c:v>-5</c:v>
                </c:pt>
                <c:pt idx="120">
                  <c:v>-5</c:v>
                </c:pt>
                <c:pt idx="121">
                  <c:v>-5</c:v>
                </c:pt>
                <c:pt idx="122">
                  <c:v>-5</c:v>
                </c:pt>
                <c:pt idx="123">
                  <c:v>-5</c:v>
                </c:pt>
                <c:pt idx="124">
                  <c:v>-5</c:v>
                </c:pt>
                <c:pt idx="125">
                  <c:v>-5</c:v>
                </c:pt>
                <c:pt idx="126">
                  <c:v>-5</c:v>
                </c:pt>
                <c:pt idx="127">
                  <c:v>-5</c:v>
                </c:pt>
                <c:pt idx="128">
                  <c:v>-5</c:v>
                </c:pt>
                <c:pt idx="129">
                  <c:v>-5</c:v>
                </c:pt>
                <c:pt idx="130">
                  <c:v>-5</c:v>
                </c:pt>
                <c:pt idx="131">
                  <c:v>-5</c:v>
                </c:pt>
                <c:pt idx="132">
                  <c:v>-5</c:v>
                </c:pt>
                <c:pt idx="133">
                  <c:v>-5</c:v>
                </c:pt>
                <c:pt idx="134">
                  <c:v>-5</c:v>
                </c:pt>
                <c:pt idx="135">
                  <c:v>-5</c:v>
                </c:pt>
                <c:pt idx="136">
                  <c:v>-5</c:v>
                </c:pt>
                <c:pt idx="137">
                  <c:v>-5</c:v>
                </c:pt>
                <c:pt idx="138">
                  <c:v>-5</c:v>
                </c:pt>
                <c:pt idx="139">
                  <c:v>-5</c:v>
                </c:pt>
                <c:pt idx="140">
                  <c:v>-5</c:v>
                </c:pt>
                <c:pt idx="141">
                  <c:v>-5</c:v>
                </c:pt>
                <c:pt idx="142">
                  <c:v>-5</c:v>
                </c:pt>
                <c:pt idx="143">
                  <c:v>-5</c:v>
                </c:pt>
                <c:pt idx="144">
                  <c:v>-5</c:v>
                </c:pt>
                <c:pt idx="145">
                  <c:v>-5</c:v>
                </c:pt>
                <c:pt idx="146">
                  <c:v>-5</c:v>
                </c:pt>
                <c:pt idx="147">
                  <c:v>-5</c:v>
                </c:pt>
                <c:pt idx="148">
                  <c:v>-5</c:v>
                </c:pt>
                <c:pt idx="149">
                  <c:v>-5</c:v>
                </c:pt>
                <c:pt idx="150">
                  <c:v>-5</c:v>
                </c:pt>
                <c:pt idx="151">
                  <c:v>-5</c:v>
                </c:pt>
                <c:pt idx="152">
                  <c:v>-5</c:v>
                </c:pt>
                <c:pt idx="153">
                  <c:v>-5</c:v>
                </c:pt>
                <c:pt idx="154">
                  <c:v>-5</c:v>
                </c:pt>
                <c:pt idx="155">
                  <c:v>-5</c:v>
                </c:pt>
                <c:pt idx="156">
                  <c:v>-5</c:v>
                </c:pt>
                <c:pt idx="157">
                  <c:v>-5</c:v>
                </c:pt>
                <c:pt idx="158">
                  <c:v>-5</c:v>
                </c:pt>
                <c:pt idx="159">
                  <c:v>-5</c:v>
                </c:pt>
                <c:pt idx="160">
                  <c:v>-5</c:v>
                </c:pt>
                <c:pt idx="161">
                  <c:v>-5</c:v>
                </c:pt>
                <c:pt idx="162">
                  <c:v>-5</c:v>
                </c:pt>
                <c:pt idx="163">
                  <c:v>-5</c:v>
                </c:pt>
                <c:pt idx="164">
                  <c:v>-5</c:v>
                </c:pt>
                <c:pt idx="165">
                  <c:v>-5</c:v>
                </c:pt>
                <c:pt idx="166">
                  <c:v>-5</c:v>
                </c:pt>
                <c:pt idx="167">
                  <c:v>-5</c:v>
                </c:pt>
                <c:pt idx="168">
                  <c:v>-5</c:v>
                </c:pt>
                <c:pt idx="169">
                  <c:v>-5</c:v>
                </c:pt>
                <c:pt idx="170">
                  <c:v>-5</c:v>
                </c:pt>
                <c:pt idx="171">
                  <c:v>-5</c:v>
                </c:pt>
                <c:pt idx="172">
                  <c:v>-5</c:v>
                </c:pt>
                <c:pt idx="173">
                  <c:v>-5</c:v>
                </c:pt>
                <c:pt idx="174">
                  <c:v>-5</c:v>
                </c:pt>
                <c:pt idx="175">
                  <c:v>-5</c:v>
                </c:pt>
                <c:pt idx="176">
                  <c:v>-5</c:v>
                </c:pt>
                <c:pt idx="177">
                  <c:v>-5</c:v>
                </c:pt>
                <c:pt idx="178">
                  <c:v>-5</c:v>
                </c:pt>
                <c:pt idx="179">
                  <c:v>-5</c:v>
                </c:pt>
                <c:pt idx="180">
                  <c:v>-5</c:v>
                </c:pt>
                <c:pt idx="181">
                  <c:v>-5</c:v>
                </c:pt>
                <c:pt idx="182">
                  <c:v>-5</c:v>
                </c:pt>
                <c:pt idx="183">
                  <c:v>-5</c:v>
                </c:pt>
                <c:pt idx="184">
                  <c:v>-5</c:v>
                </c:pt>
                <c:pt idx="185">
                  <c:v>-5</c:v>
                </c:pt>
                <c:pt idx="186">
                  <c:v>-5</c:v>
                </c:pt>
                <c:pt idx="187">
                  <c:v>-5</c:v>
                </c:pt>
                <c:pt idx="188">
                  <c:v>-5</c:v>
                </c:pt>
                <c:pt idx="189">
                  <c:v>-5</c:v>
                </c:pt>
                <c:pt idx="190">
                  <c:v>-5</c:v>
                </c:pt>
                <c:pt idx="191">
                  <c:v>-5</c:v>
                </c:pt>
                <c:pt idx="192">
                  <c:v>-5</c:v>
                </c:pt>
                <c:pt idx="193">
                  <c:v>-5</c:v>
                </c:pt>
                <c:pt idx="194">
                  <c:v>-5</c:v>
                </c:pt>
                <c:pt idx="195">
                  <c:v>-5</c:v>
                </c:pt>
                <c:pt idx="196">
                  <c:v>-5</c:v>
                </c:pt>
                <c:pt idx="197">
                  <c:v>-5</c:v>
                </c:pt>
                <c:pt idx="198">
                  <c:v>-5</c:v>
                </c:pt>
                <c:pt idx="199">
                  <c:v>-5</c:v>
                </c:pt>
                <c:pt idx="200">
                  <c:v>-5</c:v>
                </c:pt>
                <c:pt idx="201">
                  <c:v>-5</c:v>
                </c:pt>
                <c:pt idx="202">
                  <c:v>-5</c:v>
                </c:pt>
                <c:pt idx="203">
                  <c:v>-5</c:v>
                </c:pt>
                <c:pt idx="204">
                  <c:v>-5</c:v>
                </c:pt>
                <c:pt idx="205">
                  <c:v>-5</c:v>
                </c:pt>
                <c:pt idx="206">
                  <c:v>-5</c:v>
                </c:pt>
                <c:pt idx="207">
                  <c:v>-5</c:v>
                </c:pt>
                <c:pt idx="208">
                  <c:v>-5</c:v>
                </c:pt>
                <c:pt idx="209">
                  <c:v>-5</c:v>
                </c:pt>
                <c:pt idx="210">
                  <c:v>-5</c:v>
                </c:pt>
                <c:pt idx="211">
                  <c:v>-5</c:v>
                </c:pt>
                <c:pt idx="212">
                  <c:v>-5</c:v>
                </c:pt>
                <c:pt idx="213">
                  <c:v>-5</c:v>
                </c:pt>
                <c:pt idx="214">
                  <c:v>-5</c:v>
                </c:pt>
                <c:pt idx="215">
                  <c:v>-5</c:v>
                </c:pt>
                <c:pt idx="216">
                  <c:v>-5</c:v>
                </c:pt>
                <c:pt idx="217">
                  <c:v>-5</c:v>
                </c:pt>
                <c:pt idx="218">
                  <c:v>-5</c:v>
                </c:pt>
                <c:pt idx="219">
                  <c:v>-5</c:v>
                </c:pt>
                <c:pt idx="220">
                  <c:v>-5</c:v>
                </c:pt>
                <c:pt idx="221">
                  <c:v>-5</c:v>
                </c:pt>
                <c:pt idx="222">
                  <c:v>-5</c:v>
                </c:pt>
                <c:pt idx="223">
                  <c:v>-5</c:v>
                </c:pt>
                <c:pt idx="224">
                  <c:v>-5</c:v>
                </c:pt>
                <c:pt idx="225">
                  <c:v>-5</c:v>
                </c:pt>
                <c:pt idx="226">
                  <c:v>-5</c:v>
                </c:pt>
                <c:pt idx="227">
                  <c:v>-5</c:v>
                </c:pt>
                <c:pt idx="228">
                  <c:v>-5</c:v>
                </c:pt>
                <c:pt idx="229">
                  <c:v>-5</c:v>
                </c:pt>
                <c:pt idx="230">
                  <c:v>-5</c:v>
                </c:pt>
                <c:pt idx="231">
                  <c:v>-5</c:v>
                </c:pt>
                <c:pt idx="232">
                  <c:v>-5</c:v>
                </c:pt>
                <c:pt idx="233">
                  <c:v>-5</c:v>
                </c:pt>
                <c:pt idx="234">
                  <c:v>-5</c:v>
                </c:pt>
                <c:pt idx="235">
                  <c:v>-5</c:v>
                </c:pt>
                <c:pt idx="236">
                  <c:v>-5</c:v>
                </c:pt>
                <c:pt idx="237">
                  <c:v>-5</c:v>
                </c:pt>
                <c:pt idx="238">
                  <c:v>-5</c:v>
                </c:pt>
                <c:pt idx="239">
                  <c:v>-5</c:v>
                </c:pt>
                <c:pt idx="240">
                  <c:v>-5</c:v>
                </c:pt>
                <c:pt idx="241">
                  <c:v>-5</c:v>
                </c:pt>
                <c:pt idx="242">
                  <c:v>-5</c:v>
                </c:pt>
                <c:pt idx="243">
                  <c:v>-5</c:v>
                </c:pt>
                <c:pt idx="244">
                  <c:v>-5</c:v>
                </c:pt>
                <c:pt idx="245">
                  <c:v>-5</c:v>
                </c:pt>
                <c:pt idx="246">
                  <c:v>-5</c:v>
                </c:pt>
                <c:pt idx="247">
                  <c:v>-5</c:v>
                </c:pt>
                <c:pt idx="248">
                  <c:v>-5</c:v>
                </c:pt>
                <c:pt idx="249">
                  <c:v>-5</c:v>
                </c:pt>
                <c:pt idx="250">
                  <c:v>-5</c:v>
                </c:pt>
                <c:pt idx="251">
                  <c:v>-5</c:v>
                </c:pt>
                <c:pt idx="252">
                  <c:v>-5</c:v>
                </c:pt>
                <c:pt idx="253">
                  <c:v>-5</c:v>
                </c:pt>
                <c:pt idx="254">
                  <c:v>-5</c:v>
                </c:pt>
                <c:pt idx="255">
                  <c:v>-5</c:v>
                </c:pt>
                <c:pt idx="256">
                  <c:v>-5</c:v>
                </c:pt>
                <c:pt idx="257">
                  <c:v>-5</c:v>
                </c:pt>
                <c:pt idx="258">
                  <c:v>-5</c:v>
                </c:pt>
                <c:pt idx="259">
                  <c:v>-5</c:v>
                </c:pt>
                <c:pt idx="260">
                  <c:v>-5</c:v>
                </c:pt>
                <c:pt idx="261">
                  <c:v>-5</c:v>
                </c:pt>
                <c:pt idx="262">
                  <c:v>-5</c:v>
                </c:pt>
                <c:pt idx="263">
                  <c:v>-5</c:v>
                </c:pt>
                <c:pt idx="264">
                  <c:v>-5</c:v>
                </c:pt>
                <c:pt idx="265">
                  <c:v>-5</c:v>
                </c:pt>
                <c:pt idx="266">
                  <c:v>-5</c:v>
                </c:pt>
                <c:pt idx="267">
                  <c:v>-5</c:v>
                </c:pt>
                <c:pt idx="268">
                  <c:v>-5</c:v>
                </c:pt>
                <c:pt idx="269">
                  <c:v>-5</c:v>
                </c:pt>
                <c:pt idx="270">
                  <c:v>-5</c:v>
                </c:pt>
                <c:pt idx="271">
                  <c:v>-5</c:v>
                </c:pt>
                <c:pt idx="272">
                  <c:v>-5</c:v>
                </c:pt>
                <c:pt idx="273">
                  <c:v>-5</c:v>
                </c:pt>
                <c:pt idx="274">
                  <c:v>-5</c:v>
                </c:pt>
                <c:pt idx="275">
                  <c:v>-5</c:v>
                </c:pt>
                <c:pt idx="276">
                  <c:v>-5</c:v>
                </c:pt>
                <c:pt idx="277">
                  <c:v>-5</c:v>
                </c:pt>
                <c:pt idx="278">
                  <c:v>-5</c:v>
                </c:pt>
                <c:pt idx="279">
                  <c:v>-5</c:v>
                </c:pt>
                <c:pt idx="280">
                  <c:v>-5</c:v>
                </c:pt>
                <c:pt idx="281">
                  <c:v>-5</c:v>
                </c:pt>
                <c:pt idx="282">
                  <c:v>-5</c:v>
                </c:pt>
                <c:pt idx="283">
                  <c:v>-5</c:v>
                </c:pt>
                <c:pt idx="284">
                  <c:v>-5</c:v>
                </c:pt>
                <c:pt idx="285">
                  <c:v>-5</c:v>
                </c:pt>
                <c:pt idx="286">
                  <c:v>-5</c:v>
                </c:pt>
                <c:pt idx="287">
                  <c:v>-5</c:v>
                </c:pt>
                <c:pt idx="288">
                  <c:v>-5</c:v>
                </c:pt>
              </c:numCache>
            </c:numRef>
          </c:yVal>
          <c:smooth val="1"/>
          <c:extLst>
            <c:ext xmlns:c16="http://schemas.microsoft.com/office/drawing/2014/chart" uri="{C3380CC4-5D6E-409C-BE32-E72D297353CC}">
              <c16:uniqueId val="{00000002-A942-B048-9408-654DAB119AE9}"/>
            </c:ext>
          </c:extLst>
        </c:ser>
        <c:dLbls>
          <c:showLegendKey val="0"/>
          <c:showVal val="0"/>
          <c:showCatName val="0"/>
          <c:showSerName val="0"/>
          <c:showPercent val="0"/>
          <c:showBubbleSize val="0"/>
        </c:dLbls>
        <c:axId val="48650112"/>
        <c:axId val="48672768"/>
      </c:scatterChart>
      <c:valAx>
        <c:axId val="48672768"/>
        <c:scaling>
          <c:orientation val="minMax"/>
          <c:max val="2"/>
          <c:min val="-42"/>
        </c:scaling>
        <c:delete val="0"/>
        <c:axPos val="l"/>
        <c:majorGridlines>
          <c:spPr>
            <a:ln w="9525">
              <a:solidFill>
                <a:srgbClr val="E4EBEF"/>
              </a:solidFill>
            </a:ln>
          </c:spPr>
        </c:majorGridlines>
        <c:title>
          <c:tx>
            <c:rich>
              <a:bodyPr/>
              <a:lstStyle/>
              <a:p>
                <a:r>
                  <a:rPr lang="en-US">
                    <a:latin typeface="Arial"/>
                    <a:ea typeface="Arial"/>
                    <a:cs typeface="Arial"/>
                  </a:rPr>
                  <a:t>Motor housing [°C]</a:t>
                </a:r>
              </a:p>
            </c:rich>
          </c:tx>
          <c:overlay val="0"/>
        </c:title>
        <c:numFmt formatCode="General" sourceLinked="1"/>
        <c:majorTickMark val="none"/>
        <c:minorTickMark val="none"/>
        <c:tickLblPos val="nextTo"/>
        <c:spPr>
          <a:ln w="9525">
            <a:solidFill>
              <a:srgbClr val="587081"/>
            </a:solidFill>
          </a:ln>
        </c:spPr>
        <c:txPr>
          <a:bodyPr anchorCtr="1"/>
          <a:lstStyle/>
          <a:p>
            <a:pPr>
              <a:defRPr sz="1350">
                <a:solidFill>
                  <a:srgbClr val="587081"/>
                </a:solidFill>
                <a:latin typeface="Arial"/>
                <a:ea typeface="Arial"/>
                <a:cs typeface="Arial"/>
              </a:defRPr>
            </a:pPr>
            <a:endParaRPr lang="en-US"/>
          </a:p>
        </c:txPr>
        <c:crossAx val="48650112"/>
        <c:crossesAt val="-42"/>
        <c:crossBetween val="midCat"/>
      </c:valAx>
      <c:valAx>
        <c:axId val="48650112"/>
        <c:scaling>
          <c:orientation val="minMax"/>
          <c:max val="4"/>
          <c:min val="0"/>
        </c:scaling>
        <c:delete val="0"/>
        <c:axPos val="b"/>
        <c:title>
          <c:tx>
            <c:rich>
              <a:bodyPr/>
              <a:lstStyle/>
              <a:p>
                <a:r>
                  <a:rPr lang="en-US">
                    <a:latin typeface="Arial"/>
                    <a:ea typeface="Arial"/>
                    <a:cs typeface="Arial"/>
                  </a:rPr>
                  <a:t>Elapsed time [h]</a:t>
                </a:r>
              </a:p>
            </c:rich>
          </c:tx>
          <c:overlay val="0"/>
        </c:title>
        <c:numFmt formatCode="General" sourceLinked="1"/>
        <c:majorTickMark val="none"/>
        <c:minorTickMark val="none"/>
        <c:tickLblPos val="nextTo"/>
        <c:spPr>
          <a:ln w="9525">
            <a:solidFill>
              <a:srgbClr val="587081"/>
            </a:solidFill>
          </a:ln>
        </c:spPr>
        <c:txPr>
          <a:bodyPr anchorCtr="1"/>
          <a:lstStyle/>
          <a:p>
            <a:pPr>
              <a:defRPr sz="1350">
                <a:solidFill>
                  <a:srgbClr val="587081"/>
                </a:solidFill>
                <a:latin typeface="Arial"/>
                <a:ea typeface="Arial"/>
                <a:cs typeface="Arial"/>
              </a:defRPr>
            </a:pPr>
            <a:endParaRPr lang="en-US"/>
          </a:p>
        </c:txPr>
        <c:crossAx val="48672768"/>
        <c:crosses val="autoZero"/>
        <c:crossBetween val="midCat"/>
        <c:majorUnit val="1"/>
      </c:valAx>
      <c:spPr>
        <a:solidFill>
          <a:srgbClr val="FFFFFF"/>
        </a:solidFill>
      </c:spPr>
    </c:plotArea>
    <c:legend>
      <c:legendPos val="b"/>
      <c:overlay val="0"/>
      <c:txPr>
        <a:bodyPr anchorCtr="1"/>
        <a:lstStyle/>
        <a:p>
          <a:pPr>
            <a:defRPr sz="1425">
              <a:solidFill>
                <a:srgbClr val="142B3D"/>
              </a:solidFill>
              <a:latin typeface="Arial"/>
              <a:ea typeface="Arial"/>
              <a:cs typeface="Arial"/>
            </a:defRPr>
          </a:pPr>
          <a:endParaRPr lang="en-US"/>
        </a:p>
      </c:txPr>
    </c:legend>
    <c:plotVisOnly val="1"/>
    <c:dispBlanksAs val="zero"/>
    <c:showDLblsOverMax val="1"/>
  </c:chart>
  <c:spPr>
    <a:solidFill>
      <a:srgbClr val="FFFFFF"/>
    </a:solidFill>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Peak case [°C]</c:v>
          </c:tx>
          <c:spPr>
            <a:solidFill>
              <a:srgbClr val="087F95"/>
            </a:solidFill>
          </c:spPr>
          <c:invertIfNegative val="0"/>
          <c:dPt>
            <c:idx val="0"/>
            <c:invertIfNegative val="0"/>
            <c:bubble3D val="0"/>
            <c:spPr>
              <a:solidFill>
                <a:srgbClr val="AD7A22"/>
              </a:solidFill>
            </c:spPr>
            <c:extLst>
              <c:ext xmlns:c16="http://schemas.microsoft.com/office/drawing/2014/chart" uri="{C3380CC4-5D6E-409C-BE32-E72D297353CC}">
                <c16:uniqueId val="{00000001-6461-A746-BDE2-3D4FA47DD57F}"/>
              </c:ext>
            </c:extLst>
          </c:dPt>
          <c:dPt>
            <c:idx val="1"/>
            <c:invertIfNegative val="0"/>
            <c:bubble3D val="0"/>
            <c:spPr>
              <a:solidFill>
                <a:srgbClr val="4675AD"/>
              </a:solidFill>
            </c:spPr>
            <c:extLst>
              <c:ext xmlns:c16="http://schemas.microsoft.com/office/drawing/2014/chart" uri="{C3380CC4-5D6E-409C-BE32-E72D297353CC}">
                <c16:uniqueId val="{00000003-6461-A746-BDE2-3D4FA47DD57F}"/>
              </c:ext>
            </c:extLst>
          </c:dPt>
          <c:dPt>
            <c:idx val="2"/>
            <c:invertIfNegative val="0"/>
            <c:bubble3D val="0"/>
            <c:spPr>
              <a:solidFill>
                <a:srgbClr val="087F95"/>
              </a:solidFill>
            </c:spPr>
            <c:extLst>
              <c:ext xmlns:c16="http://schemas.microsoft.com/office/drawing/2014/chart" uri="{C3380CC4-5D6E-409C-BE32-E72D297353CC}">
                <c16:uniqueId val="{00000005-6461-A746-BDE2-3D4FA47DD57F}"/>
              </c:ext>
            </c:extLst>
          </c:dPt>
          <c:dLbls>
            <c:numFmt formatCode="0.00" sourceLinked="0"/>
            <c:spPr>
              <a:noFill/>
              <a:ln>
                <a:noFill/>
              </a:ln>
              <a:effectLst/>
            </c:spPr>
            <c:txPr>
              <a:bodyPr anchorCtr="1"/>
              <a:lstStyle/>
              <a:p>
                <a:pPr>
                  <a:defRPr sz="1650" b="1">
                    <a:solidFill>
                      <a:srgbClr val="142B3D"/>
                    </a:solidFill>
                    <a:latin typeface="Arial"/>
                    <a:ea typeface="Arial"/>
                    <a:cs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Fixed link</c:v>
                </c:pt>
                <c:pt idx="1">
                  <c:v>4.0 m² radiator</c:v>
                </c:pt>
                <c:pt idx="2">
                  <c:v>4.5 m² radiator</c:v>
                </c:pt>
              </c:strCache>
            </c:strRef>
          </c:cat>
          <c:val>
            <c:numRef>
              <c:f>'Chart Data'!$B$2:$B$4</c:f>
              <c:numCache>
                <c:formatCode>General</c:formatCode>
                <c:ptCount val="3"/>
                <c:pt idx="0">
                  <c:v>124.30578255899999</c:v>
                </c:pt>
                <c:pt idx="1">
                  <c:v>66.729353167799999</c:v>
                </c:pt>
                <c:pt idx="2">
                  <c:v>61.832494886600003</c:v>
                </c:pt>
              </c:numCache>
            </c:numRef>
          </c:val>
          <c:extLst>
            <c:ext xmlns:c16="http://schemas.microsoft.com/office/drawing/2014/chart" uri="{C3380CC4-5D6E-409C-BE32-E72D297353CC}">
              <c16:uniqueId val="{00000006-6461-A746-BDE2-3D4FA47DD57F}"/>
            </c:ext>
          </c:extLst>
        </c:ser>
        <c:dLbls>
          <c:dLblPos val="outEnd"/>
          <c:showLegendKey val="0"/>
          <c:showVal val="1"/>
          <c:showCatName val="0"/>
          <c:showSerName val="0"/>
          <c:showPercent val="0"/>
          <c:showBubbleSize val="0"/>
        </c:dLbls>
        <c:gapWidth val="65"/>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E4EBEF"/>
            </a:solidFill>
          </a:ln>
        </c:spPr>
        <c:txPr>
          <a:bodyPr anchorCtr="1"/>
          <a:lstStyle/>
          <a:p>
            <a:pPr>
              <a:defRPr sz="1500">
                <a:solidFill>
                  <a:srgbClr val="142B3D"/>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max val="135"/>
          <c:min val="0"/>
        </c:scaling>
        <c:delete val="0"/>
        <c:axPos val="l"/>
        <c:majorGridlines>
          <c:spPr>
            <a:ln w="9525">
              <a:solidFill>
                <a:srgbClr val="E4EBEF"/>
              </a:solidFill>
            </a:ln>
          </c:spPr>
        </c:majorGridlines>
        <c:title>
          <c:tx>
            <c:rich>
              <a:bodyPr/>
              <a:lstStyle/>
              <a:p>
                <a:r>
                  <a:rPr lang="en-US">
                    <a:latin typeface="Arial"/>
                    <a:ea typeface="Arial"/>
                    <a:cs typeface="Arial"/>
                  </a:rPr>
                  <a:t>Peak case [°C]</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587081"/>
                </a:solidFill>
                <a:latin typeface="Arial"/>
                <a:ea typeface="Arial"/>
                <a:cs typeface="Arial"/>
              </a:defRPr>
            </a:pPr>
            <a:endParaRPr lang="en-US"/>
          </a:p>
        </c:txPr>
        <c:crossAx val="48650112"/>
        <c:crosses val="autoZero"/>
        <c:crossBetween val="between"/>
      </c:valAx>
      <c:spPr>
        <a:solidFill>
          <a:srgbClr val="FFFFFF"/>
        </a:solidFill>
      </c:spPr>
    </c:plotArea>
    <c:plotVisOnly val="1"/>
    <c:dispBlanksAs val="zero"/>
    <c:showDLblsOverMax val="1"/>
  </c:chart>
  <c:spPr>
    <a:solidFill>
      <a:srgbClr val="FFFFFF"/>
    </a:solidFill>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Full-workload availability [%]</c:v>
          </c:tx>
          <c:spPr>
            <a:solidFill>
              <a:srgbClr val="087F95"/>
            </a:solidFill>
          </c:spPr>
          <c:invertIfNegative val="0"/>
          <c:dPt>
            <c:idx val="0"/>
            <c:invertIfNegative val="0"/>
            <c:bubble3D val="0"/>
            <c:spPr>
              <a:solidFill>
                <a:srgbClr val="087F95"/>
              </a:solidFill>
            </c:spPr>
            <c:extLst>
              <c:ext xmlns:c16="http://schemas.microsoft.com/office/drawing/2014/chart" uri="{C3380CC4-5D6E-409C-BE32-E72D297353CC}">
                <c16:uniqueId val="{00000001-D523-D848-9167-1E80B53C55D6}"/>
              </c:ext>
            </c:extLst>
          </c:dPt>
          <c:dPt>
            <c:idx val="1"/>
            <c:invertIfNegative val="0"/>
            <c:bubble3D val="0"/>
            <c:spPr>
              <a:solidFill>
                <a:srgbClr val="AD7A22"/>
              </a:solidFill>
            </c:spPr>
            <c:extLst>
              <c:ext xmlns:c16="http://schemas.microsoft.com/office/drawing/2014/chart" uri="{C3380CC4-5D6E-409C-BE32-E72D297353CC}">
                <c16:uniqueId val="{00000003-D523-D848-9167-1E80B53C55D6}"/>
              </c:ext>
            </c:extLst>
          </c:dPt>
          <c:dPt>
            <c:idx val="2"/>
            <c:invertIfNegative val="0"/>
            <c:bubble3D val="0"/>
            <c:spPr>
              <a:solidFill>
                <a:srgbClr val="B34C4C"/>
              </a:solidFill>
            </c:spPr>
            <c:extLst>
              <c:ext xmlns:c16="http://schemas.microsoft.com/office/drawing/2014/chart" uri="{C3380CC4-5D6E-409C-BE32-E72D297353CC}">
                <c16:uniqueId val="{00000005-D523-D848-9167-1E80B53C55D6}"/>
              </c:ext>
            </c:extLst>
          </c:dPt>
          <c:dPt>
            <c:idx val="3"/>
            <c:invertIfNegative val="0"/>
            <c:bubble3D val="0"/>
            <c:spPr>
              <a:solidFill>
                <a:srgbClr val="B34C4C"/>
              </a:solidFill>
            </c:spPr>
            <c:extLst>
              <c:ext xmlns:c16="http://schemas.microsoft.com/office/drawing/2014/chart" uri="{C3380CC4-5D6E-409C-BE32-E72D297353CC}">
                <c16:uniqueId val="{00000007-D523-D848-9167-1E80B53C55D6}"/>
              </c:ext>
            </c:extLst>
          </c:dPt>
          <c:dPt>
            <c:idx val="4"/>
            <c:invertIfNegative val="0"/>
            <c:bubble3D val="0"/>
            <c:spPr>
              <a:solidFill>
                <a:srgbClr val="4675AD"/>
              </a:solidFill>
            </c:spPr>
            <c:extLst>
              <c:ext xmlns:c16="http://schemas.microsoft.com/office/drawing/2014/chart" uri="{C3380CC4-5D6E-409C-BE32-E72D297353CC}">
                <c16:uniqueId val="{00000009-D523-D848-9167-1E80B53C55D6}"/>
              </c:ext>
            </c:extLst>
          </c:dPt>
          <c:dLbls>
            <c:numFmt formatCode="0.00" sourceLinked="0"/>
            <c:spPr>
              <a:noFill/>
              <a:ln>
                <a:noFill/>
              </a:ln>
              <a:effectLst/>
            </c:spPr>
            <c:txPr>
              <a:bodyPr anchorCtr="1"/>
              <a:lstStyle/>
              <a:p>
                <a:pPr>
                  <a:defRPr sz="1650" b="1">
                    <a:solidFill>
                      <a:srgbClr val="142B3D"/>
                    </a:solidFill>
                    <a:latin typeface="Arial"/>
                    <a:ea typeface="Arial"/>
                    <a:cs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Data'!$A$2:$A$6</c:f>
              <c:strCache>
                <c:ptCount val="5"/>
                <c:pt idx="0">
                  <c:v>Nominal</c:v>
                </c:pt>
                <c:pt idx="1">
                  <c:v>Heater stuck on</c:v>
                </c:pt>
                <c:pt idx="2">
                  <c:v>Sensor bias</c:v>
                </c:pt>
                <c:pt idx="3">
                  <c:v>Heater failed</c:v>
                </c:pt>
                <c:pt idx="4">
                  <c:v>Reserve shedding</c:v>
                </c:pt>
              </c:strCache>
            </c:strRef>
          </c:cat>
          <c:val>
            <c:numRef>
              <c:f>'Chart Data'!$B$2:$B$6</c:f>
              <c:numCache>
                <c:formatCode>General</c:formatCode>
                <c:ptCount val="5"/>
                <c:pt idx="0">
                  <c:v>100</c:v>
                </c:pt>
                <c:pt idx="1">
                  <c:v>91.359910496699996</c:v>
                </c:pt>
                <c:pt idx="2">
                  <c:v>0</c:v>
                </c:pt>
                <c:pt idx="3">
                  <c:v>0</c:v>
                </c:pt>
                <c:pt idx="4">
                  <c:v>76.750675414</c:v>
                </c:pt>
              </c:numCache>
            </c:numRef>
          </c:val>
          <c:extLst>
            <c:ext xmlns:c16="http://schemas.microsoft.com/office/drawing/2014/chart" uri="{C3380CC4-5D6E-409C-BE32-E72D297353CC}">
              <c16:uniqueId val="{0000000A-D523-D848-9167-1E80B53C55D6}"/>
            </c:ext>
          </c:extLst>
        </c:ser>
        <c:dLbls>
          <c:dLblPos val="outEnd"/>
          <c:showLegendKey val="0"/>
          <c:showVal val="1"/>
          <c:showCatName val="0"/>
          <c:showSerName val="0"/>
          <c:showPercent val="0"/>
          <c:showBubbleSize val="0"/>
        </c:dLbls>
        <c:gapWidth val="65"/>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E4EBEF"/>
            </a:solidFill>
          </a:ln>
        </c:spPr>
        <c:txPr>
          <a:bodyPr anchorCtr="1"/>
          <a:lstStyle/>
          <a:p>
            <a:pPr>
              <a:defRPr sz="1500">
                <a:solidFill>
                  <a:srgbClr val="142B3D"/>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max val="112"/>
          <c:min val="0"/>
        </c:scaling>
        <c:delete val="0"/>
        <c:axPos val="l"/>
        <c:majorGridlines>
          <c:spPr>
            <a:ln w="9525">
              <a:solidFill>
                <a:srgbClr val="E4EBEF"/>
              </a:solidFill>
            </a:ln>
          </c:spPr>
        </c:majorGridlines>
        <c:title>
          <c:tx>
            <c:rich>
              <a:bodyPr/>
              <a:lstStyle/>
              <a:p>
                <a:r>
                  <a:rPr lang="en-US">
                    <a:latin typeface="Arial"/>
                    <a:ea typeface="Arial"/>
                    <a:cs typeface="Arial"/>
                  </a:rPr>
                  <a:t>Full-workload availability [%]</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587081"/>
                </a:solidFill>
                <a:latin typeface="Arial"/>
                <a:ea typeface="Arial"/>
                <a:cs typeface="Arial"/>
              </a:defRPr>
            </a:pPr>
            <a:endParaRPr lang="en-US"/>
          </a:p>
        </c:txPr>
        <c:crossAx val="48650112"/>
        <c:crosses val="autoZero"/>
        <c:crossBetween val="between"/>
      </c:valAx>
      <c:spPr>
        <a:solidFill>
          <a:srgbClr val="FFFFFF"/>
        </a:solidFill>
      </c:spPr>
    </c:plotArea>
    <c:plotVisOnly val="1"/>
    <c:dispBlanksAs val="zero"/>
    <c:showDLblsOverMax val="1"/>
  </c:chart>
  <c:spPr>
    <a:solidFill>
      <a:srgbClr val="FFFFFF"/>
    </a:solidFill>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RF self-resistance [mK/W]</c:v>
          </c:tx>
          <c:spPr>
            <a:solidFill>
              <a:srgbClr val="087F95"/>
            </a:solidFill>
          </c:spPr>
          <c:invertIfNegative val="0"/>
          <c:dPt>
            <c:idx val="0"/>
            <c:invertIfNegative val="0"/>
            <c:bubble3D val="0"/>
            <c:spPr>
              <a:solidFill>
                <a:srgbClr val="4675AD"/>
              </a:solidFill>
            </c:spPr>
            <c:extLst>
              <c:ext xmlns:c16="http://schemas.microsoft.com/office/drawing/2014/chart" uri="{C3380CC4-5D6E-409C-BE32-E72D297353CC}">
                <c16:uniqueId val="{00000001-CF52-7D4C-B1FB-3BCCEB0337D2}"/>
              </c:ext>
            </c:extLst>
          </c:dPt>
          <c:dPt>
            <c:idx val="1"/>
            <c:invertIfNegative val="0"/>
            <c:bubble3D val="0"/>
            <c:spPr>
              <a:solidFill>
                <a:srgbClr val="087F95"/>
              </a:solidFill>
            </c:spPr>
            <c:extLst>
              <c:ext xmlns:c16="http://schemas.microsoft.com/office/drawing/2014/chart" uri="{C3380CC4-5D6E-409C-BE32-E72D297353CC}">
                <c16:uniqueId val="{00000003-CF52-7D4C-B1FB-3BCCEB0337D2}"/>
              </c:ext>
            </c:extLst>
          </c:dPt>
          <c:dLbls>
            <c:numFmt formatCode="0.00" sourceLinked="0"/>
            <c:spPr>
              <a:noFill/>
              <a:ln>
                <a:noFill/>
              </a:ln>
              <a:effectLst/>
            </c:spPr>
            <c:txPr>
              <a:bodyPr anchorCtr="1"/>
              <a:lstStyle/>
              <a:p>
                <a:pPr>
                  <a:defRPr sz="1650" b="1">
                    <a:solidFill>
                      <a:srgbClr val="142B3D"/>
                    </a:solidFill>
                    <a:latin typeface="Arial"/>
                    <a:ea typeface="Arial"/>
                    <a:cs typeface="Aria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4,800 cells</c:v>
                </c:pt>
                <c:pt idx="1">
                  <c:v>38,400 cells</c:v>
                </c:pt>
              </c:strCache>
            </c:strRef>
          </c:cat>
          <c:val>
            <c:numRef>
              <c:f>'Chart Data'!$B$2:$B$3</c:f>
              <c:numCache>
                <c:formatCode>General</c:formatCode>
                <c:ptCount val="2"/>
                <c:pt idx="0">
                  <c:v>92.374529999999993</c:v>
                </c:pt>
                <c:pt idx="1">
                  <c:v>90.948049999999995</c:v>
                </c:pt>
              </c:numCache>
            </c:numRef>
          </c:val>
          <c:extLst>
            <c:ext xmlns:c16="http://schemas.microsoft.com/office/drawing/2014/chart" uri="{C3380CC4-5D6E-409C-BE32-E72D297353CC}">
              <c16:uniqueId val="{00000004-CF52-7D4C-B1FB-3BCCEB0337D2}"/>
            </c:ext>
          </c:extLst>
        </c:ser>
        <c:dLbls>
          <c:dLblPos val="outEnd"/>
          <c:showLegendKey val="0"/>
          <c:showVal val="1"/>
          <c:showCatName val="0"/>
          <c:showSerName val="0"/>
          <c:showPercent val="0"/>
          <c:showBubbleSize val="0"/>
        </c:dLbls>
        <c:gapWidth val="65"/>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E4EBEF"/>
            </a:solidFill>
          </a:ln>
        </c:spPr>
        <c:txPr>
          <a:bodyPr anchorCtr="1"/>
          <a:lstStyle/>
          <a:p>
            <a:pPr>
              <a:defRPr sz="1500">
                <a:solidFill>
                  <a:srgbClr val="142B3D"/>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max val="105"/>
          <c:min val="0"/>
        </c:scaling>
        <c:delete val="0"/>
        <c:axPos val="l"/>
        <c:majorGridlines>
          <c:spPr>
            <a:ln w="9525">
              <a:solidFill>
                <a:srgbClr val="E4EBEF"/>
              </a:solidFill>
            </a:ln>
          </c:spPr>
        </c:majorGridlines>
        <c:title>
          <c:tx>
            <c:rich>
              <a:bodyPr/>
              <a:lstStyle/>
              <a:p>
                <a:r>
                  <a:rPr lang="en-US">
                    <a:latin typeface="Arial"/>
                    <a:ea typeface="Arial"/>
                    <a:cs typeface="Arial"/>
                  </a:rPr>
                  <a:t>RF self-resistance [mK/W]</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350">
                <a:solidFill>
                  <a:srgbClr val="587081"/>
                </a:solidFill>
                <a:latin typeface="Arial"/>
                <a:ea typeface="Arial"/>
                <a:cs typeface="Arial"/>
              </a:defRPr>
            </a:pPr>
            <a:endParaRPr lang="en-US"/>
          </a:p>
        </c:txPr>
        <c:crossAx val="48650112"/>
        <c:crosses val="autoZero"/>
        <c:crossBetween val="between"/>
      </c:valAx>
      <c:spPr>
        <a:solidFill>
          <a:srgbClr val="FFFFFF"/>
        </a:solidFill>
      </c:spPr>
    </c:plotArea>
    <c:plotVisOnly val="1"/>
    <c:dispBlanksAs val="zero"/>
    <c:showDLblsOverMax val="1"/>
  </c:chart>
  <c:spPr>
    <a:solidFill>
      <a:srgbClr val="FFFFFF"/>
    </a:solidFill>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www.rtca.org/do-160/" TargetMode="External"/><Relationship Id="rId2" Type="http://schemas.openxmlformats.org/officeDocument/2006/relationships/slide" Target="../slides/slide15.xml"/><Relationship Id="rId1" Type="http://schemas.openxmlformats.org/officeDocument/2006/relationships/notesMaster" Target="../notesMasters/notesMaster1.xml"/><Relationship Id="rId5" Type="http://schemas.openxmlformats.org/officeDocument/2006/relationships/hyperlink" Target="https://www.nist.gov/pml/nist-technical-note-1297/nist-guidelines-evaluating-and-expressing-uncertainty-nist-measurement" TargetMode="External"/><Relationship Id="rId4" Type="http://schemas.openxmlformats.org/officeDocument/2006/relationships/hyperlink" Target="https://standards.nasa.gov/node/791" TargetMode="Externa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Sceye develops high-altitude platforms for connectivity and observation. This presentation applies my thermal-engineering approach to a representative vehicle assembled from public evidence. It is an independent interview demonstration, not work commissioned by Sceye. The linked website carries the assumptions, native models and full results.</a:t>
            </a:r>
          </a:p>
          <a:p>
            <a:endParaRPr/>
          </a:p>
          <a:p>
            <a:r>
              <a:t>Evidence and sources</a:t>
            </a:r>
          </a:p>
          <a:p>
            <a:r>
              <a:t>https://sceye.com/platform/</a:t>
            </a:r>
          </a:p>
          <a:p>
            <a:r>
              <a:t>https://sceye.com/press-releases/sceye-completes-record-us-japan-stratospheric-flight/</a:t>
            </a:r>
          </a:p>
          <a:p>
            <a:r>
              <a:t>https://khanisolutions.com/AISolutions/sceye-thermal-interview.html</a:t>
            </a:r>
          </a:p>
          <a:p>
            <a:r>
              <a:t>Photo: Sceye, ST1 launch, September 2026 release.</a:t>
            </a:r>
          </a:p>
          <a:p>
            <a:endParaRPr/>
          </a:p>
          <a:p>
            <a:r>
              <a:t>Scope: independent public-reference interview study. Internal geometry, losses, properties and limits are representative assumptions. No Sceye proprietary CAD, physical test or qualification claim.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mission must maintain useful service through the solar cycle. </a:t>
            </a:r>
            <a:r>
              <a:rPr dirty="0" err="1"/>
              <a:t>Sceye’s</a:t>
            </a:r>
            <a:r>
              <a:rPr dirty="0"/>
              <a:t> September 9, 2026 release reports a month-long journey of nearly 30,000 km and more than seven days in Japanese-managed airspace. It mentions mobile broadband, emergency communications, drones and onboard edge computing. The 2024 flight describes optical, IR and radar payloads. Those historical payloads are not asserted to be the exact ST1 suite. Public platform descriptions identify daytime solar power and battery-supported night operation. The job’s 18–21 km environment and the independent model’s 20 km reference remain distinct from ST1’s reported 16.5–17 km flight.</a:t>
            </a:r>
          </a:p>
          <a:p>
            <a:endParaRPr dirty="0"/>
          </a:p>
          <a:p>
            <a:r>
              <a:rPr dirty="0"/>
              <a:t>Evidence and sources</a:t>
            </a:r>
          </a:p>
          <a:p>
            <a:r>
              <a:rPr dirty="0"/>
              <a:t>https://</a:t>
            </a:r>
            <a:r>
              <a:rPr dirty="0" err="1"/>
              <a:t>sceye.com</a:t>
            </a:r>
            <a:r>
              <a:rPr dirty="0"/>
              <a:t>/platform/</a:t>
            </a:r>
          </a:p>
          <a:p>
            <a:r>
              <a:rPr dirty="0"/>
              <a:t>https://</a:t>
            </a:r>
            <a:r>
              <a:rPr dirty="0" err="1"/>
              <a:t>sceye.com</a:t>
            </a:r>
            <a:r>
              <a:rPr dirty="0"/>
              <a:t>/press-releases/</a:t>
            </a:r>
            <a:r>
              <a:rPr dirty="0" err="1"/>
              <a:t>sceye</a:t>
            </a:r>
            <a:r>
              <a:rPr dirty="0"/>
              <a:t>-completes-record-us-</a:t>
            </a:r>
            <a:r>
              <a:rPr dirty="0" err="1"/>
              <a:t>japan</a:t>
            </a:r>
            <a:r>
              <a:rPr dirty="0"/>
              <a:t>-stratospheric-flight/</a:t>
            </a:r>
          </a:p>
          <a:p>
            <a:r>
              <a:rPr dirty="0"/>
              <a:t>https://</a:t>
            </a:r>
            <a:r>
              <a:rPr dirty="0" err="1"/>
              <a:t>sceye.com</a:t>
            </a:r>
            <a:r>
              <a:rPr dirty="0"/>
              <a:t>/press-releases/the-future-of-non-terrestrial-infrastructure-sceye-demonstrates-breakthrough-diurnal-flight-in-the-stratosphere-with-renewable-energy/</a:t>
            </a:r>
          </a:p>
          <a:p>
            <a:r>
              <a:rPr dirty="0"/>
              <a:t>Photo: </a:t>
            </a:r>
            <a:r>
              <a:rPr dirty="0" err="1"/>
              <a:t>Sceye</a:t>
            </a:r>
            <a:r>
              <a:rPr dirty="0"/>
              <a:t>, September 2026 ST1 release.</a:t>
            </a:r>
          </a:p>
          <a:p>
            <a:endParaRPr dirty="0"/>
          </a:p>
          <a:p>
            <a:r>
              <a:rPr dirty="0"/>
              <a:t>Scope: independent public-reference interview study. Internal geometry, losses, properties and limits are representative assumptions. No </a:t>
            </a:r>
            <a:r>
              <a:rPr dirty="0" err="1"/>
              <a:t>Sceye</a:t>
            </a:r>
            <a:r>
              <a:rPr dirty="0"/>
              <a:t> proprietary CAD, physical test or qualification claim.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I reconstructed an exterior and proposed internal equipment layout in </a:t>
            </a:r>
            <a:r>
              <a:rPr dirty="0" err="1"/>
              <a:t>FreeCAD</a:t>
            </a:r>
            <a:r>
              <a:rPr dirty="0"/>
              <a:t> from public photographs and references. The embedded clip uses saved CAD views with camera zooms, pans and transitions. It is not a manufacturing sequence or a new 3D orbit. Internal packaging, component dimensions and thermal equipment locations remain explicit study assumptions. Click the website for interactive views and CAD downloads.</a:t>
            </a:r>
          </a:p>
          <a:p>
            <a:endParaRPr dirty="0"/>
          </a:p>
          <a:p>
            <a:r>
              <a:rPr dirty="0"/>
              <a:t>Evidence and sources</a:t>
            </a:r>
          </a:p>
          <a:p>
            <a:r>
              <a:rPr dirty="0"/>
              <a:t>https://</a:t>
            </a:r>
            <a:r>
              <a:rPr dirty="0" err="1"/>
              <a:t>khanisolutions.com</a:t>
            </a:r>
            <a:r>
              <a:rPr dirty="0"/>
              <a:t>/</a:t>
            </a:r>
            <a:r>
              <a:rPr dirty="0" err="1"/>
              <a:t>AISolutions</a:t>
            </a:r>
            <a:r>
              <a:rPr dirty="0"/>
              <a:t>/</a:t>
            </a:r>
            <a:r>
              <a:rPr dirty="0" err="1"/>
              <a:t>sceye-haps-thermal.html#vehicle</a:t>
            </a:r>
            <a:endParaRPr dirty="0"/>
          </a:p>
          <a:p>
            <a:r>
              <a:rPr dirty="0"/>
              <a:t>Stage-01-Evidence-CAD-R1/review/vehicle-</a:t>
            </a:r>
            <a:r>
              <a:rPr dirty="0" err="1"/>
              <a:t>isometric.png</a:t>
            </a:r>
            <a:endParaRPr dirty="0"/>
          </a:p>
          <a:p>
            <a:r>
              <a:rPr dirty="0"/>
              <a:t>Stage-01-Evidence-CAD-R1/review/vehicle-</a:t>
            </a:r>
            <a:r>
              <a:rPr dirty="0" err="1"/>
              <a:t>cutaway.png</a:t>
            </a:r>
            <a:endParaRPr dirty="0"/>
          </a:p>
          <a:p>
            <a:r>
              <a:rPr dirty="0"/>
              <a:t>Interview Deck/assets/videos/Sceye_Representative_CAD_Tour_12s.mp4</a:t>
            </a:r>
          </a:p>
          <a:p>
            <a:endParaRPr dirty="0"/>
          </a:p>
          <a:p>
            <a:r>
              <a:rPr dirty="0"/>
              <a:t>Scope: independent public-reference interview study. Internal geometry, losses, properties and limits are representative assumptions. No </a:t>
            </a:r>
            <a:r>
              <a:rPr dirty="0" err="1"/>
              <a:t>Sceye</a:t>
            </a:r>
            <a:r>
              <a:rPr dirty="0"/>
              <a:t> proprietary CAD, physical test or qualification claim.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left pod contains avionics and navigation/communications blocks. The middle contains four battery blocks and the BMS. Outboard orange panels represent candidate radiators. Nearby MPPT and DC–DC blocks represent power conversion. The purple assembly at the right represents RF/antenna and optional optics. The motor controller sits near the stern, not in that purple payload assembly. I model each subsystem separately because dissipation, interfaces, cold-start constraints and mission criticality differ. The detailed telecom model later adds RF power amplification, beamforming, baseband, edge server and payload DC power. All ratings are assumptions, not disclosed </a:t>
            </a:r>
            <a:r>
              <a:rPr dirty="0" err="1"/>
              <a:t>Sceye</a:t>
            </a:r>
            <a:r>
              <a:rPr dirty="0"/>
              <a:t> part data.</a:t>
            </a:r>
          </a:p>
          <a:p>
            <a:r>
              <a:rPr lang="en-US" b="1" dirty="0"/>
              <a:t>Telecom means telecommunications: </a:t>
            </a:r>
            <a:r>
              <a:rPr lang="en-US" dirty="0"/>
              <a:t>In our model, it includes the </a:t>
            </a:r>
            <a:r>
              <a:rPr lang="en-US" b="1" dirty="0"/>
              <a:t>RF transmitter, antenna beamforming electronics, network electronics and power supply</a:t>
            </a:r>
            <a:r>
              <a:rPr lang="en-US" dirty="0"/>
              <a:t>. These consume electricity and generate heat, so they need thermal management.</a:t>
            </a:r>
          </a:p>
          <a:p>
            <a:br>
              <a:rPr lang="en-US" b="1" dirty="0"/>
            </a:br>
            <a:r>
              <a:rPr lang="en-US" b="1" dirty="0"/>
              <a:t>The three blue boxes inside the transparent enclosure on the far left</a:t>
            </a:r>
            <a:r>
              <a:rPr lang="en-US" dirty="0"/>
              <a:t> are, from left to right:</a:t>
            </a:r>
          </a:p>
          <a:p>
            <a:r>
              <a:rPr lang="en-US" b="1" dirty="0"/>
              <a:t>Flight computer:</a:t>
            </a:r>
            <a:r>
              <a:rPr lang="en-US" dirty="0"/>
              <a:t> processes sensor information and calculates vehicle-control commands.</a:t>
            </a:r>
          </a:p>
          <a:p>
            <a:r>
              <a:rPr lang="en-US" b="1" dirty="0"/>
              <a:t>Navigation / IMU:</a:t>
            </a:r>
            <a:r>
              <a:rPr lang="en-US" dirty="0"/>
              <a:t> measures orientation, rotation and acceleration.</a:t>
            </a:r>
          </a:p>
          <a:p>
            <a:r>
              <a:rPr lang="en-US" b="1" dirty="0"/>
              <a:t>Command and telemetry electronics:</a:t>
            </a:r>
            <a:r>
              <a:rPr lang="en-US" dirty="0"/>
              <a:t> receives ground commands and transmits vehicle status.</a:t>
            </a:r>
          </a:p>
          <a:p>
            <a:r>
              <a:rPr lang="en-US" dirty="0"/>
              <a:t>The </a:t>
            </a:r>
            <a:r>
              <a:rPr lang="en-US" b="1" dirty="0"/>
              <a:t>brown plate underneath</a:t>
            </a:r>
            <a:r>
              <a:rPr lang="en-US" dirty="0"/>
              <a:t> is the mounting baseplate, which also spreads heat. The outer enclosure is shown transparent so you can see inside.</a:t>
            </a:r>
          </a:p>
          <a:p>
            <a:r>
              <a:rPr lang="en-US" dirty="0"/>
              <a:t>The </a:t>
            </a:r>
            <a:r>
              <a:rPr lang="en-US" b="1" dirty="0"/>
              <a:t>two turquoise boxes farther right, near the orange radiators</a:t>
            </a:r>
            <a:r>
              <a:rPr lang="en-US" dirty="0"/>
              <a:t>, represent the MPPT and DC–DC power converters.</a:t>
            </a:r>
          </a:p>
          <a:p>
            <a:endParaRPr dirty="0"/>
          </a:p>
          <a:p>
            <a:r>
              <a:rPr dirty="0"/>
              <a:t>Evidence and sources</a:t>
            </a:r>
          </a:p>
          <a:p>
            <a:r>
              <a:rPr dirty="0"/>
              <a:t>https://</a:t>
            </a:r>
            <a:r>
              <a:rPr dirty="0" err="1"/>
              <a:t>khanisolutions.com</a:t>
            </a:r>
            <a:r>
              <a:rPr dirty="0"/>
              <a:t>/</a:t>
            </a:r>
            <a:r>
              <a:rPr dirty="0" err="1"/>
              <a:t>AISolutions</a:t>
            </a:r>
            <a:r>
              <a:rPr dirty="0"/>
              <a:t>/</a:t>
            </a:r>
            <a:r>
              <a:rPr dirty="0" err="1"/>
              <a:t>sceye-haps-thermal.html#vehicle</a:t>
            </a:r>
            <a:endParaRPr dirty="0"/>
          </a:p>
          <a:p>
            <a:r>
              <a:rPr dirty="0"/>
              <a:t>Interview Deck/assets/cad/component-callout-</a:t>
            </a:r>
            <a:r>
              <a:rPr dirty="0" err="1"/>
              <a:t>guide.json</a:t>
            </a:r>
            <a:endParaRPr dirty="0"/>
          </a:p>
          <a:p>
            <a:r>
              <a:rPr dirty="0"/>
              <a:t>Stage-02-Diurnal-Thermal-R1/inputs/component-</a:t>
            </a:r>
            <a:r>
              <a:rPr dirty="0" err="1"/>
              <a:t>nodes.json</a:t>
            </a:r>
            <a:endParaRPr dirty="0"/>
          </a:p>
          <a:p>
            <a:endParaRPr dirty="0"/>
          </a:p>
          <a:p>
            <a:r>
              <a:rPr dirty="0"/>
              <a:t>Scope: independent public-reference interview study. Internal geometry, losses, properties and limits are representative assumptions. No </a:t>
            </a:r>
            <a:r>
              <a:rPr dirty="0" err="1"/>
              <a:t>Sceye</a:t>
            </a:r>
            <a:r>
              <a:rPr dirty="0"/>
              <a:t> proprietary CAD, physical test or qualification claim.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integrated mission connects the environment, hull/solar system, avionics, battery, payload, propulsion, structure and power manager. The initial model has 24 lumped thermal nodes. The Stage 06 telecom extension carries 28 states and five detailed case terminals. Source-derived connection diagrams map actual model instances and connect equations, but are not </a:t>
            </a:r>
            <a:r>
              <a:rPr dirty="0" err="1"/>
              <a:t>OMEdit</a:t>
            </a:r>
            <a:r>
              <a:rPr dirty="0"/>
              <a:t> screenshots. Finite heat capacity, conservative thermal ports, radiation, convection, power losses, heater control and battery energy storage interact in the full model. The detailed website opens the subsystems and time histories.</a:t>
            </a:r>
          </a:p>
          <a:p>
            <a:endParaRPr dirty="0"/>
          </a:p>
          <a:p>
            <a:r>
              <a:rPr dirty="0"/>
              <a:t>Evidence and sources</a:t>
            </a:r>
          </a:p>
          <a:p>
            <a:r>
              <a:rPr dirty="0"/>
              <a:t>https://</a:t>
            </a:r>
            <a:r>
              <a:rPr dirty="0" err="1"/>
              <a:t>khanisolutions.com</a:t>
            </a:r>
            <a:r>
              <a:rPr dirty="0"/>
              <a:t>/</a:t>
            </a:r>
            <a:r>
              <a:rPr dirty="0" err="1"/>
              <a:t>AISolutions</a:t>
            </a:r>
            <a:r>
              <a:rPr dirty="0"/>
              <a:t>/</a:t>
            </a:r>
            <a:r>
              <a:rPr dirty="0" err="1"/>
              <a:t>sceye-haps-thermal.html#mission-explorer</a:t>
            </a:r>
            <a:endParaRPr dirty="0"/>
          </a:p>
          <a:p>
            <a:r>
              <a:rPr dirty="0"/>
              <a:t>https://</a:t>
            </a:r>
            <a:r>
              <a:rPr dirty="0" err="1"/>
              <a:t>khanisolutions.com</a:t>
            </a:r>
            <a:r>
              <a:rPr dirty="0"/>
              <a:t>/</a:t>
            </a:r>
            <a:r>
              <a:rPr dirty="0" err="1"/>
              <a:t>AISolutions</a:t>
            </a:r>
            <a:r>
              <a:rPr dirty="0"/>
              <a:t>/</a:t>
            </a:r>
            <a:r>
              <a:rPr dirty="0" err="1"/>
              <a:t>sceye-thermal-interview.html#integrated-explorer</a:t>
            </a:r>
            <a:endParaRPr dirty="0"/>
          </a:p>
          <a:p>
            <a:r>
              <a:rPr dirty="0"/>
              <a:t>Stage-02-Diurnal-Thermal-R1/source/</a:t>
            </a:r>
            <a:r>
              <a:rPr dirty="0" err="1"/>
              <a:t>HAPSDiurnal.mo</a:t>
            </a:r>
            <a:endParaRPr dirty="0"/>
          </a:p>
          <a:p>
            <a:r>
              <a:rPr dirty="0"/>
              <a:t>Stage-06-Interview-Evidence-R1/results/engineering/</a:t>
            </a:r>
            <a:r>
              <a:rPr dirty="0" err="1"/>
              <a:t>summary.json</a:t>
            </a:r>
            <a:endParaRPr dirty="0"/>
          </a:p>
          <a:p>
            <a:endParaRPr dirty="0"/>
          </a:p>
          <a:p>
            <a:r>
              <a:rPr dirty="0"/>
              <a:t>Scope: independent public-reference interview study. Internal geometry, losses, properties and limits are representative assumptions. No </a:t>
            </a:r>
            <a:r>
              <a:rPr dirty="0" err="1"/>
              <a:t>Sceye</a:t>
            </a:r>
            <a:r>
              <a:rPr dirty="0"/>
              <a:t> proprietary CAD, physical test or qualification claim.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plot uses the settled selected-design mission. Five telecom terminals share the spatially derived heat paths. The maximum case surrogate is 61.832°C, minimum case surrogate 7.14°C, minimum SOC 53.04%, total DC energy 69.01 kWh/day and all-heater energy 2.631 kWh/day. Modeled full-workload availability is 100% under the chosen temperature and SOC screen. It does not represent measured throughput or vehicle qualification. This architecture has changed from the early aggregate payload, so daily energy cannot be compared across all stages as if loads were unchanged.</a:t>
            </a:r>
            <a:br>
              <a:rPr lang="en-US" dirty="0"/>
            </a:br>
            <a:r>
              <a:rPr lang="en-US" b="1" dirty="0"/>
              <a:t>outside air temperature</a:t>
            </a:r>
            <a:r>
              <a:rPr lang="en-US" dirty="0"/>
              <a:t>, we assumed a smooth daily variation at the </a:t>
            </a:r>
            <a:r>
              <a:rPr lang="en-US" b="1" dirty="0"/>
              <a:t>20 km study altitude</a:t>
            </a:r>
            <a:r>
              <a:rPr lang="en-US" dirty="0"/>
              <a:t>:</a:t>
            </a:r>
          </a:p>
          <a:p>
            <a:r>
              <a:rPr lang="en-US" b="1" dirty="0"/>
              <a:t>Average:</a:t>
            </a:r>
            <a:r>
              <a:rPr lang="en-US" dirty="0"/>
              <a:t> −56.5°C</a:t>
            </a:r>
          </a:p>
          <a:p>
            <a:r>
              <a:rPr lang="en-US" b="1" dirty="0"/>
              <a:t>Coldest:</a:t>
            </a:r>
            <a:r>
              <a:rPr lang="en-US" dirty="0"/>
              <a:t> −60.5°C at 3 a.m.</a:t>
            </a:r>
          </a:p>
          <a:p>
            <a:r>
              <a:rPr lang="en-US" b="1" dirty="0"/>
              <a:t>Warmest:</a:t>
            </a:r>
            <a:r>
              <a:rPr lang="en-US" dirty="0"/>
              <a:t> −52.5°C at 3 p.m.</a:t>
            </a:r>
          </a:p>
          <a:p>
            <a:endParaRPr dirty="0"/>
          </a:p>
          <a:p>
            <a:endParaRPr dirty="0"/>
          </a:p>
          <a:p>
            <a:r>
              <a:rPr dirty="0"/>
              <a:t>Evidence and sources</a:t>
            </a:r>
          </a:p>
          <a:p>
            <a:r>
              <a:rPr dirty="0"/>
              <a:t>https://</a:t>
            </a:r>
            <a:r>
              <a:rPr dirty="0" err="1"/>
              <a:t>khanisolutions.com</a:t>
            </a:r>
            <a:r>
              <a:rPr dirty="0"/>
              <a:t>/</a:t>
            </a:r>
            <a:r>
              <a:rPr dirty="0" err="1"/>
              <a:t>AISolutions</a:t>
            </a:r>
            <a:r>
              <a:rPr dirty="0"/>
              <a:t>/</a:t>
            </a:r>
            <a:r>
              <a:rPr dirty="0" err="1"/>
              <a:t>sceye-thermal-interview.html#integrated-explorer</a:t>
            </a:r>
            <a:endParaRPr dirty="0"/>
          </a:p>
          <a:p>
            <a:r>
              <a:rPr dirty="0"/>
              <a:t>Stage-06-Interview-Evidence-R1/results/engineering/</a:t>
            </a:r>
            <a:r>
              <a:rPr dirty="0" err="1"/>
              <a:t>explorer.json</a:t>
            </a:r>
            <a:endParaRPr dirty="0"/>
          </a:p>
          <a:p>
            <a:endParaRPr dirty="0"/>
          </a:p>
          <a:p>
            <a:r>
              <a:rPr dirty="0"/>
              <a:t>Scope: independent public-reference interview study. Internal geometry, losses, properties and limits are representative assumptions. No </a:t>
            </a:r>
            <a:r>
              <a:rPr dirty="0" err="1"/>
              <a:t>Sceye</a:t>
            </a:r>
            <a:r>
              <a:rPr dirty="0"/>
              <a:t> proprietary CAD, physical test or qualification claim.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Design, analyze, and optimize active and passive thermal control systems for high-altitude aerospace platforms</a:t>
            </a:r>
          </a:p>
          <a:p>
            <a:endParaRPr dirty="0"/>
          </a:p>
          <a:p>
            <a:r>
              <a:rPr dirty="0"/>
              <a:t>I held the mission and useful loads fixed while comparing heater caps and cold radiator coupling. The original case uses 5.263 kWh/day of heater energy. Larger caps alone use 7.288. Reducing cold radiator coupling alone uses 2.029. The combined path/control case uses 2.420, a 54.0% reduction relative to the matched original. The combined case still misses the motor’s chosen −5°C target, which motivates the PI-control study. Actual switch, insulation and interface products still need selection and test.</a:t>
            </a:r>
          </a:p>
          <a:p>
            <a:br>
              <a:rPr lang="en-US" dirty="0"/>
            </a:br>
            <a:r>
              <a:rPr lang="en-US" b="1" dirty="0" err="1"/>
              <a:t>Baseline</a:t>
            </a:r>
            <a:r>
              <a:rPr lang="en-US" dirty="0" err="1"/>
              <a:t>Fixed</a:t>
            </a:r>
            <a:r>
              <a:rPr lang="en-US" dirty="0"/>
              <a:t> radiator connections and original heaters5.26 kWh/day</a:t>
            </a:r>
          </a:p>
          <a:p>
            <a:r>
              <a:rPr lang="en-US" b="1" dirty="0"/>
              <a:t>Larger </a:t>
            </a:r>
            <a:r>
              <a:rPr lang="en-US" b="1" dirty="0" err="1"/>
              <a:t>heaters</a:t>
            </a:r>
            <a:r>
              <a:rPr lang="en-US" dirty="0" err="1"/>
              <a:t>Increase</a:t>
            </a:r>
            <a:r>
              <a:rPr lang="en-US" dirty="0"/>
              <a:t> avionics, payload and motor heater capacity7.29 kWh/day</a:t>
            </a:r>
          </a:p>
          <a:p>
            <a:r>
              <a:rPr lang="en-US" b="1" dirty="0"/>
              <a:t>Night </a:t>
            </a:r>
            <a:r>
              <a:rPr lang="en-US" b="1" dirty="0" err="1"/>
              <a:t>isolation</a:t>
            </a:r>
            <a:r>
              <a:rPr lang="en-US" dirty="0" err="1"/>
              <a:t>Temperature</a:t>
            </a:r>
            <a:r>
              <a:rPr lang="en-US" dirty="0"/>
              <a:t>-controlled radiator connections; original heaters2.03 kWh/day</a:t>
            </a:r>
          </a:p>
          <a:p>
            <a:r>
              <a:rPr lang="en-US" b="1" dirty="0" err="1"/>
              <a:t>Combined</a:t>
            </a:r>
            <a:r>
              <a:rPr lang="en-US" dirty="0" err="1"/>
              <a:t>Same</a:t>
            </a:r>
            <a:r>
              <a:rPr lang="en-US" dirty="0"/>
              <a:t> isolation </a:t>
            </a:r>
            <a:r>
              <a:rPr lang="en-US" b="1" dirty="0"/>
              <a:t>plus motor heater capacity increased from 100 to 300 W</a:t>
            </a:r>
            <a:r>
              <a:rPr lang="en-US" dirty="0"/>
              <a:t>2.42 kWh/day</a:t>
            </a:r>
          </a:p>
          <a:p>
            <a:br>
              <a:rPr lang="en-US" dirty="0"/>
            </a:br>
            <a:endParaRPr dirty="0"/>
          </a:p>
          <a:p>
            <a:r>
              <a:rPr dirty="0"/>
              <a:t>Evidence and sources</a:t>
            </a:r>
          </a:p>
          <a:p>
            <a:r>
              <a:rPr dirty="0"/>
              <a:t>https://</a:t>
            </a:r>
            <a:r>
              <a:rPr dirty="0" err="1"/>
              <a:t>khanisolutions.com</a:t>
            </a:r>
            <a:r>
              <a:rPr dirty="0"/>
              <a:t>/</a:t>
            </a:r>
            <a:r>
              <a:rPr dirty="0" err="1"/>
              <a:t>AISolutions</a:t>
            </a:r>
            <a:r>
              <a:rPr dirty="0"/>
              <a:t>/</a:t>
            </a:r>
            <a:r>
              <a:rPr dirty="0" err="1"/>
              <a:t>sceye-haps-thermal.html#night-explorer</a:t>
            </a:r>
            <a:endParaRPr dirty="0"/>
          </a:p>
          <a:p>
            <a:r>
              <a:rPr dirty="0"/>
              <a:t>https://</a:t>
            </a:r>
            <a:r>
              <a:rPr dirty="0" err="1"/>
              <a:t>khanisolutions.com</a:t>
            </a:r>
            <a:r>
              <a:rPr dirty="0"/>
              <a:t>/</a:t>
            </a:r>
            <a:r>
              <a:rPr dirty="0" err="1"/>
              <a:t>AISolutions</a:t>
            </a:r>
            <a:r>
              <a:rPr dirty="0"/>
              <a:t>/</a:t>
            </a:r>
            <a:r>
              <a:rPr dirty="0" err="1"/>
              <a:t>sceye-haps-thermal.html#motor-explorer</a:t>
            </a:r>
            <a:endParaRPr dirty="0"/>
          </a:p>
          <a:p>
            <a:r>
              <a:rPr dirty="0"/>
              <a:t>https://</a:t>
            </a:r>
            <a:r>
              <a:rPr dirty="0" err="1"/>
              <a:t>khanisolutions.com</a:t>
            </a:r>
            <a:r>
              <a:rPr dirty="0"/>
              <a:t>/</a:t>
            </a:r>
            <a:r>
              <a:rPr dirty="0" err="1"/>
              <a:t>AISolutions</a:t>
            </a:r>
            <a:r>
              <a:rPr dirty="0"/>
              <a:t>/</a:t>
            </a:r>
            <a:r>
              <a:rPr dirty="0" err="1"/>
              <a:t>sceye-thermal-interview.html#integrated-explorer</a:t>
            </a:r>
            <a:endParaRPr dirty="0"/>
          </a:p>
          <a:p>
            <a:r>
              <a:rPr dirty="0"/>
              <a:t>https://</a:t>
            </a:r>
            <a:r>
              <a:rPr dirty="0" err="1"/>
              <a:t>khanisolutions.com</a:t>
            </a:r>
            <a:r>
              <a:rPr dirty="0"/>
              <a:t>/assets/studies/</a:t>
            </a:r>
            <a:r>
              <a:rPr dirty="0" err="1"/>
              <a:t>sceye</a:t>
            </a:r>
            <a:r>
              <a:rPr dirty="0"/>
              <a:t>-haps/stage-06/documents/Design-Decision-</a:t>
            </a:r>
            <a:r>
              <a:rPr dirty="0" err="1"/>
              <a:t>Record.md</a:t>
            </a:r>
            <a:endParaRPr dirty="0"/>
          </a:p>
          <a:p>
            <a:endParaRPr dirty="0"/>
          </a:p>
          <a:p>
            <a:r>
              <a:rPr dirty="0"/>
              <a:t>Scope: independent public-reference interview study. Internal geometry, losses, properties and limits are representative assumptions. No </a:t>
            </a:r>
            <a:r>
              <a:rPr dirty="0" err="1"/>
              <a:t>Sceye</a:t>
            </a:r>
            <a:r>
              <a:rPr dirty="0"/>
              <a:t> proprietary CAD, physical test or qualification claim.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Perform steady-state and transient thermal analyses using analytical and numerical methods</a:t>
            </a:r>
          </a:p>
          <a:p>
            <a:endParaRPr/>
          </a:p>
          <a:p>
            <a:r>
              <a:t>The motor begins at −40°C. The delayed 300 W case reaches and holds the chosen −5±0.5°C band after 153.7 minutes and spends about 2.61 hours near capacity. A 270 W ceiling leaves 30 W hardware reserve but extends acquisition to 180.4 minutes. This is a warmup-time trade, not an efficiency gain. The isolated payload equilibria yield a 67.31°C hot peak and 22.51°C cold peak under fixed external power, solar hour, mounts and hull. These are not indefinite full-mission energy equilibria.</a:t>
            </a:r>
          </a:p>
          <a:p>
            <a:endParaRPr/>
          </a:p>
          <a:p>
            <a:r>
              <a:t>Evidence and sources</a:t>
            </a:r>
          </a:p>
          <a:p>
            <a:r>
              <a:t>https://khanisolutions.com/AISolutions/sceye-haps-thermal.html#startup-explorer</a:t>
            </a:r>
          </a:p>
          <a:p>
            <a:r>
              <a:t>https://khanisolutions.com/AISolutions/sceye-thermal-interview.html#integrated-explorer</a:t>
            </a:r>
          </a:p>
          <a:p>
            <a:r>
              <a:t>Stage-05-Cold-Startup-Delays-R1/results/summary.json</a:t>
            </a:r>
          </a:p>
          <a:p>
            <a:r>
              <a:t>Stage-06-Interview-Evidence-R1/results/engineering/summary.json</a:t>
            </a:r>
          </a:p>
          <a:p>
            <a:endParaRPr/>
          </a:p>
          <a:p>
            <a:r>
              <a:t>Scope: independent public-reference interview study. Internal geometry, losses, properties and limits are representative assumptions. No Sceye proprietary CAD, physical test or qualification claim.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Develop, validate, and maintain thermal models predicting system behavior across stratospheric and mission-specific operating conditions</a:t>
            </a:r>
          </a:p>
          <a:p>
            <a:endParaRPr/>
          </a:p>
          <a:p>
            <a:r>
              <a:t>I retain model hierarchy, source files, parameters, case overrides, solver outputs and numerical checks. The same classes support the baseline, control changes, startup delays, payload detail and faults. A 17 km case isolates pressure/convection sensitivity against the 20 km design basis. It is not a replay of Sceye’s actual trajectory. Maintaining this model means replacing selected assumptions with approved equipment and environment data while keeping configuration and verification traceable.</a:t>
            </a:r>
          </a:p>
          <a:p>
            <a:endParaRPr/>
          </a:p>
          <a:p>
            <a:r>
              <a:t>Evidence and sources</a:t>
            </a:r>
          </a:p>
          <a:p>
            <a:r>
              <a:t>https://khanisolutions.com/assets/studies/sceye-haps/stage-06/documents/Study-Requirements.md</a:t>
            </a:r>
          </a:p>
          <a:p>
            <a:r>
              <a:t>https://khanisolutions.com/AISolutions/sceye-thermal-interview.html#integrated-explorer</a:t>
            </a:r>
          </a:p>
          <a:p>
            <a:r>
              <a:t>https://khanisolutions.com/assets/studies/sceye-haps/stage-05/source/HAPSDiurnal.mo</a:t>
            </a:r>
          </a:p>
          <a:p>
            <a:r>
              <a:t>https://khanisolutions.com/AISolutions/sceye-haps-thermal.html#startup-checks</a:t>
            </a:r>
          </a:p>
          <a:p>
            <a:endParaRPr/>
          </a:p>
          <a:p>
            <a:r>
              <a:t>Scope: independent public-reference interview study. Internal geometry, losses, properties and limits are representative assumptions. No Sceye proprietary CAD, physical test or qualification claim.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Support selection, qualification, and trade studies for materials, insulation, coatings, radiators, and thermal interfaces</a:t>
            </a:r>
          </a:p>
          <a:p>
            <a:endParaRPr dirty="0"/>
          </a:p>
          <a:p>
            <a:r>
              <a:rPr dirty="0"/>
              <a:t>This is the earlier 120×80 mm, 85 W FEM board, with a one-way frozen tray boundary of 11.944°C. The nominal CPU bulk surrogate reaches 152.11°C, the improved effective through-board path reaches 58.31°C, and degraded pad conductivity produces 170.54°C. Those are study inputs and case-like bulk temperatures, not semiconductor junctions or qualified material performance. The later 240×180 mm telecom board is a different model. Contact pressure, pad aging, optical properties, moisture and assembly repeatability remain hardware questions.</a:t>
            </a:r>
          </a:p>
          <a:p>
            <a:r>
              <a:rPr lang="en-US" dirty="0"/>
              <a:t>The PCB in </a:t>
            </a:r>
            <a:r>
              <a:rPr lang="en-US" b="1" dirty="0"/>
              <a:t>slide 10 was 2 mm thick</a:t>
            </a:r>
            <a:r>
              <a:rPr lang="en-US" dirty="0"/>
              <a:t>, with overall dimensions of </a:t>
            </a:r>
            <a:r>
              <a:rPr lang="en-US" b="1" dirty="0"/>
              <a:t>120 × 80 mm</a:t>
            </a:r>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Underneath it, we modeled a </a:t>
            </a:r>
            <a:r>
              <a:rPr lang="en-US" b="1" dirty="0"/>
              <a:t>0.5 mm thermal pad</a:t>
            </a:r>
            <a:r>
              <a:rPr lang="en-US" dirty="0"/>
              <a:t> with </a:t>
            </a:r>
            <a:r>
              <a:rPr lang="en-US" b="1" dirty="0"/>
              <a:t>Thermal conductivity:</a:t>
            </a:r>
            <a:r>
              <a:rPr lang="en-US" dirty="0"/>
              <a:t> 3 W/</a:t>
            </a:r>
            <a:r>
              <a:rPr lang="en-US" dirty="0" err="1"/>
              <a:t>m·K</a:t>
            </a:r>
            <a:r>
              <a:rPr lang="en-US" dirty="0"/>
              <a:t>, connecting the board to the tray.</a:t>
            </a:r>
          </a:p>
          <a:p>
            <a:endParaRPr dirty="0"/>
          </a:p>
          <a:p>
            <a:r>
              <a:rPr dirty="0"/>
              <a:t>Evidence and sources</a:t>
            </a:r>
          </a:p>
          <a:p>
            <a:r>
              <a:rPr dirty="0"/>
              <a:t>https://</a:t>
            </a:r>
            <a:r>
              <a:rPr dirty="0" err="1"/>
              <a:t>khanisolutions.com</a:t>
            </a:r>
            <a:r>
              <a:rPr dirty="0"/>
              <a:t>/</a:t>
            </a:r>
            <a:r>
              <a:rPr dirty="0" err="1"/>
              <a:t>AISolutions</a:t>
            </a:r>
            <a:r>
              <a:rPr dirty="0"/>
              <a:t>/</a:t>
            </a:r>
            <a:r>
              <a:rPr dirty="0" err="1"/>
              <a:t>sceye-haps-thermal.html#pcb-spatial</a:t>
            </a:r>
            <a:endParaRPr dirty="0"/>
          </a:p>
          <a:p>
            <a:r>
              <a:rPr dirty="0"/>
              <a:t>Stage-03-Night-Control-Spatial-R1/review/</a:t>
            </a:r>
            <a:r>
              <a:rPr dirty="0" err="1"/>
              <a:t>pcb</a:t>
            </a:r>
            <a:r>
              <a:rPr dirty="0"/>
              <a:t>-thermal-</a:t>
            </a:r>
            <a:r>
              <a:rPr dirty="0" err="1"/>
              <a:t>comparison.png</a:t>
            </a:r>
            <a:endParaRPr dirty="0"/>
          </a:p>
          <a:p>
            <a:r>
              <a:rPr dirty="0"/>
              <a:t>https://</a:t>
            </a:r>
            <a:r>
              <a:rPr dirty="0" err="1"/>
              <a:t>khanisolutions.com</a:t>
            </a:r>
            <a:r>
              <a:rPr dirty="0"/>
              <a:t>/</a:t>
            </a:r>
            <a:r>
              <a:rPr dirty="0" err="1"/>
              <a:t>AISolutions</a:t>
            </a:r>
            <a:r>
              <a:rPr dirty="0"/>
              <a:t>/</a:t>
            </a:r>
            <a:r>
              <a:rPr dirty="0" err="1"/>
              <a:t>sceye-haps-thermal.html#night-inputs</a:t>
            </a:r>
            <a:endParaRPr dirty="0"/>
          </a:p>
          <a:p>
            <a:r>
              <a:rPr dirty="0"/>
              <a:t>https://</a:t>
            </a:r>
            <a:r>
              <a:rPr dirty="0" err="1"/>
              <a:t>khanisolutions.com</a:t>
            </a:r>
            <a:r>
              <a:rPr dirty="0"/>
              <a:t>/</a:t>
            </a:r>
            <a:r>
              <a:rPr dirty="0" err="1"/>
              <a:t>AISolutions</a:t>
            </a:r>
            <a:r>
              <a:rPr dirty="0"/>
              <a:t>/</a:t>
            </a:r>
            <a:r>
              <a:rPr dirty="0" err="1"/>
              <a:t>sceye-haps-thermal.html#night-explorer</a:t>
            </a:r>
            <a:endParaRPr dirty="0"/>
          </a:p>
          <a:p>
            <a:r>
              <a:rPr dirty="0"/>
              <a:t>https://</a:t>
            </a:r>
            <a:r>
              <a:rPr dirty="0" err="1"/>
              <a:t>khanisolutions.com</a:t>
            </a:r>
            <a:r>
              <a:rPr dirty="0"/>
              <a:t>/</a:t>
            </a:r>
            <a:r>
              <a:rPr dirty="0" err="1"/>
              <a:t>AISolutions</a:t>
            </a:r>
            <a:r>
              <a:rPr dirty="0"/>
              <a:t>/</a:t>
            </a:r>
            <a:r>
              <a:rPr dirty="0" err="1"/>
              <a:t>sceye-thermal-interview.html#spatial-explorer</a:t>
            </a:r>
            <a:endParaRPr dirty="0"/>
          </a:p>
          <a:p>
            <a:r>
              <a:rPr dirty="0"/>
              <a:t>https://</a:t>
            </a:r>
            <a:r>
              <a:rPr dirty="0" err="1"/>
              <a:t>khanisolutions.com</a:t>
            </a:r>
            <a:r>
              <a:rPr dirty="0"/>
              <a:t>/assets/studies/</a:t>
            </a:r>
            <a:r>
              <a:rPr dirty="0" err="1"/>
              <a:t>sceye</a:t>
            </a:r>
            <a:r>
              <a:rPr dirty="0"/>
              <a:t>-haps/stage-06/documents/Design-Decision-</a:t>
            </a:r>
            <a:r>
              <a:rPr dirty="0" err="1"/>
              <a:t>Record.md</a:t>
            </a:r>
            <a:endParaRPr dirty="0"/>
          </a:p>
          <a:p>
            <a:r>
              <a:rPr dirty="0"/>
              <a:t>https://</a:t>
            </a:r>
            <a:r>
              <a:rPr dirty="0" err="1"/>
              <a:t>khanisolutions.com</a:t>
            </a:r>
            <a:r>
              <a:rPr dirty="0"/>
              <a:t>/assets/studies/</a:t>
            </a:r>
            <a:r>
              <a:rPr dirty="0" err="1"/>
              <a:t>sceye</a:t>
            </a:r>
            <a:r>
              <a:rPr dirty="0"/>
              <a:t>-haps/stage-06/documents/Interface-</a:t>
            </a:r>
            <a:r>
              <a:rPr dirty="0" err="1"/>
              <a:t>Control.md</a:t>
            </a:r>
            <a:endParaRPr dirty="0"/>
          </a:p>
          <a:p>
            <a:endParaRPr dirty="0"/>
          </a:p>
          <a:p>
            <a:r>
              <a:rPr dirty="0"/>
              <a:t>Scope: independent public-reference interview study. Internal geometry, losses, properties and limits are representative assumptions. No </a:t>
            </a:r>
            <a:r>
              <a:rPr dirty="0" err="1"/>
              <a:t>Sceye</a:t>
            </a:r>
            <a:r>
              <a:rPr dirty="0"/>
              <a:t> proprietary CAD, physical test or qualification claim.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Define thermal requirements, margins, and operating limits for avionics, batteries, payloads, and structural components</a:t>
            </a:r>
          </a:p>
          <a:p>
            <a:endParaRPr dirty="0"/>
          </a:p>
          <a:p>
            <a:r>
              <a:rPr dirty="0"/>
              <a:t>I distinguish operating, startup, survival and analysis validity. In the Stage 06 screen, telecom cases must remain between −10 and 70°C. The selected 4.5 m² radiator with a 60 W/K effective attachment gives 61.83°C nominal maximum and 67.31°C in the isolated hot equilibrium. The fixed-link improved board still reaches 124.31°C and only 53.57% full-workload availability. The original ordinary-PCB model exceeds the 125°C analysis-validity guard and is rejected. It is not a credible 425°C hardware prediction. The selected radiator adds 3.93 kg of assumed panel mass relative to the 3.12 m² reference. Structural </a:t>
            </a:r>
            <a:r>
              <a:rPr dirty="0" err="1"/>
              <a:t>allowables</a:t>
            </a:r>
            <a:r>
              <a:rPr dirty="0"/>
              <a:t> and thermoelastic performance remain unallocated.</a:t>
            </a:r>
          </a:p>
          <a:p>
            <a:br>
              <a:rPr lang="en-US" dirty="0"/>
            </a:br>
            <a:r>
              <a:rPr lang="en-US" dirty="0"/>
              <a:t>Case 		Radiator area Hot-state 	conductance 	Cold-state conductance</a:t>
            </a:r>
          </a:p>
          <a:p>
            <a:r>
              <a:rPr lang="en-US" b="1" dirty="0"/>
              <a:t>Fixed link		3.12 m²1		5 W/K		15 W/K</a:t>
            </a:r>
            <a:r>
              <a:rPr lang="en-US" dirty="0"/>
              <a:t>—always connected</a:t>
            </a:r>
          </a:p>
          <a:p>
            <a:r>
              <a:rPr lang="en-US" b="1" dirty="0"/>
              <a:t>4.0 m² radiator	4.0 m²		60 W/K		1.8 W/K</a:t>
            </a:r>
            <a:endParaRPr lang="en-US" dirty="0"/>
          </a:p>
          <a:p>
            <a:r>
              <a:rPr lang="en-US" b="1" dirty="0"/>
              <a:t>4.5 m² radiator	4.5 m²		60 W/K		1.8 W/K</a:t>
            </a:r>
            <a:endParaRPr lang="en-US" dirty="0"/>
          </a:p>
          <a:p>
            <a:br>
              <a:rPr lang="en-US" dirty="0"/>
            </a:br>
            <a:endParaRPr dirty="0"/>
          </a:p>
          <a:p>
            <a:r>
              <a:rPr dirty="0"/>
              <a:t>Evidence and sources</a:t>
            </a:r>
          </a:p>
          <a:p>
            <a:r>
              <a:rPr dirty="0"/>
              <a:t>https://</a:t>
            </a:r>
            <a:r>
              <a:rPr dirty="0" err="1"/>
              <a:t>khanisolutions.com</a:t>
            </a:r>
            <a:r>
              <a:rPr dirty="0"/>
              <a:t>/assets/studies/</a:t>
            </a:r>
            <a:r>
              <a:rPr dirty="0" err="1"/>
              <a:t>sceye</a:t>
            </a:r>
            <a:r>
              <a:rPr dirty="0"/>
              <a:t>-haps/stage-06/documents/Study-</a:t>
            </a:r>
            <a:r>
              <a:rPr dirty="0" err="1"/>
              <a:t>Requirements.md</a:t>
            </a:r>
            <a:endParaRPr dirty="0"/>
          </a:p>
          <a:p>
            <a:r>
              <a:rPr dirty="0"/>
              <a:t>https://</a:t>
            </a:r>
            <a:r>
              <a:rPr dirty="0" err="1"/>
              <a:t>khanisolutions.com</a:t>
            </a:r>
            <a:r>
              <a:rPr dirty="0"/>
              <a:t>/</a:t>
            </a:r>
            <a:r>
              <a:rPr dirty="0" err="1"/>
              <a:t>AISolutions</a:t>
            </a:r>
            <a:r>
              <a:rPr dirty="0"/>
              <a:t>/</a:t>
            </a:r>
            <a:r>
              <a:rPr dirty="0" err="1"/>
              <a:t>sceye-thermal-interview.html#integrated-explorer</a:t>
            </a:r>
            <a:endParaRPr dirty="0"/>
          </a:p>
          <a:p>
            <a:r>
              <a:rPr dirty="0"/>
              <a:t>https://</a:t>
            </a:r>
            <a:r>
              <a:rPr dirty="0" err="1"/>
              <a:t>khanisolutions.com</a:t>
            </a:r>
            <a:r>
              <a:rPr dirty="0"/>
              <a:t>/</a:t>
            </a:r>
            <a:r>
              <a:rPr dirty="0" err="1"/>
              <a:t>AISolutions</a:t>
            </a:r>
            <a:r>
              <a:rPr dirty="0"/>
              <a:t>/</a:t>
            </a:r>
            <a:r>
              <a:rPr dirty="0" err="1"/>
              <a:t>sceye-haps-thermal.html#startup-explorer</a:t>
            </a:r>
            <a:endParaRPr dirty="0"/>
          </a:p>
          <a:p>
            <a:endParaRPr dirty="0"/>
          </a:p>
          <a:p>
            <a:r>
              <a:rPr dirty="0"/>
              <a:t>Scope: independent public-reference interview study. Internal geometry, losses, properties and limits are representative assumptions. No </a:t>
            </a:r>
            <a:r>
              <a:rPr dirty="0" err="1"/>
              <a:t>Sceye</a:t>
            </a:r>
            <a:r>
              <a:rPr dirty="0"/>
              <a:t> proprietary CAD, physical test or qualification claim.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Support environmental testing, including thermal vacuum, altitude simulation, and temperature cycling tests</a:t>
            </a:r>
          </a:p>
          <a:p>
            <a:endParaRPr dirty="0"/>
          </a:p>
          <a:p>
            <a:r>
              <a:rPr dirty="0"/>
              <a:t>The planned article uses separate heater blocks, plate sensors, a strap/sink sensor, shielded gas measurement, shroud temperature, chamber pressure and individual electrical power channels. The matrix starts with offset/time checks and room-temperature calibration, then reassembly repeatability, cold/hot operation, altitude pressure cases, radiation changes and guarded faults. Low-pressure air and thermal vacuum have different convection, so pressure, gas flow and wall radiation must be measured separately. No physical test, chamber operation or thermal cycling has been performed. The CAD image shows the representative Stage 06 telecom assembly proposed as the basis for an instrumented article, not completed hardware.</a:t>
            </a:r>
          </a:p>
          <a:p>
            <a:endParaRPr dirty="0"/>
          </a:p>
          <a:p>
            <a:r>
              <a:rPr dirty="0"/>
              <a:t>Evidence and sources</a:t>
            </a:r>
          </a:p>
          <a:p>
            <a:r>
              <a:rPr dirty="0"/>
              <a:t>https://</a:t>
            </a:r>
            <a:r>
              <a:rPr dirty="0" err="1"/>
              <a:t>khanisolutions.com</a:t>
            </a:r>
            <a:r>
              <a:rPr dirty="0"/>
              <a:t>/assets/studies/</a:t>
            </a:r>
            <a:r>
              <a:rPr dirty="0" err="1"/>
              <a:t>sceye</a:t>
            </a:r>
            <a:r>
              <a:rPr dirty="0"/>
              <a:t>-haps/stage-06/documents/Test-and-Correlation-</a:t>
            </a:r>
            <a:r>
              <a:rPr dirty="0" err="1"/>
              <a:t>Plan.md</a:t>
            </a:r>
            <a:endParaRPr dirty="0"/>
          </a:p>
          <a:p>
            <a:r>
              <a:rPr dirty="0"/>
              <a:t>https://</a:t>
            </a:r>
            <a:r>
              <a:rPr dirty="0" err="1"/>
              <a:t>khanisolutions.com</a:t>
            </a:r>
            <a:r>
              <a:rPr dirty="0"/>
              <a:t>/assets/studies/</a:t>
            </a:r>
            <a:r>
              <a:rPr dirty="0" err="1"/>
              <a:t>sceye</a:t>
            </a:r>
            <a:r>
              <a:rPr dirty="0"/>
              <a:t>-haps/stage-06/documents/Test-</a:t>
            </a:r>
            <a:r>
              <a:rPr dirty="0" err="1"/>
              <a:t>Matrix.csv</a:t>
            </a:r>
            <a:endParaRPr dirty="0"/>
          </a:p>
          <a:p>
            <a:r>
              <a:rPr dirty="0"/>
              <a:t>https://</a:t>
            </a:r>
            <a:r>
              <a:rPr dirty="0" err="1"/>
              <a:t>khanisolutions.com</a:t>
            </a:r>
            <a:r>
              <a:rPr dirty="0"/>
              <a:t>/assets/studies/</a:t>
            </a:r>
            <a:r>
              <a:rPr dirty="0" err="1"/>
              <a:t>sceye</a:t>
            </a:r>
            <a:r>
              <a:rPr dirty="0"/>
              <a:t>-haps/stage-06/documents/Sensor-</a:t>
            </a:r>
            <a:r>
              <a:rPr dirty="0" err="1"/>
              <a:t>Map.csv</a:t>
            </a:r>
            <a:endParaRPr dirty="0"/>
          </a:p>
          <a:p>
            <a:r>
              <a:rPr dirty="0"/>
              <a:t>https://</a:t>
            </a:r>
            <a:r>
              <a:rPr dirty="0" err="1"/>
              <a:t>khanisolutions.com</a:t>
            </a:r>
            <a:r>
              <a:rPr dirty="0"/>
              <a:t>/assets/studies/</a:t>
            </a:r>
            <a:r>
              <a:rPr dirty="0" err="1"/>
              <a:t>sceye</a:t>
            </a:r>
            <a:r>
              <a:rPr dirty="0"/>
              <a:t>-haps/stage-06/documents/Test-Data-</a:t>
            </a:r>
            <a:r>
              <a:rPr dirty="0" err="1"/>
              <a:t>Template.csv</a:t>
            </a:r>
            <a:endParaRPr dirty="0"/>
          </a:p>
          <a:p>
            <a:r>
              <a:rPr dirty="0"/>
              <a:t>https://</a:t>
            </a:r>
            <a:r>
              <a:rPr dirty="0" err="1"/>
              <a:t>khanisolutions.com</a:t>
            </a:r>
            <a:r>
              <a:rPr dirty="0"/>
              <a:t>/assets/studies/</a:t>
            </a:r>
            <a:r>
              <a:rPr dirty="0" err="1"/>
              <a:t>sceye</a:t>
            </a:r>
            <a:r>
              <a:rPr dirty="0"/>
              <a:t>-haps/stage-06/documents/Standards-</a:t>
            </a:r>
            <a:r>
              <a:rPr dirty="0" err="1"/>
              <a:t>Applicability.md</a:t>
            </a:r>
            <a:endParaRPr dirty="0"/>
          </a:p>
          <a:p>
            <a:endParaRPr dirty="0"/>
          </a:p>
          <a:p>
            <a:r>
              <a:rPr dirty="0"/>
              <a:t>Scope: independent public-reference interview study. Internal geometry, losses, properties and limits are representative assumptions. No </a:t>
            </a:r>
            <a:r>
              <a:rPr dirty="0" err="1"/>
              <a:t>Sceye</a:t>
            </a:r>
            <a:r>
              <a:rPr dirty="0"/>
              <a:t> proprietary CAD, physical test or qualification claim.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Analyze test data, correlate results with thermal models, and drive design updates as needed</a:t>
            </a:r>
          </a:p>
          <a:p>
            <a:endParaRPr/>
          </a:p>
          <a:p>
            <a:r>
              <a:t>This exercise demonstrates calibration, parameter freezing and held-out prediction using generated observations. It uses all 361 held-out samples. Component RMSE is 0.207 K and plate RMSE is 0.154 K. No held-out retuning occurs. Shared model topology limits independence. These numbers demonstrate a correlation workflow, not hardware validation. A real campaign must replace generated data with calibrated measurements and include uncertainty, repeatability and model inadequacy.</a:t>
            </a:r>
          </a:p>
          <a:p>
            <a:endParaRPr/>
          </a:p>
          <a:p>
            <a:r>
              <a:t>Evidence and sources</a:t>
            </a:r>
          </a:p>
          <a:p>
            <a:r>
              <a:t>https://khanisolutions.com/AISolutions/sceye-thermal-interview.html#step-5</a:t>
            </a:r>
          </a:p>
          <a:p>
            <a:r>
              <a:t>https://khanisolutions.com/assets/studies/sceye-haps/stage-06/results/correlation/summary.json</a:t>
            </a:r>
          </a:p>
          <a:p>
            <a:r>
              <a:t>https://khanisolutions.com/assets/studies/sceye-haps/stage-06/documents/Uncertainty-Budget.csv</a:t>
            </a:r>
          </a:p>
          <a:p>
            <a:r>
              <a:t>https://khanisolutions.com/assets/studies/sceye-haps/stage-06/documents/Design-Decision-Record.md</a:t>
            </a:r>
          </a:p>
          <a:p>
            <a:endParaRPr/>
          </a:p>
          <a:p>
            <a:r>
              <a:t>Scope: independent public-reference interview study. Internal geometry, losses, properties and limits are representative assumptions. No Sceye proprietary CAD, physical test or qualification claim.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Collaborate with mechanical, electrical, systems, and manufacturing teams to resolve real-world thermal challenges</a:t>
            </a:r>
          </a:p>
          <a:p>
            <a:endParaRPr dirty="0"/>
          </a:p>
          <a:p>
            <a:r>
              <a:rPr dirty="0"/>
              <a:t>The interface-control record separates mechanical contact and preload, material </a:t>
            </a:r>
            <a:r>
              <a:rPr dirty="0" err="1"/>
              <a:t>stackup</a:t>
            </a:r>
            <a:r>
              <a:rPr dirty="0"/>
              <a:t>, harness and venting routes, power maps, heater protection, sensor behavior and system mode logic. Those decisions affect the thermal model and manufacturing repeatability. This slide demonstrates preparation for cross-functional review. No </a:t>
            </a:r>
            <a:r>
              <a:rPr dirty="0" err="1"/>
              <a:t>Sceye</a:t>
            </a:r>
            <a:r>
              <a:rPr dirty="0"/>
              <a:t> production team sign-off or real collaboration is claimed. A representative CAD assembly supports the interface discussion.</a:t>
            </a:r>
          </a:p>
          <a:p>
            <a:endParaRPr lang="en-US" dirty="0"/>
          </a:p>
          <a:p>
            <a:r>
              <a:rPr lang="en-US" dirty="0"/>
              <a:t>Team		Information or decisions needed</a:t>
            </a:r>
          </a:p>
          <a:p>
            <a:r>
              <a:rPr lang="en-US" b="1" dirty="0"/>
              <a:t>Mechanical		</a:t>
            </a:r>
            <a:r>
              <a:rPr lang="en-US" dirty="0"/>
              <a:t>Mounting locations, contact area, clamp force, materials and thermal straps</a:t>
            </a:r>
          </a:p>
          <a:p>
            <a:r>
              <a:rPr lang="en-US" b="1" dirty="0"/>
              <a:t>Electrical		</a:t>
            </a:r>
            <a:r>
              <a:rPr lang="en-US" dirty="0"/>
              <a:t>Equipment power losses, operating modes, heater power and sensor interfaces</a:t>
            </a:r>
          </a:p>
          <a:p>
            <a:r>
              <a:rPr lang="en-US" b="1" dirty="0"/>
              <a:t>Systems		</a:t>
            </a:r>
            <a:r>
              <a:rPr lang="en-US" dirty="0"/>
              <a:t>Mission profiles, temperature limits, startup rules and fault responses</a:t>
            </a:r>
          </a:p>
          <a:p>
            <a:r>
              <a:rPr lang="en-US" b="1" dirty="0"/>
              <a:t>Manufacturing	</a:t>
            </a:r>
            <a:r>
              <a:rPr lang="en-US" dirty="0"/>
              <a:t>Pad compression, assembly tolerances, surface preparation and repeatability</a:t>
            </a:r>
          </a:p>
          <a:p>
            <a:endParaRPr lang="en-US" dirty="0"/>
          </a:p>
          <a:p>
            <a:endParaRPr dirty="0"/>
          </a:p>
          <a:p>
            <a:r>
              <a:rPr dirty="0"/>
              <a:t>Evidence and sources</a:t>
            </a:r>
          </a:p>
          <a:p>
            <a:r>
              <a:rPr dirty="0"/>
              <a:t>https://</a:t>
            </a:r>
            <a:r>
              <a:rPr dirty="0" err="1"/>
              <a:t>khanisolutions.com</a:t>
            </a:r>
            <a:r>
              <a:rPr dirty="0"/>
              <a:t>/assets/studies/</a:t>
            </a:r>
            <a:r>
              <a:rPr dirty="0" err="1"/>
              <a:t>sceye</a:t>
            </a:r>
            <a:r>
              <a:rPr dirty="0"/>
              <a:t>-haps/stage-06/documents/Interface-</a:t>
            </a:r>
            <a:r>
              <a:rPr dirty="0" err="1"/>
              <a:t>Control.md</a:t>
            </a:r>
            <a:endParaRPr dirty="0"/>
          </a:p>
          <a:p>
            <a:r>
              <a:rPr dirty="0"/>
              <a:t>https://</a:t>
            </a:r>
            <a:r>
              <a:rPr dirty="0" err="1"/>
              <a:t>khanisolutions.com</a:t>
            </a:r>
            <a:r>
              <a:rPr dirty="0"/>
              <a:t>/assets/studies/</a:t>
            </a:r>
            <a:r>
              <a:rPr dirty="0" err="1"/>
              <a:t>sceye</a:t>
            </a:r>
            <a:r>
              <a:rPr dirty="0"/>
              <a:t>-haps/stage-06/documents/Design-Review-</a:t>
            </a:r>
            <a:r>
              <a:rPr dirty="0" err="1"/>
              <a:t>Checklist.csv</a:t>
            </a:r>
            <a:endParaRPr dirty="0"/>
          </a:p>
          <a:p>
            <a:r>
              <a:rPr dirty="0"/>
              <a:t>https://</a:t>
            </a:r>
            <a:r>
              <a:rPr dirty="0" err="1"/>
              <a:t>khanisolutions.com</a:t>
            </a:r>
            <a:r>
              <a:rPr dirty="0"/>
              <a:t>/assets/studies/</a:t>
            </a:r>
            <a:r>
              <a:rPr dirty="0" err="1"/>
              <a:t>sceye</a:t>
            </a:r>
            <a:r>
              <a:rPr dirty="0"/>
              <a:t>-haps/stage-06/documents/Risk-</a:t>
            </a:r>
            <a:r>
              <a:rPr dirty="0" err="1"/>
              <a:t>Register.csv</a:t>
            </a:r>
            <a:endParaRPr dirty="0"/>
          </a:p>
          <a:p>
            <a:endParaRPr dirty="0"/>
          </a:p>
          <a:p>
            <a:r>
              <a:rPr dirty="0"/>
              <a:t>Scope: independent public-reference interview study. Internal geometry, losses, properties and limits are representative assumptions. No </a:t>
            </a:r>
            <a:r>
              <a:rPr dirty="0" err="1"/>
              <a:t>Sceye</a:t>
            </a:r>
            <a:r>
              <a:rPr dirty="0"/>
              <a:t> proprietary CAD, physical test or qualification claim.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Document designs, analyses, test results, and compliance with applicable engineering standards</a:t>
            </a:r>
          </a:p>
          <a:p>
            <a:endParaRPr dirty="0"/>
          </a:p>
          <a:p>
            <a:r>
              <a:rPr dirty="0"/>
              <a:t>Every major decision links assumptions, model source, raw outputs, numerical checks and open verification actions. The standards record treats DO-160 and GEVS as candidate frameworks subject to the actual vehicle authority’s edition, category and tailoring decisions. NIST TN 1297 supports uncertainty vocabulary. None supplies an automatic HAPS test level or a compliance determination. An analysis report and a synthetic fit do not replace the physical verification program.</a:t>
            </a:r>
          </a:p>
          <a:p>
            <a:endParaRPr lang="en-US" b="1" dirty="0"/>
          </a:p>
          <a:p>
            <a:r>
              <a:rPr lang="en-US" b="1" dirty="0"/>
              <a:t>DO-160 — environmental testing for aircraft equipment.</a:t>
            </a:r>
            <a:br>
              <a:rPr lang="en-US" dirty="0"/>
            </a:br>
            <a:r>
              <a:rPr lang="en-US" dirty="0"/>
              <a:t>Published by RTCA, it defines test conditions and procedures for airborne electronics, including temperature, altitude and electromagnetic environments. For our project, it helps frame questions such as: </a:t>
            </a:r>
            <a:r>
              <a:rPr lang="en-US" b="1" dirty="0"/>
              <a:t>Will the electronics operate through cold, low-pressure flight conditions?</a:t>
            </a:r>
            <a:r>
              <a:rPr lang="en-US" dirty="0"/>
              <a:t> </a:t>
            </a:r>
            <a:r>
              <a:rPr lang="en-US" dirty="0">
                <a:hlinkClick r:id="rId3"/>
              </a:rPr>
              <a:t>RTCA overview</a:t>
            </a:r>
            <a:endParaRPr lang="en-US" dirty="0"/>
          </a:p>
          <a:p>
            <a:r>
              <a:rPr lang="en-US" b="1" dirty="0"/>
              <a:t>GEVS — General Environmental Verification Standard.</a:t>
            </a:r>
            <a:br>
              <a:rPr lang="en-US" dirty="0"/>
            </a:br>
            <a:r>
              <a:rPr lang="en-US" dirty="0"/>
              <a:t>This is NASA Goddard’s framework for verifying spaceflight payloads, subsystems and components through testing and analysis. It provides useful verification practices, but </a:t>
            </a:r>
            <a:r>
              <a:rPr lang="en-US" b="1" dirty="0"/>
              <a:t>it is not automatically applicable to </a:t>
            </a:r>
            <a:r>
              <a:rPr lang="en-US" b="1" dirty="0" err="1"/>
              <a:t>Sceye’s</a:t>
            </a:r>
            <a:r>
              <a:rPr lang="en-US" b="1" dirty="0"/>
              <a:t> airship</a:t>
            </a:r>
            <a:r>
              <a:rPr lang="en-US" dirty="0"/>
              <a:t>. </a:t>
            </a:r>
            <a:r>
              <a:rPr lang="en-US" dirty="0">
                <a:hlinkClick r:id="rId4"/>
              </a:rPr>
              <a:t>NASA’s GEVS description</a:t>
            </a:r>
            <a:endParaRPr lang="en-US" dirty="0"/>
          </a:p>
          <a:p>
            <a:r>
              <a:rPr lang="en-US" b="1" dirty="0"/>
              <a:t>NIST uncertainty guidance — how confidently can we trust a measurement?</a:t>
            </a:r>
            <a:br>
              <a:rPr lang="en-US" dirty="0"/>
            </a:br>
            <a:r>
              <a:rPr lang="en-US" dirty="0"/>
              <a:t>NIST Technical Note 1297 explains how to combine uncertainty from sources such as sensor calibration, data acquisition and repeatability, then report a result with a justified uncertainty interval. For example, a temperature measurement should include its uncertainty—not just a precise-looking number. </a:t>
            </a:r>
            <a:r>
              <a:rPr lang="en-US" dirty="0">
                <a:hlinkClick r:id="rId5"/>
              </a:rPr>
              <a:t>NIST guidance</a:t>
            </a:r>
            <a:endParaRPr lang="en-US" dirty="0"/>
          </a:p>
          <a:p>
            <a:endParaRPr dirty="0"/>
          </a:p>
          <a:p>
            <a:r>
              <a:rPr dirty="0"/>
              <a:t>Evidence and sources</a:t>
            </a:r>
          </a:p>
          <a:p>
            <a:r>
              <a:rPr dirty="0"/>
              <a:t>https://</a:t>
            </a:r>
            <a:r>
              <a:rPr dirty="0" err="1"/>
              <a:t>khanisolutions.com</a:t>
            </a:r>
            <a:r>
              <a:rPr dirty="0"/>
              <a:t>/assets/studies/</a:t>
            </a:r>
            <a:r>
              <a:rPr dirty="0" err="1"/>
              <a:t>sceye</a:t>
            </a:r>
            <a:r>
              <a:rPr dirty="0"/>
              <a:t>-haps/stage-06/documents/Study-</a:t>
            </a:r>
            <a:r>
              <a:rPr dirty="0" err="1"/>
              <a:t>Requirements.md</a:t>
            </a:r>
            <a:endParaRPr dirty="0"/>
          </a:p>
          <a:p>
            <a:r>
              <a:rPr dirty="0"/>
              <a:t>https://</a:t>
            </a:r>
            <a:r>
              <a:rPr dirty="0" err="1"/>
              <a:t>khanisolutions.com</a:t>
            </a:r>
            <a:r>
              <a:rPr dirty="0"/>
              <a:t>/assets/studies/</a:t>
            </a:r>
            <a:r>
              <a:rPr dirty="0" err="1"/>
              <a:t>sceye</a:t>
            </a:r>
            <a:r>
              <a:rPr dirty="0"/>
              <a:t>-haps/stage-05/source/</a:t>
            </a:r>
            <a:r>
              <a:rPr dirty="0" err="1"/>
              <a:t>HAPSDiurnal.mo</a:t>
            </a:r>
            <a:endParaRPr dirty="0"/>
          </a:p>
          <a:p>
            <a:r>
              <a:rPr dirty="0"/>
              <a:t>https://</a:t>
            </a:r>
            <a:r>
              <a:rPr dirty="0" err="1"/>
              <a:t>khanisolutions.com</a:t>
            </a:r>
            <a:r>
              <a:rPr dirty="0"/>
              <a:t>/assets/studies/</a:t>
            </a:r>
            <a:r>
              <a:rPr dirty="0" err="1"/>
              <a:t>sceye</a:t>
            </a:r>
            <a:r>
              <a:rPr dirty="0"/>
              <a:t>-haps/stage-06/documents/Design-Decision-</a:t>
            </a:r>
            <a:r>
              <a:rPr dirty="0" err="1"/>
              <a:t>Record.md</a:t>
            </a:r>
            <a:endParaRPr dirty="0"/>
          </a:p>
          <a:p>
            <a:r>
              <a:rPr dirty="0"/>
              <a:t>https://</a:t>
            </a:r>
            <a:r>
              <a:rPr dirty="0" err="1"/>
              <a:t>khanisolutions.com</a:t>
            </a:r>
            <a:r>
              <a:rPr dirty="0"/>
              <a:t>/assets/studies/</a:t>
            </a:r>
            <a:r>
              <a:rPr dirty="0" err="1"/>
              <a:t>sceye</a:t>
            </a:r>
            <a:r>
              <a:rPr dirty="0"/>
              <a:t>-haps/stage-06/documents/Standards-</a:t>
            </a:r>
            <a:r>
              <a:rPr dirty="0" err="1"/>
              <a:t>Applicability.md</a:t>
            </a:r>
            <a:endParaRPr dirty="0"/>
          </a:p>
          <a:p>
            <a:r>
              <a:rPr dirty="0"/>
              <a:t>https://</a:t>
            </a:r>
            <a:r>
              <a:rPr dirty="0" err="1"/>
              <a:t>khanisolutions.com</a:t>
            </a:r>
            <a:r>
              <a:rPr dirty="0"/>
              <a:t>/assets/studies/</a:t>
            </a:r>
            <a:r>
              <a:rPr dirty="0" err="1"/>
              <a:t>sceye</a:t>
            </a:r>
            <a:r>
              <a:rPr dirty="0"/>
              <a:t>-haps/stage-06/documents/Design-Review-</a:t>
            </a:r>
            <a:r>
              <a:rPr dirty="0" err="1"/>
              <a:t>Checklist.csv</a:t>
            </a:r>
            <a:endParaRPr dirty="0"/>
          </a:p>
          <a:p>
            <a:endParaRPr dirty="0"/>
          </a:p>
          <a:p>
            <a:r>
              <a:rPr dirty="0"/>
              <a:t>Scope: independent public-reference interview study. Internal geometry, losses, properties and limits are representative assumptions. No </a:t>
            </a:r>
            <a:r>
              <a:rPr dirty="0" err="1"/>
              <a:t>Sceye</a:t>
            </a:r>
            <a:r>
              <a:rPr dirty="0"/>
              <a:t> proprietary CAD, physical test or qualification claim.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Support design reviews, risk assessments, and continuous improvement initiatives</a:t>
            </a:r>
          </a:p>
          <a:p>
            <a:endParaRPr dirty="0"/>
          </a:p>
          <a:p>
            <a:r>
              <a:rPr dirty="0"/>
              <a:t>The fault cases link thermal results to mission service. The selected nominal case delivers 100% modeled full-workload availability. The stuck-on 240 W payload heater raises the peak to 74.94°C and reduces minimum SOC to 48.08%. The biased sensor and failed heater prevent startup service in these examples. Reserve-driven shedding keeps temperatures permissive but delivers only 76.75% full workload. Startup permission currently uses ideal true case temperatures, so a validated distributed sensor/observer and independent protection remain open. Qualitative risk records are not failure probabilities.</a:t>
            </a:r>
          </a:p>
          <a:p>
            <a:endParaRPr lang="en-US" dirty="0"/>
          </a:p>
          <a:p>
            <a:r>
              <a:rPr lang="en-US" dirty="0"/>
              <a:t>When a fault occurs—or we deliberately reduce power—how much of the mission still supports full payload operation?”</a:t>
            </a:r>
          </a:p>
          <a:p>
            <a:endParaRPr lang="en-US" dirty="0"/>
          </a:p>
          <a:p>
            <a:r>
              <a:rPr lang="en-US" dirty="0"/>
              <a:t>Case			What we simulated									</a:t>
            </a:r>
          </a:p>
          <a:p>
            <a:r>
              <a:rPr lang="en-US" dirty="0"/>
              <a:t>			What the bar means</a:t>
            </a:r>
          </a:p>
          <a:p>
            <a:r>
              <a:rPr lang="en-US" b="1" dirty="0"/>
              <a:t>Nominal — 100%		</a:t>
            </a:r>
            <a:r>
              <a:rPr lang="en-US" dirty="0"/>
              <a:t>Selected design: 4.5 m² radiator, controlled thermal connection and functioning heaters				</a:t>
            </a:r>
          </a:p>
          <a:p>
            <a:r>
              <a:rPr lang="en-US" dirty="0"/>
              <a:t>			Full workload meets the checks throughout the day. Peak case temperature is </a:t>
            </a:r>
            <a:r>
              <a:rPr lang="en-US" b="1" dirty="0"/>
              <a:t>61.8°C</a:t>
            </a:r>
            <a:r>
              <a:rPr lang="en-US" dirty="0"/>
              <a:t>.</a:t>
            </a:r>
          </a:p>
          <a:p>
            <a:r>
              <a:rPr lang="en-US" b="1" dirty="0"/>
              <a:t>Heater stuck on — 91.36%	</a:t>
            </a:r>
            <a:r>
              <a:rPr lang="en-US" dirty="0"/>
              <a:t>Payload heater continuously produces </a:t>
            </a:r>
            <a:r>
              <a:rPr lang="en-US" b="1" dirty="0"/>
              <a:t>240 W</a:t>
            </a:r>
            <a:r>
              <a:rPr lang="en-US" dirty="0"/>
              <a:t>, even when heating is unnecessary				</a:t>
            </a:r>
          </a:p>
          <a:p>
            <a:r>
              <a:rPr lang="en-US" dirty="0"/>
              <a:t>			Peak temperature reaches </a:t>
            </a:r>
            <a:r>
              <a:rPr lang="en-US" b="1" dirty="0"/>
              <a:t>74.9°C</a:t>
            </a:r>
            <a:r>
              <a:rPr lang="en-US" dirty="0"/>
              <a:t>. Full workload meets the checks for about </a:t>
            </a:r>
            <a:r>
              <a:rPr lang="en-US" b="1" dirty="0"/>
              <a:t>21.9 hours</a:t>
            </a:r>
            <a:r>
              <a:rPr lang="en-US" dirty="0"/>
              <a:t>, but temperatures exceed the chosen limit during the remaining time.</a:t>
            </a:r>
          </a:p>
          <a:p>
            <a:r>
              <a:rPr lang="en-US" b="1" dirty="0"/>
              <a:t>Sensor bias — 0%		</a:t>
            </a:r>
            <a:r>
              <a:rPr lang="en-US" dirty="0"/>
              <a:t>Payload starts at </a:t>
            </a:r>
            <a:r>
              <a:rPr lang="en-US" b="1" dirty="0"/>
              <a:t>−40°C</a:t>
            </a:r>
            <a:r>
              <a:rPr lang="en-US" dirty="0"/>
              <a:t>, and the heater sensor reads </a:t>
            </a:r>
            <a:r>
              <a:rPr lang="en-US" b="1" dirty="0"/>
              <a:t>10°C too warm					</a:t>
            </a:r>
          </a:p>
          <a:p>
            <a:r>
              <a:rPr lang="en-US" b="1" dirty="0"/>
              <a:t>			</a:t>
            </a:r>
            <a:r>
              <a:rPr lang="en-US" dirty="0"/>
              <a:t>The heater backs off too early. Actual equipment temperatures remain too cold to satisfy the </a:t>
            </a:r>
            <a:r>
              <a:rPr lang="en-US" b="1" dirty="0"/>
              <a:t>−5°C startup requirement</a:t>
            </a:r>
            <a:r>
              <a:rPr lang="en-US" dirty="0"/>
              <a:t>, so full workload never starts.</a:t>
            </a:r>
          </a:p>
          <a:p>
            <a:r>
              <a:rPr lang="en-US" b="1" dirty="0"/>
              <a:t>Heater failed — 0%		</a:t>
            </a:r>
            <a:r>
              <a:rPr lang="en-US" dirty="0"/>
              <a:t>Payload starts at </a:t>
            </a:r>
            <a:r>
              <a:rPr lang="en-US" b="1" dirty="0"/>
              <a:t>−40°C</a:t>
            </a:r>
            <a:r>
              <a:rPr lang="en-US" dirty="0"/>
              <a:t>, with its heater producing no heat						</a:t>
            </a:r>
          </a:p>
          <a:p>
            <a:r>
              <a:rPr lang="en-US" dirty="0"/>
              <a:t>			Standby equipment heat is insufficient to reach startup temperature. Full workload remains inhibited.</a:t>
            </a:r>
          </a:p>
          <a:p>
            <a:r>
              <a:rPr lang="en-US" b="1" dirty="0"/>
              <a:t>Reserve shedding — 76.75%	</a:t>
            </a:r>
            <a:r>
              <a:rPr lang="en-US" dirty="0"/>
              <a:t>The controller reduces payload workload to </a:t>
            </a:r>
            <a:r>
              <a:rPr lang="en-US" b="1" dirty="0"/>
              <a:t>40% when battery charge falls below 65%</a:t>
            </a:r>
            <a:r>
              <a:rPr lang="en-US" dirty="0"/>
              <a:t>; thermal derating is also enabled	</a:t>
            </a:r>
          </a:p>
          <a:p>
            <a:r>
              <a:rPr lang="en-US" dirty="0"/>
              <a:t>			Full workload is available for about </a:t>
            </a:r>
            <a:r>
              <a:rPr lang="en-US" b="1" dirty="0"/>
              <a:t>18.4 hours</a:t>
            </a:r>
            <a:r>
              <a:rPr lang="en-US" dirty="0"/>
              <a:t>. Reduced service can continue during other periods.</a:t>
            </a:r>
          </a:p>
          <a:p>
            <a:endParaRPr lang="en-US" dirty="0"/>
          </a:p>
          <a:p>
            <a:endParaRPr lang="en-US" dirty="0"/>
          </a:p>
          <a:p>
            <a:r>
              <a:rPr lang="en-US" dirty="0"/>
              <a:t>At midnight, battery charge starts at approximately </a:t>
            </a:r>
            <a:r>
              <a:rPr lang="en-US" b="1" dirty="0"/>
              <a:t>75.4%</a:t>
            </a:r>
            <a:r>
              <a:rPr lang="en-US" dirty="0"/>
              <a:t>.Overnight, it supplies the vehicle because solar power is </a:t>
            </a:r>
            <a:r>
              <a:rPr lang="en-US" dirty="0" err="1"/>
              <a:t>unavailable.Around</a:t>
            </a:r>
            <a:r>
              <a:rPr lang="en-US" dirty="0"/>
              <a:t> </a:t>
            </a:r>
            <a:r>
              <a:rPr lang="en-US" b="1" dirty="0"/>
              <a:t>3.2 hours after midnight</a:t>
            </a:r>
            <a:r>
              <a:rPr lang="en-US" dirty="0"/>
              <a:t>, charge falls below </a:t>
            </a:r>
            <a:r>
              <a:rPr lang="en-US" b="1" dirty="0"/>
              <a:t>65%</a:t>
            </a:r>
            <a:r>
              <a:rPr lang="en-US" dirty="0"/>
              <a:t>.The controller reduces the </a:t>
            </a:r>
            <a:r>
              <a:rPr lang="en-US" b="1" dirty="0"/>
              <a:t>telecom/edge-computing payload to 40% of its requested </a:t>
            </a:r>
            <a:r>
              <a:rPr lang="en-US" b="1" dirty="0" err="1"/>
              <a:t>workload</a:t>
            </a:r>
            <a:r>
              <a:rPr lang="en-US" dirty="0" err="1"/>
              <a:t>.Once</a:t>
            </a:r>
            <a:r>
              <a:rPr lang="en-US" dirty="0"/>
              <a:t> solar charging brings SOC back above 65%, full workload can resume, provided temperatures also permit</a:t>
            </a:r>
          </a:p>
          <a:p>
            <a:endParaRPr dirty="0"/>
          </a:p>
          <a:p>
            <a:r>
              <a:rPr dirty="0"/>
              <a:t>Evidence and sources</a:t>
            </a:r>
          </a:p>
          <a:p>
            <a:r>
              <a:rPr dirty="0"/>
              <a:t>https://</a:t>
            </a:r>
            <a:r>
              <a:rPr dirty="0" err="1"/>
              <a:t>khanisolutions.com</a:t>
            </a:r>
            <a:r>
              <a:rPr dirty="0"/>
              <a:t>/assets/studies/</a:t>
            </a:r>
            <a:r>
              <a:rPr dirty="0" err="1"/>
              <a:t>sceye</a:t>
            </a:r>
            <a:r>
              <a:rPr dirty="0"/>
              <a:t>-haps/stage-06/documents/Design-Decision-</a:t>
            </a:r>
            <a:r>
              <a:rPr dirty="0" err="1"/>
              <a:t>Record.md</a:t>
            </a:r>
            <a:endParaRPr dirty="0"/>
          </a:p>
          <a:p>
            <a:r>
              <a:rPr dirty="0"/>
              <a:t>https://</a:t>
            </a:r>
            <a:r>
              <a:rPr dirty="0" err="1"/>
              <a:t>khanisolutions.com</a:t>
            </a:r>
            <a:r>
              <a:rPr dirty="0"/>
              <a:t>/</a:t>
            </a:r>
            <a:r>
              <a:rPr dirty="0" err="1"/>
              <a:t>AISolutions</a:t>
            </a:r>
            <a:r>
              <a:rPr dirty="0"/>
              <a:t>/sceye-thermal-interview.html#step-6</a:t>
            </a:r>
          </a:p>
          <a:p>
            <a:r>
              <a:rPr dirty="0"/>
              <a:t>https://</a:t>
            </a:r>
            <a:r>
              <a:rPr dirty="0" err="1"/>
              <a:t>khanisolutions.com</a:t>
            </a:r>
            <a:r>
              <a:rPr dirty="0"/>
              <a:t>/assets/studies/</a:t>
            </a:r>
            <a:r>
              <a:rPr dirty="0" err="1"/>
              <a:t>sceye</a:t>
            </a:r>
            <a:r>
              <a:rPr dirty="0"/>
              <a:t>-haps/stage-06/documents/Risk-</a:t>
            </a:r>
            <a:r>
              <a:rPr dirty="0" err="1"/>
              <a:t>Register.csv</a:t>
            </a:r>
            <a:endParaRPr dirty="0"/>
          </a:p>
          <a:p>
            <a:r>
              <a:rPr dirty="0"/>
              <a:t>https://</a:t>
            </a:r>
            <a:r>
              <a:rPr dirty="0" err="1"/>
              <a:t>khanisolutions.com</a:t>
            </a:r>
            <a:r>
              <a:rPr dirty="0"/>
              <a:t>/assets/studies/</a:t>
            </a:r>
            <a:r>
              <a:rPr dirty="0" err="1"/>
              <a:t>sceye</a:t>
            </a:r>
            <a:r>
              <a:rPr dirty="0"/>
              <a:t>-haps/stage-06/documents/Design-Review-</a:t>
            </a:r>
            <a:r>
              <a:rPr dirty="0" err="1"/>
              <a:t>Checklist.csv</a:t>
            </a:r>
            <a:endParaRPr dirty="0"/>
          </a:p>
          <a:p>
            <a:endParaRPr dirty="0"/>
          </a:p>
          <a:p>
            <a:r>
              <a:rPr dirty="0"/>
              <a:t>Scope: independent public-reference interview study. Internal geometry, losses, properties and limits are representative assumptions. No </a:t>
            </a:r>
            <a:r>
              <a:rPr dirty="0" err="1"/>
              <a:t>Sceye</a:t>
            </a:r>
            <a:r>
              <a:rPr dirty="0"/>
              <a:t> proprietary CAD, physical test or qualification claim.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Strong, applied understanding of heat transfer principles (conduction, convection, radiation), particularly in low-density, high-altitude environments</a:t>
            </a:r>
          </a:p>
          <a:p>
            <a:endParaRPr dirty="0"/>
          </a:p>
          <a:p>
            <a:r>
              <a:rPr dirty="0"/>
              <a:t>I separate solid conduction, pressure-dependent convection and surface radiation. This physical steady 3D snapshot is at 13.5 h with a 20.31°C fixed plate and 1033.3 W imposed dissipation. The PCB top face and five isothermal case terminals come from the saved 38,400-cell finite-volume model. The RF case snapshot is 61.85°C, distinct from the native dynamic mission maximum of 61.832°C. Semiconductor junctions and actual </a:t>
            </a:r>
            <a:r>
              <a:rPr dirty="0" err="1"/>
              <a:t>Sceye</a:t>
            </a:r>
            <a:r>
              <a:rPr dirty="0"/>
              <a:t> ECAD are not represented. A 17 km pressure/convection-only sensitivity gives 58.38°C peak versus 61.83°C at the 20 km basis. It does not establish actual flight behavior. Contact, gas and radiative boundary measurements remain necessary.</a:t>
            </a:r>
          </a:p>
          <a:p>
            <a:br>
              <a:rPr lang="en-US" dirty="0"/>
            </a:br>
            <a:r>
              <a:rPr lang="en-US" b="1" dirty="0" err="1"/>
              <a:t>FreeCAD</a:t>
            </a:r>
            <a:r>
              <a:rPr lang="en-US" b="1" dirty="0"/>
              <a:t> geometry → 3D conduction solver → temperature map</a:t>
            </a:r>
            <a:endParaRPr lang="en-US" dirty="0"/>
          </a:p>
          <a:p>
            <a:r>
              <a:rPr lang="en-US" b="1" dirty="0" err="1"/>
              <a:t>FreeCAD</a:t>
            </a:r>
            <a:r>
              <a:rPr lang="en-US" b="1" dirty="0"/>
              <a:t>:</a:t>
            </a:r>
            <a:r>
              <a:rPr lang="en-US" dirty="0"/>
              <a:t> creates the board, components and mounting geometry.</a:t>
            </a:r>
          </a:p>
          <a:p>
            <a:r>
              <a:rPr lang="en-US" b="1" dirty="0" err="1"/>
              <a:t>OpenModelica</a:t>
            </a:r>
            <a:r>
              <a:rPr lang="en-US" b="1" dirty="0"/>
              <a:t>:</a:t>
            </a:r>
            <a:r>
              <a:rPr lang="en-US" dirty="0"/>
              <a:t> supplies the mission heat loads and mounting-plate temperature.</a:t>
            </a:r>
          </a:p>
          <a:p>
            <a:r>
              <a:rPr lang="en-US" b="1" dirty="0"/>
              <a:t>Python finite-volume solver:</a:t>
            </a:r>
            <a:r>
              <a:rPr lang="en-US" dirty="0"/>
              <a:t> calculates heat conduction and component temperatures.</a:t>
            </a:r>
          </a:p>
          <a:p>
            <a:r>
              <a:rPr lang="en-US" b="1" dirty="0"/>
              <a:t>Python plotting:</a:t>
            </a:r>
            <a:r>
              <a:rPr lang="en-US" dirty="0"/>
              <a:t> produces the colored map.</a:t>
            </a:r>
          </a:p>
          <a:p>
            <a:br>
              <a:rPr lang="en-US" dirty="0"/>
            </a:br>
            <a:endParaRPr dirty="0"/>
          </a:p>
          <a:p>
            <a:r>
              <a:rPr dirty="0"/>
              <a:t>Evidence and sources</a:t>
            </a:r>
          </a:p>
          <a:p>
            <a:r>
              <a:rPr dirty="0"/>
              <a:t>https://</a:t>
            </a:r>
            <a:r>
              <a:rPr dirty="0" err="1"/>
              <a:t>khanisolutions.com</a:t>
            </a:r>
            <a:r>
              <a:rPr dirty="0"/>
              <a:t>/</a:t>
            </a:r>
            <a:r>
              <a:rPr dirty="0" err="1"/>
              <a:t>AISolutions</a:t>
            </a:r>
            <a:r>
              <a:rPr dirty="0"/>
              <a:t>/</a:t>
            </a:r>
            <a:r>
              <a:rPr dirty="0" err="1"/>
              <a:t>sceye-thermal-interview.html#spatial-explorer</a:t>
            </a:r>
            <a:endParaRPr dirty="0"/>
          </a:p>
          <a:p>
            <a:r>
              <a:rPr dirty="0"/>
              <a:t>Stage-06-Interview-Evidence-R1/results/engineering/spatial-</a:t>
            </a:r>
            <a:r>
              <a:rPr dirty="0" err="1"/>
              <a:t>surface.json</a:t>
            </a:r>
            <a:endParaRPr dirty="0"/>
          </a:p>
          <a:p>
            <a:r>
              <a:rPr dirty="0"/>
              <a:t>Interview Deck/assets/plots/scientific-figure-</a:t>
            </a:r>
            <a:r>
              <a:rPr dirty="0" err="1"/>
              <a:t>provenance.json</a:t>
            </a:r>
            <a:endParaRPr dirty="0"/>
          </a:p>
          <a:p>
            <a:endParaRPr dirty="0"/>
          </a:p>
          <a:p>
            <a:r>
              <a:rPr dirty="0"/>
              <a:t>Scope: independent public-reference interview study. Internal geometry, losses, properties and limits are representative assumptions. No </a:t>
            </a:r>
            <a:r>
              <a:rPr dirty="0" err="1"/>
              <a:t>Sceye</a:t>
            </a:r>
            <a:r>
              <a:rPr dirty="0"/>
              <a:t> proprietary CAD, physical test or qualification claim.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Experience developing, validating, and correlating thermal models using industry-standard tools (e.g., ANSYS, Thermal Desktop, COMSOL, or equivalent)</a:t>
            </a:r>
          </a:p>
          <a:p>
            <a:endParaRPr/>
          </a:p>
          <a:p>
            <a:r>
              <a:t>This study uses an equivalent open workflow rather than proprietary vehicle inputs. FreeCAD supplies representative geometry. Native OpenModelica solves mission thermal and electrical coupling. The earlier PCB uses 3D FEM; the detailed telecom board uses a 38,400-cell finite-volume conduction model and returns a five-terminal heat-path matrix to the mission. Independent Python calculations, conservation residuals, refined runs and a spatial transient comparison test numerical consistency. The selected board RF self-resistance changes from0.09237453to0.09094805K/W between4,800and38,400cells. The maximum matrix change is1.648%, below the chosen3% mesh screen. The ordinary-board case changes4.099% and fails that screen. Those checks do not establish physical accuracy. Device selection, material characterization and measured correlation remain separate gates.</a:t>
            </a:r>
          </a:p>
          <a:p>
            <a:endParaRPr/>
          </a:p>
          <a:p>
            <a:r>
              <a:t>Evidence and sources</a:t>
            </a:r>
          </a:p>
          <a:p>
            <a:r>
              <a:t>https://khanisolutions.com/assets/studies/sceye-haps/stage-05/source/HAPSDiurnal.mo</a:t>
            </a:r>
          </a:p>
          <a:p>
            <a:r>
              <a:t>https://khanisolutions.com/AISolutions/sceye-haps-thermal.html#pcb-spatial</a:t>
            </a:r>
          </a:p>
          <a:p>
            <a:r>
              <a:t>https://khanisolutions.com/AISolutions/sceye-haps-thermal.html#startup-checks</a:t>
            </a:r>
          </a:p>
          <a:p>
            <a:r>
              <a:t>https://khanisolutions.com/AISolutions/sceye-thermal-interview.html#step-5</a:t>
            </a:r>
          </a:p>
          <a:p>
            <a:r>
              <a:t>Stage-06-Interview-Evidence-R1/results/engineering/conduction-reduction.json</a:t>
            </a:r>
          </a:p>
          <a:p>
            <a:endParaRPr/>
          </a:p>
          <a:p>
            <a:r>
              <a:t>Scope: independent public-reference interview study. Internal geometry, losses, properties and limits are representative assumptions. No Sceye proprietary CAD, physical test or qualification claim.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Experience supporting hardware through design, test, integration, and operational readiness, not solely academic or theoretical work</a:t>
            </a:r>
          </a:p>
          <a:p>
            <a:endParaRPr/>
          </a:p>
          <a:p>
            <a:r>
              <a:t>This portfolio demonstrates analysis and test planning. It does not establish hardware support through qualification or operational readiness. Next gates are a real assembly with approved parts, repeatable interfaces, calibrated environmental tests, held-out correlation, independent protection and a controlled design review. The job also asks relevant hands-on industry experience. Discuss substantiated prior aerospace and battery-system work separately from this independent exercise. Do not imply the Sceye study itself provides flight-campaign experience.</a:t>
            </a:r>
          </a:p>
          <a:p>
            <a:endParaRPr/>
          </a:p>
          <a:p>
            <a:r>
              <a:t>Evidence and sources</a:t>
            </a:r>
          </a:p>
          <a:p>
            <a:r>
              <a:t>https://khanisolutions.com/assets/studies/sceye-haps/stage-06/documents/Test-and-Correlation-Plan.md</a:t>
            </a:r>
          </a:p>
          <a:p>
            <a:r>
              <a:t>https://khanisolutions.com/assets/studies/sceye-haps/stage-06/documents/Interface-Control.md</a:t>
            </a:r>
          </a:p>
          <a:p>
            <a:r>
              <a:t>https://khanisolutions.com/assets/studies/sceye-haps/stage-06/documents/Design-Review-Checklist.csv</a:t>
            </a:r>
          </a:p>
          <a:p>
            <a:r>
              <a:t>https://khanisolutions.com/assets/studies/sceye-haps/stage-06/documents/Completion-Boundaries.md</a:t>
            </a:r>
          </a:p>
          <a:p>
            <a:endParaRPr/>
          </a:p>
          <a:p>
            <a:r>
              <a:t>Scope: independent public-reference interview study. Internal geometry, losses, properties and limits are representative assumptions. No Sceye proprietary CAD, physical test or qualification claim.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Each requirement label links directly to its main evidence. The full website matrix links multiple artifacts, individual gaps and closeout actions. Counts are 10 demonstrated in simulation, two test planned, one unresolved and zero physically tested. Every simulated row has partial coverage. The correlation row uses generated data only. The matrix is a guide to an interview discussion, not a declaration that all job duties have been completed or that hardware has been qualified.</a:t>
            </a:r>
          </a:p>
          <a:p>
            <a:endParaRPr/>
          </a:p>
          <a:p>
            <a:r>
              <a:t>Evidence and sources</a:t>
            </a:r>
          </a:p>
          <a:p>
            <a:r>
              <a:t>https://khanisolutions.com/AISolutions/sceye-thermal-interview.html</a:t>
            </a:r>
          </a:p>
          <a:p>
            <a:r>
              <a:t>Stage-06-Interview-Evidence-R1/inputs/requirements-matrix.json</a:t>
            </a:r>
          </a:p>
          <a:p>
            <a:endParaRPr/>
          </a:p>
          <a:p>
            <a:r>
              <a:t>Scope: independent public-reference interview study. Internal geometry, losses, properties and limits are representative assumptions. No Sceye proprietary CAD, physical test or qualification claim.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0D7F5412-C921-4664-81CF-D1B557836B7D}"/>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090EB7B0-B0F3-416C-B558-C3E194CFAECB}"/>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232C6CC0-49FF-4454-AAEF-2BF618956C02}"/>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88225A76-4B3E-4D69-9FE5-7F68A662AE73}"/>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92A876DD-3A6A-4606-A8D9-98043CFA6100}"/>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05C4333D-C319-45A4-AFC3-9D17706BFFE9}"/>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A50A9B5F-1DFC-464D-A7D8-F124535C8D10}"/>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3BF43FC6-CEF2-42D8-A1D7-9F640DD232DF}"/>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0B6066A6-145F-425C-B40F-0FD96E44F5D3}"/>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7A9CE929-9A5C-4E17-92BC-B9205F03FE33}"/>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hyperlink" Target="https://khanisolutions.com/AISolutions/sceye-thermal-interview.html" TargetMode="External"/></Relationships>
</file>

<file path=ppt/slides/_rels/slide2.xml.rels><?xml version="1.0" encoding="UTF-8" standalone="yes"?>
<Relationships xmlns="http://schemas.openxmlformats.org/package/2006/relationships"><Relationship Id="rId3" Type="http://schemas.openxmlformats.org/officeDocument/2006/relationships/hyperlink" Target="https://khanisolutions.com/AISolutions/sceye-haps-thermal.html#mission-explorer" TargetMode="External"/><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3.jpeg"/><Relationship Id="rId5" Type="http://schemas.openxmlformats.org/officeDocument/2006/relationships/hyperlink" Target="https://khanisolutions.com/AISolutions/sceye-haps-thermal.html#vehicle" TargetMode="Externa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hyperlink" Target="https://khanisolutions.com/AISolutions/sceye-haps-thermal.html#vehicle" TargetMode="External"/><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hyperlink" Target="https://khanisolutions.com/AISolutions/sceye-haps-thermal.html#mission-explorer" TargetMode="External"/><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5.svg"/></Relationships>
</file>

<file path=ppt/slides/_rels/slide6.xml.rels><?xml version="1.0" encoding="UTF-8" standalone="yes"?>
<Relationships xmlns="http://schemas.openxmlformats.org/package/2006/relationships"><Relationship Id="rId3" Type="http://schemas.openxmlformats.org/officeDocument/2006/relationships/hyperlink" Target="https://khanisolutions.com/AISolutions/sceye-thermal-interview.html#integrated-explorer" TargetMode="External"/><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chart" Target="../charts/chart1.xml"/></Relationships>
</file>

<file path=ppt/slides/_rels/slide7.xml.rels><?xml version="1.0" encoding="UTF-8" standalone="yes"?>
<Relationships xmlns="http://schemas.openxmlformats.org/package/2006/relationships"><Relationship Id="rId3" Type="http://schemas.openxmlformats.org/officeDocument/2006/relationships/hyperlink" Target="https://khanisolutions.com/AISolutions/sceye-haps-thermal.html#night-explorer" TargetMode="External"/><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chart" Target="../charts/chart2.xml"/></Relationships>
</file>

<file path=ppt/slides/_rels/slide8.xml.rels><?xml version="1.0" encoding="UTF-8" standalone="yes"?>
<Relationships xmlns="http://schemas.openxmlformats.org/package/2006/relationships"><Relationship Id="rId3" Type="http://schemas.openxmlformats.org/officeDocument/2006/relationships/hyperlink" Target="https://khanisolutions.com/AISolutions/sceye-haps-thermal.html#startup-explorer" TargetMode="External"/><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chart" Target="../charts/chart3.xml"/></Relationships>
</file>

<file path=ppt/slides/_rels/slide9.xml.rels><?xml version="1.0" encoding="UTF-8" standalone="yes"?>
<Relationships xmlns="http://schemas.openxmlformats.org/package/2006/relationships"><Relationship Id="rId3" Type="http://schemas.openxmlformats.org/officeDocument/2006/relationships/hyperlink" Target="https://khanisolutions.com/AISolutions/sceye-thermal-interview.html#integrated-explorer" TargetMode="External"/><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hyperlink" Target="https://khanisolutions.com/AISolutions/sceye-haps-thermal.html#pcb-spatial" TargetMode="External"/><Relationship Id="rId2" Type="http://schemas.openxmlformats.org/officeDocument/2006/relationships/notesSlide" Target="../notesSlides/notesSlide10.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hyperlink" Target="https://khanisolutions.com/AISolutions/sceye-thermal-interview.html#integrated-explorer" TargetMode="External"/><Relationship Id="rId2" Type="http://schemas.openxmlformats.org/officeDocument/2006/relationships/notesSlide" Target="../notesSlides/notesSlide11.xml"/><Relationship Id="rId1" Type="http://schemas.openxmlformats.org/officeDocument/2006/relationships/slideLayout" Target="../slideLayouts/slideLayout6.xml"/><Relationship Id="rId4" Type="http://schemas.openxmlformats.org/officeDocument/2006/relationships/chart" Target="../charts/chart4.xml"/></Relationships>
</file>

<file path=ppt/slides/_rels/slide12.xml.rels><?xml version="1.0" encoding="UTF-8" standalone="yes"?>
<Relationships xmlns="http://schemas.openxmlformats.org/package/2006/relationships"><Relationship Id="rId3" Type="http://schemas.openxmlformats.org/officeDocument/2006/relationships/hyperlink" Target="https://khanisolutions.com/assets/studies/sceye-haps/stage-06/documents/Test-and-Correlation-Plan.md" TargetMode="External"/><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hyperlink" Target="https://khanisolutions.com/AISolutions/sceye-thermal-interview.html#step-5" TargetMode="External"/><Relationship Id="rId2" Type="http://schemas.openxmlformats.org/officeDocument/2006/relationships/notesSlide" Target="../notesSlides/notesSlide13.xml"/><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hyperlink" Target="https://khanisolutions.com/assets/studies/sceye-haps/stage-06/documents/Interface-Control.md" TargetMode="External"/><Relationship Id="rId2" Type="http://schemas.openxmlformats.org/officeDocument/2006/relationships/notesSlide" Target="../notesSlides/notesSlide14.xml"/><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hyperlink" Target="https://khanisolutions.com/assets/studies/sceye-haps/stage-06/documents/Standards-Applicability.md" TargetMode="External"/><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hyperlink" Target="https://khanisolutions.com/AISolutions/sceye-thermal-interview.html#step-6" TargetMode="External"/><Relationship Id="rId2" Type="http://schemas.openxmlformats.org/officeDocument/2006/relationships/notesSlide" Target="../notesSlides/notesSlide16.xml"/><Relationship Id="rId1" Type="http://schemas.openxmlformats.org/officeDocument/2006/relationships/slideLayout" Target="../slideLayouts/slideLayout6.xml"/><Relationship Id="rId4" Type="http://schemas.openxmlformats.org/officeDocument/2006/relationships/chart" Target="../charts/chart5.xml"/></Relationships>
</file>

<file path=ppt/slides/_rels/slide17.xml.rels><?xml version="1.0" encoding="UTF-8" standalone="yes"?>
<Relationships xmlns="http://schemas.openxmlformats.org/package/2006/relationships"><Relationship Id="rId3" Type="http://schemas.openxmlformats.org/officeDocument/2006/relationships/hyperlink" Target="https://khanisolutions.com/AISolutions/sceye-thermal-interview.html#spatial-explorer" TargetMode="External"/><Relationship Id="rId2" Type="http://schemas.openxmlformats.org/officeDocument/2006/relationships/notesSlide" Target="../notesSlides/notesSlide17.xml"/><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hyperlink" Target="https://khanisolutions.com/AISolutions/sceye-haps-thermal.html#startup-checks" TargetMode="External"/><Relationship Id="rId2" Type="http://schemas.openxmlformats.org/officeDocument/2006/relationships/notesSlide" Target="../notesSlides/notesSlide18.xml"/><Relationship Id="rId1" Type="http://schemas.openxmlformats.org/officeDocument/2006/relationships/slideLayout" Target="../slideLayouts/slideLayout6.xml"/><Relationship Id="rId4" Type="http://schemas.openxmlformats.org/officeDocument/2006/relationships/chart" Target="../charts/chart6.xml"/></Relationships>
</file>

<file path=ppt/slides/_rels/slide19.xml.rels><?xml version="1.0" encoding="UTF-8" standalone="yes"?>
<Relationships xmlns="http://schemas.openxmlformats.org/package/2006/relationships"><Relationship Id="rId3" Type="http://schemas.openxmlformats.org/officeDocument/2006/relationships/hyperlink" Target="https://khanisolutions.com/AISolutions/sceye-thermal-interview.html#step-6" TargetMode="External"/><Relationship Id="rId2" Type="http://schemas.openxmlformats.org/officeDocument/2006/relationships/notesSlide" Target="../notesSlides/notesSlide19.xml"/><Relationship Id="rId1" Type="http://schemas.openxmlformats.org/officeDocument/2006/relationships/slideLayout" Target="../slideLayouts/slideLayout6.xml"/><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8" Type="http://schemas.openxmlformats.org/officeDocument/2006/relationships/hyperlink" Target="https://khanisolutions.com/assets/studies/sceye-haps/stage-06/documents/Test-and-Correlation-Plan.md" TargetMode="External"/><Relationship Id="rId3" Type="http://schemas.openxmlformats.org/officeDocument/2006/relationships/hyperlink" Target="https://khanisolutions.com/AISolutions/sceye-thermal-interview.html#requirements-matrix" TargetMode="External"/><Relationship Id="rId7" Type="http://schemas.openxmlformats.org/officeDocument/2006/relationships/hyperlink" Target="https://khanisolutions.com/AISolutions/sceye-haps-thermal.html#night-inputs" TargetMode="External"/><Relationship Id="rId12" Type="http://schemas.openxmlformats.org/officeDocument/2006/relationships/hyperlink" Target="https://khanisolutions.com/assets/studies/sceye-haps/stage-05/source/HAPSDiurnal.mo" TargetMode="External"/><Relationship Id="rId2" Type="http://schemas.openxmlformats.org/officeDocument/2006/relationships/notesSlide" Target="../notesSlides/notesSlide20.xml"/><Relationship Id="rId1" Type="http://schemas.openxmlformats.org/officeDocument/2006/relationships/slideLayout" Target="../slideLayouts/slideLayout6.xml"/><Relationship Id="rId6" Type="http://schemas.openxmlformats.org/officeDocument/2006/relationships/hyperlink" Target="https://khanisolutions.com/assets/studies/sceye-haps/stage-06/documents/Study-Requirements.md" TargetMode="External"/><Relationship Id="rId11" Type="http://schemas.openxmlformats.org/officeDocument/2006/relationships/hyperlink" Target="https://khanisolutions.com/assets/studies/sceye-haps/stage-06/documents/Design-Decision-Record.md" TargetMode="External"/><Relationship Id="rId5" Type="http://schemas.openxmlformats.org/officeDocument/2006/relationships/hyperlink" Target="https://khanisolutions.com/AISolutions/sceye-haps-thermal.html#mission-explorer" TargetMode="External"/><Relationship Id="rId10" Type="http://schemas.openxmlformats.org/officeDocument/2006/relationships/hyperlink" Target="https://khanisolutions.com/assets/studies/sceye-haps/stage-06/documents/Interface-Control.md" TargetMode="External"/><Relationship Id="rId4" Type="http://schemas.openxmlformats.org/officeDocument/2006/relationships/hyperlink" Target="https://khanisolutions.com/AISolutions/sceye-haps-thermal.html#night-explorer" TargetMode="External"/><Relationship Id="rId9" Type="http://schemas.openxmlformats.org/officeDocument/2006/relationships/hyperlink" Target="https://khanisolutions.com/AISolutions/sceye-thermal-interview.html#step-5"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2B3D"/>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DA78F2D-26B6-409B-815F-DD1377E0BA2D}"/>
              </a:ext>
            </a:extLst>
          </p:cNvPr>
          <p:cNvPicPr>
            <a:picLocks noChangeAspect="1"/>
          </p:cNvPicPr>
          <p:nvPr/>
        </p:nvPicPr>
        <p:blipFill>
          <a:blip r:embed="rId3"/>
          <a:srcRect t="15109" b="15109"/>
          <a:stretch>
            <a:fillRect/>
          </a:stretch>
        </p:blipFill>
        <p:spPr>
          <a:xfrm>
            <a:off x="0" y="0"/>
            <a:ext cx="12192000" cy="4457700"/>
          </a:xfrm>
          <a:prstGeom prst="rect">
            <a:avLst/>
          </a:prstGeom>
        </p:spPr>
      </p:pic>
      <p:sp>
        <p:nvSpPr>
          <p:cNvPr id="2" name="Thermal engineering for&#10;Sceye’s stratospheric mission">
            <a:extLst>
              <a:ext uri="{FF2B5EF4-FFF2-40B4-BE49-F238E27FC236}">
                <a16:creationId xmlns:a16="http://schemas.microsoft.com/office/drawing/2014/main" id="{F6D1D47C-B304-4950-B90B-E253BB6F9A6F}"/>
              </a:ext>
            </a:extLst>
          </p:cNvPr>
          <p:cNvSpPr>
            <a:spLocks noGrp="1"/>
          </p:cNvSpPr>
          <p:nvPr/>
        </p:nvSpPr>
        <p:spPr>
          <a:xfrm>
            <a:off x="533400" y="4610100"/>
            <a:ext cx="11049000" cy="1066800"/>
          </a:xfrm>
          <a:prstGeom prst="rect">
            <a:avLst/>
          </a:prstGeom>
          <a:noFill/>
          <a:ln w="0">
            <a:noFill/>
          </a:ln>
        </p:spPr>
        <p:txBody>
          <a:bodyPr lIns="0" tIns="0" rIns="0" bIns="0" anchor="t"/>
          <a:lstStyle>
            <a:defPPr>
              <a:defRPr sz="3450" b="1">
                <a:solidFill>
                  <a:srgbClr val="FFFFFF"/>
                </a:solidFill>
              </a:defRPr>
            </a:defPPr>
            <a:lvl1pPr>
              <a:defRPr sz="3450" b="1">
                <a:solidFill>
                  <a:srgbClr val="FFFFFF"/>
                </a:solidFill>
              </a:defRPr>
            </a:lvl1pPr>
            <a:lvl2pPr>
              <a:defRPr sz="3450" b="1">
                <a:solidFill>
                  <a:srgbClr val="FFFFFF"/>
                </a:solidFill>
              </a:defRPr>
            </a:lvl2pPr>
            <a:lvl3pPr>
              <a:defRPr sz="3450" b="1">
                <a:solidFill>
                  <a:srgbClr val="FFFFFF"/>
                </a:solidFill>
              </a:defRPr>
            </a:lvl3pPr>
            <a:lvl4pPr>
              <a:defRPr sz="3450" b="1">
                <a:solidFill>
                  <a:srgbClr val="FFFFFF"/>
                </a:solidFill>
              </a:defRPr>
            </a:lvl4pPr>
            <a:lvl5pPr>
              <a:defRPr sz="3450" b="1">
                <a:solidFill>
                  <a:srgbClr val="FFFFFF"/>
                </a:solidFill>
              </a:defRPr>
            </a:lvl5pPr>
            <a:lvl6pPr>
              <a:defRPr sz="3450" b="1">
                <a:solidFill>
                  <a:srgbClr val="FFFFFF"/>
                </a:solidFill>
              </a:defRPr>
            </a:lvl6pPr>
            <a:lvl7pPr>
              <a:defRPr sz="3450" b="1">
                <a:solidFill>
                  <a:srgbClr val="FFFFFF"/>
                </a:solidFill>
              </a:defRPr>
            </a:lvl7pPr>
            <a:lvl8pPr>
              <a:defRPr sz="3450" b="1">
                <a:solidFill>
                  <a:srgbClr val="FFFFFF"/>
                </a:solidFill>
              </a:defRPr>
            </a:lvl8pPr>
            <a:lvl9pPr>
              <a:defRPr sz="3450" b="1">
                <a:solidFill>
                  <a:srgbClr val="FFFFFF"/>
                </a:solidFill>
              </a:defRPr>
            </a:lvl9pPr>
          </a:lstStyle>
          <a:p>
            <a:pPr>
              <a:defRPr sz="3450" b="1">
                <a:solidFill>
                  <a:srgbClr val="FFFFFF"/>
                </a:solidFill>
              </a:defRPr>
            </a:pPr>
            <a:r>
              <a:rPr sz="3450" b="1">
                <a:solidFill>
                  <a:srgbClr val="FFFFFF"/>
                </a:solidFill>
              </a:rPr>
              <a:t>Thermal engineering for</a:t>
            </a:r>
          </a:p>
          <a:p>
            <a:pPr>
              <a:defRPr sz="3450" b="1">
                <a:solidFill>
                  <a:srgbClr val="FFFFFF"/>
                </a:solidFill>
              </a:defRPr>
            </a:pPr>
            <a:r>
              <a:rPr sz="3450" b="1">
                <a:solidFill>
                  <a:srgbClr val="FFFFFF"/>
                </a:solidFill>
              </a:rPr>
              <a:t>Sceye’s stratospheric mission</a:t>
            </a:r>
          </a:p>
        </p:txBody>
      </p:sp>
      <p:sp>
        <p:nvSpPr>
          <p:cNvPr id="3" name="Mohammadreza Khani, PhD">
            <a:extLst>
              <a:ext uri="{FF2B5EF4-FFF2-40B4-BE49-F238E27FC236}">
                <a16:creationId xmlns:a16="http://schemas.microsoft.com/office/drawing/2014/main" id="{9B04A5F7-CB9C-4E3F-ADC6-3CF884151712}"/>
              </a:ext>
            </a:extLst>
          </p:cNvPr>
          <p:cNvSpPr>
            <a:spLocks noGrp="1"/>
          </p:cNvSpPr>
          <p:nvPr/>
        </p:nvSpPr>
        <p:spPr>
          <a:xfrm>
            <a:off x="533400" y="5857875"/>
            <a:ext cx="6191250" cy="333375"/>
          </a:xfrm>
          <a:prstGeom prst="rect">
            <a:avLst/>
          </a:prstGeom>
          <a:noFill/>
          <a:ln w="0">
            <a:noFill/>
          </a:ln>
        </p:spPr>
        <p:txBody>
          <a:bodyPr lIns="0" tIns="0" rIns="0" bIns="0" anchor="t"/>
          <a:lstStyle>
            <a:defPPr>
              <a:defRPr sz="2025" b="0">
                <a:solidFill>
                  <a:srgbClr val="FFFFFF"/>
                </a:solidFill>
              </a:defRPr>
            </a:defPPr>
            <a:lvl1pPr>
              <a:defRPr sz="2025" b="0">
                <a:solidFill>
                  <a:srgbClr val="FFFFFF"/>
                </a:solidFill>
              </a:defRPr>
            </a:lvl1pPr>
            <a:lvl2pPr>
              <a:defRPr sz="2025" b="0">
                <a:solidFill>
                  <a:srgbClr val="FFFFFF"/>
                </a:solidFill>
              </a:defRPr>
            </a:lvl2pPr>
            <a:lvl3pPr>
              <a:defRPr sz="2025" b="0">
                <a:solidFill>
                  <a:srgbClr val="FFFFFF"/>
                </a:solidFill>
              </a:defRPr>
            </a:lvl3pPr>
            <a:lvl4pPr>
              <a:defRPr sz="2025" b="0">
                <a:solidFill>
                  <a:srgbClr val="FFFFFF"/>
                </a:solidFill>
              </a:defRPr>
            </a:lvl4pPr>
            <a:lvl5pPr>
              <a:defRPr sz="2025" b="0">
                <a:solidFill>
                  <a:srgbClr val="FFFFFF"/>
                </a:solidFill>
              </a:defRPr>
            </a:lvl5pPr>
            <a:lvl6pPr>
              <a:defRPr sz="2025" b="0">
                <a:solidFill>
                  <a:srgbClr val="FFFFFF"/>
                </a:solidFill>
              </a:defRPr>
            </a:lvl6pPr>
            <a:lvl7pPr>
              <a:defRPr sz="2025" b="0">
                <a:solidFill>
                  <a:srgbClr val="FFFFFF"/>
                </a:solidFill>
              </a:defRPr>
            </a:lvl7pPr>
            <a:lvl8pPr>
              <a:defRPr sz="2025" b="0">
                <a:solidFill>
                  <a:srgbClr val="FFFFFF"/>
                </a:solidFill>
              </a:defRPr>
            </a:lvl8pPr>
            <a:lvl9pPr>
              <a:defRPr sz="2025" b="0">
                <a:solidFill>
                  <a:srgbClr val="FFFFFF"/>
                </a:solidFill>
              </a:defRPr>
            </a:lvl9pPr>
          </a:lstStyle>
          <a:p>
            <a:pPr>
              <a:defRPr sz="2025" b="0">
                <a:solidFill>
                  <a:srgbClr val="FFFFFF"/>
                </a:solidFill>
              </a:defRPr>
            </a:pPr>
            <a:r>
              <a:rPr sz="2025" b="0">
                <a:solidFill>
                  <a:srgbClr val="FFFFFF"/>
                </a:solidFill>
              </a:rPr>
              <a:t>Mohammadreza Khani, PhD</a:t>
            </a:r>
          </a:p>
        </p:txBody>
      </p:sp>
      <p:sp>
        <p:nvSpPr>
          <p:cNvPr id="4" name="Independent public-reference demonstration">
            <a:extLst>
              <a:ext uri="{FF2B5EF4-FFF2-40B4-BE49-F238E27FC236}">
                <a16:creationId xmlns:a16="http://schemas.microsoft.com/office/drawing/2014/main" id="{07DFEE69-1EB3-4DB8-9C5F-34C1C3F1B5A4}"/>
              </a:ext>
            </a:extLst>
          </p:cNvPr>
          <p:cNvSpPr>
            <a:spLocks noGrp="1"/>
          </p:cNvSpPr>
          <p:nvPr/>
        </p:nvSpPr>
        <p:spPr>
          <a:xfrm>
            <a:off x="533400" y="6276975"/>
            <a:ext cx="6477000" cy="266700"/>
          </a:xfrm>
          <a:prstGeom prst="rect">
            <a:avLst/>
          </a:prstGeom>
          <a:noFill/>
          <a:ln w="0">
            <a:noFill/>
          </a:ln>
        </p:spPr>
        <p:txBody>
          <a:bodyPr lIns="0" tIns="0" rIns="0" bIns="0" anchor="t"/>
          <a:lstStyle>
            <a:defPPr>
              <a:defRPr sz="1650" b="0">
                <a:solidFill>
                  <a:srgbClr val="CFDCE5"/>
                </a:solidFill>
              </a:defRPr>
            </a:defPPr>
            <a:lvl1pPr>
              <a:defRPr sz="1650" b="0">
                <a:solidFill>
                  <a:srgbClr val="CFDCE5"/>
                </a:solidFill>
              </a:defRPr>
            </a:lvl1pPr>
            <a:lvl2pPr>
              <a:defRPr sz="1650" b="0">
                <a:solidFill>
                  <a:srgbClr val="CFDCE5"/>
                </a:solidFill>
              </a:defRPr>
            </a:lvl2pPr>
            <a:lvl3pPr>
              <a:defRPr sz="1650" b="0">
                <a:solidFill>
                  <a:srgbClr val="CFDCE5"/>
                </a:solidFill>
              </a:defRPr>
            </a:lvl3pPr>
            <a:lvl4pPr>
              <a:defRPr sz="1650" b="0">
                <a:solidFill>
                  <a:srgbClr val="CFDCE5"/>
                </a:solidFill>
              </a:defRPr>
            </a:lvl4pPr>
            <a:lvl5pPr>
              <a:defRPr sz="1650" b="0">
                <a:solidFill>
                  <a:srgbClr val="CFDCE5"/>
                </a:solidFill>
              </a:defRPr>
            </a:lvl5pPr>
            <a:lvl6pPr>
              <a:defRPr sz="1650" b="0">
                <a:solidFill>
                  <a:srgbClr val="CFDCE5"/>
                </a:solidFill>
              </a:defRPr>
            </a:lvl6pPr>
            <a:lvl7pPr>
              <a:defRPr sz="1650" b="0">
                <a:solidFill>
                  <a:srgbClr val="CFDCE5"/>
                </a:solidFill>
              </a:defRPr>
            </a:lvl7pPr>
            <a:lvl8pPr>
              <a:defRPr sz="1650" b="0">
                <a:solidFill>
                  <a:srgbClr val="CFDCE5"/>
                </a:solidFill>
              </a:defRPr>
            </a:lvl8pPr>
            <a:lvl9pPr>
              <a:defRPr sz="1650" b="0">
                <a:solidFill>
                  <a:srgbClr val="CFDCE5"/>
                </a:solidFill>
              </a:defRPr>
            </a:lvl9pPr>
          </a:lstStyle>
          <a:p>
            <a:pPr>
              <a:defRPr sz="1650" b="0">
                <a:solidFill>
                  <a:srgbClr val="CFDCE5"/>
                </a:solidFill>
              </a:defRPr>
            </a:pPr>
            <a:r>
              <a:rPr sz="1650" b="0">
                <a:solidFill>
                  <a:srgbClr val="CFDCE5"/>
                </a:solidFill>
              </a:rPr>
              <a:t>Independent public-reference demonstration</a:t>
            </a:r>
          </a:p>
        </p:txBody>
      </p:sp>
      <p:sp>
        <p:nvSpPr>
          <p:cNvPr id="5" name="Open the study">
            <a:extLst>
              <a:ext uri="{FF2B5EF4-FFF2-40B4-BE49-F238E27FC236}">
                <a16:creationId xmlns:a16="http://schemas.microsoft.com/office/drawing/2014/main" id="{72F6C532-E552-4F1B-B575-EAAA7F16A97B}"/>
              </a:ext>
            </a:extLst>
          </p:cNvPr>
          <p:cNvSpPr>
            <a:spLocks noGrp="1"/>
          </p:cNvSpPr>
          <p:nvPr/>
        </p:nvSpPr>
        <p:spPr>
          <a:xfrm>
            <a:off x="9667875" y="6248400"/>
            <a:ext cx="2190750" cy="285750"/>
          </a:xfrm>
          <a:prstGeom prst="rect">
            <a:avLst/>
          </a:prstGeom>
          <a:noFill/>
          <a:ln w="0">
            <a:noFill/>
          </a:ln>
        </p:spPr>
        <p:txBody>
          <a:bodyPr lIns="0" tIns="0" rIns="0" bIns="0" anchor="t"/>
          <a:lstStyle>
            <a:defPPr>
              <a:defRPr sz="1725" b="0">
                <a:solidFill>
                  <a:srgbClr val="E0BD79"/>
                </a:solidFill>
              </a:defRPr>
            </a:defPPr>
            <a:lvl1pPr>
              <a:defRPr sz="1725" b="0">
                <a:solidFill>
                  <a:srgbClr val="E0BD79"/>
                </a:solidFill>
              </a:defRPr>
            </a:lvl1pPr>
            <a:lvl2pPr>
              <a:defRPr sz="1725" b="0">
                <a:solidFill>
                  <a:srgbClr val="E0BD79"/>
                </a:solidFill>
              </a:defRPr>
            </a:lvl2pPr>
            <a:lvl3pPr>
              <a:defRPr sz="1725" b="0">
                <a:solidFill>
                  <a:srgbClr val="E0BD79"/>
                </a:solidFill>
              </a:defRPr>
            </a:lvl3pPr>
            <a:lvl4pPr>
              <a:defRPr sz="1725" b="0">
                <a:solidFill>
                  <a:srgbClr val="E0BD79"/>
                </a:solidFill>
              </a:defRPr>
            </a:lvl4pPr>
            <a:lvl5pPr>
              <a:defRPr sz="1725" b="0">
                <a:solidFill>
                  <a:srgbClr val="E0BD79"/>
                </a:solidFill>
              </a:defRPr>
            </a:lvl5pPr>
            <a:lvl6pPr>
              <a:defRPr sz="1725" b="0">
                <a:solidFill>
                  <a:srgbClr val="E0BD79"/>
                </a:solidFill>
              </a:defRPr>
            </a:lvl6pPr>
            <a:lvl7pPr>
              <a:defRPr sz="1725" b="0">
                <a:solidFill>
                  <a:srgbClr val="E0BD79"/>
                </a:solidFill>
              </a:defRPr>
            </a:lvl7pPr>
            <a:lvl8pPr>
              <a:defRPr sz="1725" b="0">
                <a:solidFill>
                  <a:srgbClr val="E0BD79"/>
                </a:solidFill>
              </a:defRPr>
            </a:lvl8pPr>
            <a:lvl9pPr>
              <a:defRPr sz="1725" b="0">
                <a:solidFill>
                  <a:srgbClr val="E0BD79"/>
                </a:solidFill>
              </a:defRPr>
            </a:lvl9pPr>
          </a:lstStyle>
          <a:p>
            <a:pPr>
              <a:defRPr sz="1725" b="0">
                <a:solidFill>
                  <a:srgbClr val="E0BD79"/>
                </a:solidFill>
              </a:defRPr>
            </a:pPr>
            <a:r>
              <a:rPr sz="1725" b="0">
                <a:solidFill>
                  <a:srgbClr val="E0BD79"/>
                </a:solidFill>
                <a:hlinkClick r:id="rId4"/>
              </a:rPr>
              <a:t>Open the study</a:t>
            </a:r>
          </a:p>
        </p:txBody>
      </p:sp>
    </p:spTree>
    <p:extLst>
      <p:ext uri="{BB962C8B-B14F-4D97-AF65-F5344CB8AC3E}">
        <p14:creationId xmlns:p14="http://schemas.microsoft.com/office/powerpoint/2010/main" val="14659348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Sceye’s vehicle and day/night mission">
            <a:extLst>
              <a:ext uri="{FF2B5EF4-FFF2-40B4-BE49-F238E27FC236}">
                <a16:creationId xmlns:a16="http://schemas.microsoft.com/office/drawing/2014/main" id="{544B4BBE-B9FC-464A-B504-0B1F6F9CBBD9}"/>
              </a:ext>
            </a:extLst>
          </p:cNvPr>
          <p:cNvSpPr>
            <a:spLocks noGrp="1"/>
          </p:cNvSpPr>
          <p:nvPr/>
        </p:nvSpPr>
        <p:spPr>
          <a:xfrm>
            <a:off x="533400" y="361950"/>
            <a:ext cx="11125200" cy="1028700"/>
          </a:xfrm>
          <a:prstGeom prst="rect">
            <a:avLst/>
          </a:prstGeom>
          <a:noFill/>
          <a:ln w="0">
            <a:noFill/>
          </a:ln>
        </p:spPr>
        <p:txBody>
          <a:bodyPr lIns="0" tIns="0" rIns="0" bIns="0" anchor="t"/>
          <a:lstStyle>
            <a:defPPr>
              <a:defRPr sz="3150" b="1">
                <a:solidFill>
                  <a:srgbClr val="142B3D"/>
                </a:solidFill>
              </a:defRPr>
            </a:defPPr>
            <a:lvl1pPr>
              <a:defRPr sz="3150" b="1">
                <a:solidFill>
                  <a:srgbClr val="142B3D"/>
                </a:solidFill>
              </a:defRPr>
            </a:lvl1pPr>
            <a:lvl2pPr>
              <a:defRPr sz="3150" b="1">
                <a:solidFill>
                  <a:srgbClr val="142B3D"/>
                </a:solidFill>
              </a:defRPr>
            </a:lvl2pPr>
            <a:lvl3pPr>
              <a:defRPr sz="3150" b="1">
                <a:solidFill>
                  <a:srgbClr val="142B3D"/>
                </a:solidFill>
              </a:defRPr>
            </a:lvl3pPr>
            <a:lvl4pPr>
              <a:defRPr sz="3150" b="1">
                <a:solidFill>
                  <a:srgbClr val="142B3D"/>
                </a:solidFill>
              </a:defRPr>
            </a:lvl4pPr>
            <a:lvl5pPr>
              <a:defRPr sz="3150" b="1">
                <a:solidFill>
                  <a:srgbClr val="142B3D"/>
                </a:solidFill>
              </a:defRPr>
            </a:lvl5pPr>
            <a:lvl6pPr>
              <a:defRPr sz="3150" b="1">
                <a:solidFill>
                  <a:srgbClr val="142B3D"/>
                </a:solidFill>
              </a:defRPr>
            </a:lvl6pPr>
            <a:lvl7pPr>
              <a:defRPr sz="3150" b="1">
                <a:solidFill>
                  <a:srgbClr val="142B3D"/>
                </a:solidFill>
              </a:defRPr>
            </a:lvl7pPr>
            <a:lvl8pPr>
              <a:defRPr sz="3150" b="1">
                <a:solidFill>
                  <a:srgbClr val="142B3D"/>
                </a:solidFill>
              </a:defRPr>
            </a:lvl8pPr>
            <a:lvl9pPr>
              <a:defRPr sz="3150" b="1">
                <a:solidFill>
                  <a:srgbClr val="142B3D"/>
                </a:solidFill>
              </a:defRPr>
            </a:lvl9pPr>
          </a:lstStyle>
          <a:p>
            <a:pPr>
              <a:defRPr sz="3150" b="1">
                <a:solidFill>
                  <a:srgbClr val="142B3D"/>
                </a:solidFill>
              </a:defRPr>
            </a:pPr>
            <a:r>
              <a:rPr sz="3150" b="1">
                <a:solidFill>
                  <a:srgbClr val="142B3D"/>
                </a:solidFill>
              </a:rPr>
              <a:t>Sceye’s vehicle and day/night mission</a:t>
            </a:r>
          </a:p>
        </p:txBody>
      </p:sp>
      <p:sp>
        <p:nvSpPr>
          <p:cNvPr id="2" name="Khani Solutions">
            <a:extLst>
              <a:ext uri="{FF2B5EF4-FFF2-40B4-BE49-F238E27FC236}">
                <a16:creationId xmlns:a16="http://schemas.microsoft.com/office/drawing/2014/main" id="{AC8EACF0-18FB-4697-BAB7-46B9579FE1CF}"/>
              </a:ext>
            </a:extLst>
          </p:cNvPr>
          <p:cNvSpPr>
            <a:spLocks noGrp="1"/>
          </p:cNvSpPr>
          <p:nvPr/>
        </p:nvSpPr>
        <p:spPr>
          <a:xfrm>
            <a:off x="533400" y="6448425"/>
            <a:ext cx="2190750" cy="238125"/>
          </a:xfrm>
          <a:prstGeom prst="rect">
            <a:avLst/>
          </a:prstGeom>
          <a:noFill/>
          <a:ln w="0">
            <a:noFill/>
          </a:ln>
        </p:spPr>
        <p:txBody>
          <a:bodyPr lIns="0" tIns="0" rIns="0" bIns="0" anchor="t"/>
          <a:lstStyle>
            <a:defPPr>
              <a:defRPr sz="1350" b="0">
                <a:solidFill>
                  <a:srgbClr val="587081"/>
                </a:solidFill>
              </a:defRPr>
            </a:defPPr>
            <a:lvl1pPr>
              <a:defRPr sz="1350" b="0">
                <a:solidFill>
                  <a:srgbClr val="587081"/>
                </a:solidFill>
              </a:defRPr>
            </a:lvl1pPr>
            <a:lvl2pPr>
              <a:defRPr sz="1350" b="0">
                <a:solidFill>
                  <a:srgbClr val="587081"/>
                </a:solidFill>
              </a:defRPr>
            </a:lvl2pPr>
            <a:lvl3pPr>
              <a:defRPr sz="1350" b="0">
                <a:solidFill>
                  <a:srgbClr val="587081"/>
                </a:solidFill>
              </a:defRPr>
            </a:lvl3pPr>
            <a:lvl4pPr>
              <a:defRPr sz="1350" b="0">
                <a:solidFill>
                  <a:srgbClr val="587081"/>
                </a:solidFill>
              </a:defRPr>
            </a:lvl4pPr>
            <a:lvl5pPr>
              <a:defRPr sz="1350" b="0">
                <a:solidFill>
                  <a:srgbClr val="587081"/>
                </a:solidFill>
              </a:defRPr>
            </a:lvl5pPr>
            <a:lvl6pPr>
              <a:defRPr sz="1350" b="0">
                <a:solidFill>
                  <a:srgbClr val="587081"/>
                </a:solidFill>
              </a:defRPr>
            </a:lvl6pPr>
            <a:lvl7pPr>
              <a:defRPr sz="1350" b="0">
                <a:solidFill>
                  <a:srgbClr val="587081"/>
                </a:solidFill>
              </a:defRPr>
            </a:lvl7pPr>
            <a:lvl8pPr>
              <a:defRPr sz="1350" b="0">
                <a:solidFill>
                  <a:srgbClr val="587081"/>
                </a:solidFill>
              </a:defRPr>
            </a:lvl8pPr>
            <a:lvl9pPr>
              <a:defRPr sz="1350" b="0">
                <a:solidFill>
                  <a:srgbClr val="587081"/>
                </a:solidFill>
              </a:defRPr>
            </a:lvl9pPr>
          </a:lstStyle>
          <a:p>
            <a:pPr>
              <a:defRPr sz="1350" b="0">
                <a:solidFill>
                  <a:srgbClr val="587081"/>
                </a:solidFill>
              </a:defRPr>
            </a:pPr>
            <a:r>
              <a:rPr sz="1350" b="0">
                <a:solidFill>
                  <a:srgbClr val="587081"/>
                </a:solidFill>
              </a:rPr>
              <a:t>Khani Solutions</a:t>
            </a:r>
          </a:p>
        </p:txBody>
      </p:sp>
      <p:sp>
        <p:nvSpPr>
          <p:cNvPr id="3" name="02 / 20">
            <a:extLst>
              <a:ext uri="{FF2B5EF4-FFF2-40B4-BE49-F238E27FC236}">
                <a16:creationId xmlns:a16="http://schemas.microsoft.com/office/drawing/2014/main" id="{8C070814-4369-48E2-A89A-E8C1E5DB5DDD}"/>
              </a:ext>
            </a:extLst>
          </p:cNvPr>
          <p:cNvSpPr>
            <a:spLocks noGrp="1"/>
          </p:cNvSpPr>
          <p:nvPr/>
        </p:nvSpPr>
        <p:spPr>
          <a:xfrm>
            <a:off x="10896600" y="6448425"/>
            <a:ext cx="857250" cy="238125"/>
          </a:xfrm>
          <a:prstGeom prst="rect">
            <a:avLst/>
          </a:prstGeom>
          <a:noFill/>
          <a:ln w="0">
            <a:noFill/>
          </a:ln>
        </p:spPr>
        <p:txBody>
          <a:bodyPr lIns="0" tIns="0" rIns="0" bIns="0" anchor="t"/>
          <a:lstStyle>
            <a:defPPr>
              <a:defRPr sz="1350" b="0">
                <a:solidFill>
                  <a:srgbClr val="587081"/>
                </a:solidFill>
              </a:defRPr>
            </a:defPPr>
            <a:lvl1pPr>
              <a:defRPr sz="1350" b="0">
                <a:solidFill>
                  <a:srgbClr val="587081"/>
                </a:solidFill>
              </a:defRPr>
            </a:lvl1pPr>
            <a:lvl2pPr>
              <a:defRPr sz="1350" b="0">
                <a:solidFill>
                  <a:srgbClr val="587081"/>
                </a:solidFill>
              </a:defRPr>
            </a:lvl2pPr>
            <a:lvl3pPr>
              <a:defRPr sz="1350" b="0">
                <a:solidFill>
                  <a:srgbClr val="587081"/>
                </a:solidFill>
              </a:defRPr>
            </a:lvl3pPr>
            <a:lvl4pPr>
              <a:defRPr sz="1350" b="0">
                <a:solidFill>
                  <a:srgbClr val="587081"/>
                </a:solidFill>
              </a:defRPr>
            </a:lvl4pPr>
            <a:lvl5pPr>
              <a:defRPr sz="1350" b="0">
                <a:solidFill>
                  <a:srgbClr val="587081"/>
                </a:solidFill>
              </a:defRPr>
            </a:lvl5pPr>
            <a:lvl6pPr>
              <a:defRPr sz="1350" b="0">
                <a:solidFill>
                  <a:srgbClr val="587081"/>
                </a:solidFill>
              </a:defRPr>
            </a:lvl6pPr>
            <a:lvl7pPr>
              <a:defRPr sz="1350" b="0">
                <a:solidFill>
                  <a:srgbClr val="587081"/>
                </a:solidFill>
              </a:defRPr>
            </a:lvl7pPr>
            <a:lvl8pPr>
              <a:defRPr sz="1350" b="0">
                <a:solidFill>
                  <a:srgbClr val="587081"/>
                </a:solidFill>
              </a:defRPr>
            </a:lvl8pPr>
            <a:lvl9pPr>
              <a:defRPr sz="1350" b="0">
                <a:solidFill>
                  <a:srgbClr val="587081"/>
                </a:solidFill>
              </a:defRPr>
            </a:lvl9pPr>
          </a:lstStyle>
          <a:p>
            <a:pPr>
              <a:defRPr sz="1350" b="0">
                <a:solidFill>
                  <a:srgbClr val="587081"/>
                </a:solidFill>
              </a:defRPr>
            </a:pPr>
            <a:r>
              <a:rPr sz="1350" b="0">
                <a:solidFill>
                  <a:srgbClr val="587081"/>
                </a:solidFill>
              </a:rPr>
              <a:t>02 / 20</a:t>
            </a:r>
          </a:p>
        </p:txBody>
      </p:sp>
      <p:sp>
        <p:nvSpPr>
          <p:cNvPr id="4" name="Detailed evidence on the website">
            <a:extLst>
              <a:ext uri="{FF2B5EF4-FFF2-40B4-BE49-F238E27FC236}">
                <a16:creationId xmlns:a16="http://schemas.microsoft.com/office/drawing/2014/main" id="{668E310F-56A0-4B64-8877-27C4E112A5FA}"/>
              </a:ext>
            </a:extLst>
          </p:cNvPr>
          <p:cNvSpPr>
            <a:spLocks noGrp="1"/>
          </p:cNvSpPr>
          <p:nvPr/>
        </p:nvSpPr>
        <p:spPr>
          <a:xfrm>
            <a:off x="7000875" y="6448425"/>
            <a:ext cx="3476625" cy="238125"/>
          </a:xfrm>
          <a:prstGeom prst="rect">
            <a:avLst/>
          </a:prstGeom>
          <a:noFill/>
          <a:ln w="0">
            <a:noFill/>
          </a:ln>
        </p:spPr>
        <p:txBody>
          <a:bodyPr lIns="0" tIns="0" rIns="0" bIns="0" anchor="t"/>
          <a:lstStyle>
            <a:defPPr>
              <a:defRPr sz="1350" b="0">
                <a:solidFill>
                  <a:srgbClr val="087F95"/>
                </a:solidFill>
              </a:defRPr>
            </a:defPPr>
            <a:lvl1pPr>
              <a:defRPr sz="1350" b="0">
                <a:solidFill>
                  <a:srgbClr val="087F95"/>
                </a:solidFill>
              </a:defRPr>
            </a:lvl1pPr>
            <a:lvl2pPr>
              <a:defRPr sz="1350" b="0">
                <a:solidFill>
                  <a:srgbClr val="087F95"/>
                </a:solidFill>
              </a:defRPr>
            </a:lvl2pPr>
            <a:lvl3pPr>
              <a:defRPr sz="1350" b="0">
                <a:solidFill>
                  <a:srgbClr val="087F95"/>
                </a:solidFill>
              </a:defRPr>
            </a:lvl3pPr>
            <a:lvl4pPr>
              <a:defRPr sz="1350" b="0">
                <a:solidFill>
                  <a:srgbClr val="087F95"/>
                </a:solidFill>
              </a:defRPr>
            </a:lvl4pPr>
            <a:lvl5pPr>
              <a:defRPr sz="1350" b="0">
                <a:solidFill>
                  <a:srgbClr val="087F95"/>
                </a:solidFill>
              </a:defRPr>
            </a:lvl5pPr>
            <a:lvl6pPr>
              <a:defRPr sz="1350" b="0">
                <a:solidFill>
                  <a:srgbClr val="087F95"/>
                </a:solidFill>
              </a:defRPr>
            </a:lvl6pPr>
            <a:lvl7pPr>
              <a:defRPr sz="1350" b="0">
                <a:solidFill>
                  <a:srgbClr val="087F95"/>
                </a:solidFill>
              </a:defRPr>
            </a:lvl7pPr>
            <a:lvl8pPr>
              <a:defRPr sz="1350" b="0">
                <a:solidFill>
                  <a:srgbClr val="087F95"/>
                </a:solidFill>
              </a:defRPr>
            </a:lvl8pPr>
            <a:lvl9pPr>
              <a:defRPr sz="1350" b="0">
                <a:solidFill>
                  <a:srgbClr val="087F95"/>
                </a:solidFill>
              </a:defRPr>
            </a:lvl9pPr>
          </a:lstStyle>
          <a:p>
            <a:pPr>
              <a:defRPr sz="1350" b="0">
                <a:solidFill>
                  <a:srgbClr val="087F95"/>
                </a:solidFill>
              </a:defRPr>
            </a:pPr>
            <a:r>
              <a:rPr sz="1350" b="0">
                <a:solidFill>
                  <a:srgbClr val="087F95"/>
                </a:solidFill>
                <a:hlinkClick r:id="rId3"/>
              </a:rPr>
              <a:t>Detailed evidence on the website</a:t>
            </a:r>
          </a:p>
        </p:txBody>
      </p:sp>
      <p:pic>
        <p:nvPicPr>
          <p:cNvPr id="5" name="Picture 4">
            <a:extLst>
              <a:ext uri="{FF2B5EF4-FFF2-40B4-BE49-F238E27FC236}">
                <a16:creationId xmlns:a16="http://schemas.microsoft.com/office/drawing/2014/main" id="{93530A9A-ABE9-468C-B010-DAF1FD535888}"/>
              </a:ext>
            </a:extLst>
          </p:cNvPr>
          <p:cNvPicPr>
            <a:picLocks noChangeAspect="1"/>
          </p:cNvPicPr>
          <p:nvPr/>
        </p:nvPicPr>
        <p:blipFill>
          <a:blip r:embed="rId4"/>
          <a:stretch/>
        </p:blipFill>
        <p:spPr>
          <a:xfrm>
            <a:off x="533400" y="1597604"/>
            <a:ext cx="6915150" cy="3624691"/>
          </a:xfrm>
          <a:prstGeom prst="rect">
            <a:avLst/>
          </a:prstGeom>
        </p:spPr>
      </p:pic>
      <p:sp>
        <p:nvSpPr>
          <p:cNvPr id="6" name="30 days">
            <a:extLst>
              <a:ext uri="{FF2B5EF4-FFF2-40B4-BE49-F238E27FC236}">
                <a16:creationId xmlns:a16="http://schemas.microsoft.com/office/drawing/2014/main" id="{FC81AFF7-D6C1-4599-B73A-38BA3CE56AB9}"/>
              </a:ext>
            </a:extLst>
          </p:cNvPr>
          <p:cNvSpPr>
            <a:spLocks noGrp="1"/>
          </p:cNvSpPr>
          <p:nvPr/>
        </p:nvSpPr>
        <p:spPr>
          <a:xfrm>
            <a:off x="7972425" y="1628775"/>
            <a:ext cx="3333750" cy="609600"/>
          </a:xfrm>
          <a:prstGeom prst="rect">
            <a:avLst/>
          </a:prstGeom>
          <a:noFill/>
          <a:ln w="0">
            <a:noFill/>
          </a:ln>
        </p:spPr>
        <p:txBody>
          <a:bodyPr lIns="0" tIns="0" rIns="0" bIns="0" anchor="t"/>
          <a:lstStyle>
            <a:defPPr>
              <a:defRPr sz="3900" b="1">
                <a:solidFill>
                  <a:srgbClr val="087F95"/>
                </a:solidFill>
              </a:defRPr>
            </a:defPPr>
            <a:lvl1pPr>
              <a:defRPr sz="3900" b="1">
                <a:solidFill>
                  <a:srgbClr val="087F95"/>
                </a:solidFill>
              </a:defRPr>
            </a:lvl1pPr>
            <a:lvl2pPr>
              <a:defRPr sz="3900" b="1">
                <a:solidFill>
                  <a:srgbClr val="087F95"/>
                </a:solidFill>
              </a:defRPr>
            </a:lvl2pPr>
            <a:lvl3pPr>
              <a:defRPr sz="3900" b="1">
                <a:solidFill>
                  <a:srgbClr val="087F95"/>
                </a:solidFill>
              </a:defRPr>
            </a:lvl3pPr>
            <a:lvl4pPr>
              <a:defRPr sz="3900" b="1">
                <a:solidFill>
                  <a:srgbClr val="087F95"/>
                </a:solidFill>
              </a:defRPr>
            </a:lvl4pPr>
            <a:lvl5pPr>
              <a:defRPr sz="3900" b="1">
                <a:solidFill>
                  <a:srgbClr val="087F95"/>
                </a:solidFill>
              </a:defRPr>
            </a:lvl5pPr>
            <a:lvl6pPr>
              <a:defRPr sz="3900" b="1">
                <a:solidFill>
                  <a:srgbClr val="087F95"/>
                </a:solidFill>
              </a:defRPr>
            </a:lvl6pPr>
            <a:lvl7pPr>
              <a:defRPr sz="3900" b="1">
                <a:solidFill>
                  <a:srgbClr val="087F95"/>
                </a:solidFill>
              </a:defRPr>
            </a:lvl7pPr>
            <a:lvl8pPr>
              <a:defRPr sz="3900" b="1">
                <a:solidFill>
                  <a:srgbClr val="087F95"/>
                </a:solidFill>
              </a:defRPr>
            </a:lvl8pPr>
            <a:lvl9pPr>
              <a:defRPr sz="3900" b="1">
                <a:solidFill>
                  <a:srgbClr val="087F95"/>
                </a:solidFill>
              </a:defRPr>
            </a:lvl9pPr>
          </a:lstStyle>
          <a:p>
            <a:pPr>
              <a:defRPr sz="3900" b="1">
                <a:solidFill>
                  <a:srgbClr val="087F95"/>
                </a:solidFill>
              </a:defRPr>
            </a:pPr>
            <a:r>
              <a:rPr sz="3900" b="1">
                <a:solidFill>
                  <a:srgbClr val="087F95"/>
                </a:solidFill>
              </a:rPr>
              <a:t>30 days</a:t>
            </a:r>
          </a:p>
        </p:txBody>
      </p:sp>
      <p:sp>
        <p:nvSpPr>
          <p:cNvPr id="7" name="Company-reported ST1 journey in 2026">
            <a:extLst>
              <a:ext uri="{FF2B5EF4-FFF2-40B4-BE49-F238E27FC236}">
                <a16:creationId xmlns:a16="http://schemas.microsoft.com/office/drawing/2014/main" id="{7C68ADAC-AF1C-4069-B61B-F4BD786F4624}"/>
              </a:ext>
            </a:extLst>
          </p:cNvPr>
          <p:cNvSpPr>
            <a:spLocks noGrp="1"/>
          </p:cNvSpPr>
          <p:nvPr/>
        </p:nvSpPr>
        <p:spPr>
          <a:xfrm>
            <a:off x="7972425" y="2266950"/>
            <a:ext cx="3333750" cy="742950"/>
          </a:xfrm>
          <a:prstGeom prst="rect">
            <a:avLst/>
          </a:prstGeom>
          <a:noFill/>
          <a:ln w="0">
            <a:noFill/>
          </a:ln>
        </p:spPr>
        <p:txBody>
          <a:bodyPr lIns="0" tIns="0" rIns="0" bIns="0" anchor="t"/>
          <a:lstStyle>
            <a:defPPr>
              <a:defRPr sz="1725" b="0">
                <a:solidFill>
                  <a:srgbClr val="587081"/>
                </a:solidFill>
              </a:defRPr>
            </a:defPPr>
            <a:lvl1pPr>
              <a:defRPr sz="1725" b="0">
                <a:solidFill>
                  <a:srgbClr val="587081"/>
                </a:solidFill>
              </a:defRPr>
            </a:lvl1pPr>
            <a:lvl2pPr>
              <a:defRPr sz="1725" b="0">
                <a:solidFill>
                  <a:srgbClr val="587081"/>
                </a:solidFill>
              </a:defRPr>
            </a:lvl2pPr>
            <a:lvl3pPr>
              <a:defRPr sz="1725" b="0">
                <a:solidFill>
                  <a:srgbClr val="587081"/>
                </a:solidFill>
              </a:defRPr>
            </a:lvl3pPr>
            <a:lvl4pPr>
              <a:defRPr sz="1725" b="0">
                <a:solidFill>
                  <a:srgbClr val="587081"/>
                </a:solidFill>
              </a:defRPr>
            </a:lvl4pPr>
            <a:lvl5pPr>
              <a:defRPr sz="1725" b="0">
                <a:solidFill>
                  <a:srgbClr val="587081"/>
                </a:solidFill>
              </a:defRPr>
            </a:lvl5pPr>
            <a:lvl6pPr>
              <a:defRPr sz="1725" b="0">
                <a:solidFill>
                  <a:srgbClr val="587081"/>
                </a:solidFill>
              </a:defRPr>
            </a:lvl6pPr>
            <a:lvl7pPr>
              <a:defRPr sz="1725" b="0">
                <a:solidFill>
                  <a:srgbClr val="587081"/>
                </a:solidFill>
              </a:defRPr>
            </a:lvl7pPr>
            <a:lvl8pPr>
              <a:defRPr sz="1725" b="0">
                <a:solidFill>
                  <a:srgbClr val="587081"/>
                </a:solidFill>
              </a:defRPr>
            </a:lvl8pPr>
            <a:lvl9pPr>
              <a:defRPr sz="1725" b="0">
                <a:solidFill>
                  <a:srgbClr val="587081"/>
                </a:solidFill>
              </a:defRPr>
            </a:lvl9pPr>
          </a:lstStyle>
          <a:p>
            <a:pPr>
              <a:defRPr sz="1725" b="0">
                <a:solidFill>
                  <a:srgbClr val="587081"/>
                </a:solidFill>
              </a:defRPr>
            </a:pPr>
            <a:r>
              <a:rPr sz="1725" b="0">
                <a:solidFill>
                  <a:srgbClr val="587081"/>
                </a:solidFill>
              </a:rPr>
              <a:t>Company-reported ST1 journey in 2026</a:t>
            </a:r>
          </a:p>
        </p:txBody>
      </p:sp>
      <p:sp>
        <p:nvSpPr>
          <p:cNvPr id="8" name="Connectivity and edge computing&#10;Earth observation payloads&#10;Solar ">
            <a:extLst>
              <a:ext uri="{FF2B5EF4-FFF2-40B4-BE49-F238E27FC236}">
                <a16:creationId xmlns:a16="http://schemas.microsoft.com/office/drawing/2014/main" id="{9EC9E654-96FC-4379-B74D-C7729425ED93}"/>
              </a:ext>
            </a:extLst>
          </p:cNvPr>
          <p:cNvSpPr>
            <a:spLocks noGrp="1"/>
          </p:cNvSpPr>
          <p:nvPr/>
        </p:nvSpPr>
        <p:spPr>
          <a:xfrm>
            <a:off x="7972425" y="3314700"/>
            <a:ext cx="3333750" cy="1571625"/>
          </a:xfrm>
          <a:prstGeom prst="rect">
            <a:avLst/>
          </a:prstGeom>
          <a:noFill/>
          <a:ln w="0">
            <a:noFill/>
          </a:ln>
        </p:spPr>
        <p:txBody>
          <a:bodyPr lIns="0" tIns="0" rIns="0" bIns="0" anchor="t"/>
          <a:lstStyle>
            <a:defPPr>
              <a:defRPr sz="2025" b="0">
                <a:solidFill>
                  <a:srgbClr val="142B3D"/>
                </a:solidFill>
              </a:defRPr>
            </a:defPPr>
            <a:lvl1pPr>
              <a:defRPr sz="2025" b="0">
                <a:solidFill>
                  <a:srgbClr val="142B3D"/>
                </a:solidFill>
              </a:defRPr>
            </a:lvl1pPr>
            <a:lvl2pPr>
              <a:defRPr sz="2025" b="0">
                <a:solidFill>
                  <a:srgbClr val="142B3D"/>
                </a:solidFill>
              </a:defRPr>
            </a:lvl2pPr>
            <a:lvl3pPr>
              <a:defRPr sz="2025" b="0">
                <a:solidFill>
                  <a:srgbClr val="142B3D"/>
                </a:solidFill>
              </a:defRPr>
            </a:lvl3pPr>
            <a:lvl4pPr>
              <a:defRPr sz="2025" b="0">
                <a:solidFill>
                  <a:srgbClr val="142B3D"/>
                </a:solidFill>
              </a:defRPr>
            </a:lvl4pPr>
            <a:lvl5pPr>
              <a:defRPr sz="2025" b="0">
                <a:solidFill>
                  <a:srgbClr val="142B3D"/>
                </a:solidFill>
              </a:defRPr>
            </a:lvl5pPr>
            <a:lvl6pPr>
              <a:defRPr sz="2025" b="0">
                <a:solidFill>
                  <a:srgbClr val="142B3D"/>
                </a:solidFill>
              </a:defRPr>
            </a:lvl6pPr>
            <a:lvl7pPr>
              <a:defRPr sz="2025" b="0">
                <a:solidFill>
                  <a:srgbClr val="142B3D"/>
                </a:solidFill>
              </a:defRPr>
            </a:lvl7pPr>
            <a:lvl8pPr>
              <a:defRPr sz="2025" b="0">
                <a:solidFill>
                  <a:srgbClr val="142B3D"/>
                </a:solidFill>
              </a:defRPr>
            </a:lvl8pPr>
            <a:lvl9pPr>
              <a:defRPr sz="2025" b="0">
                <a:solidFill>
                  <a:srgbClr val="142B3D"/>
                </a:solidFill>
              </a:defRPr>
            </a:lvl9pPr>
          </a:lstStyle>
          <a:p>
            <a:pPr>
              <a:defRPr sz="2025" b="0">
                <a:solidFill>
                  <a:srgbClr val="142B3D"/>
                </a:solidFill>
              </a:defRPr>
            </a:pPr>
            <a:r>
              <a:rPr sz="2025" b="0">
                <a:solidFill>
                  <a:srgbClr val="142B3D"/>
                </a:solidFill>
              </a:rPr>
              <a:t>Connectivity and edge computing</a:t>
            </a:r>
          </a:p>
          <a:p>
            <a:pPr>
              <a:defRPr sz="2025" b="0">
                <a:solidFill>
                  <a:srgbClr val="142B3D"/>
                </a:solidFill>
              </a:defRPr>
            </a:pPr>
            <a:r>
              <a:rPr sz="2025" b="0">
                <a:solidFill>
                  <a:srgbClr val="142B3D"/>
                </a:solidFill>
              </a:rPr>
              <a:t>Earth observation payloads</a:t>
            </a:r>
          </a:p>
          <a:p>
            <a:pPr>
              <a:defRPr sz="2025" b="0">
                <a:solidFill>
                  <a:srgbClr val="142B3D"/>
                </a:solidFill>
              </a:defRPr>
            </a:pPr>
            <a:r>
              <a:rPr sz="2025" b="0">
                <a:solidFill>
                  <a:srgbClr val="142B3D"/>
                </a:solidFill>
              </a:rPr>
              <a:t>Solar by day, batteries at night</a:t>
            </a:r>
          </a:p>
        </p:txBody>
      </p:sp>
      <p:sp>
        <p:nvSpPr>
          <p:cNvPr id="9" name="Job environment: 18–21 km. Study basis: 20 km. ST1 reported 16.5–">
            <a:extLst>
              <a:ext uri="{FF2B5EF4-FFF2-40B4-BE49-F238E27FC236}">
                <a16:creationId xmlns:a16="http://schemas.microsoft.com/office/drawing/2014/main" id="{558BB13F-95D0-4F37-9AC7-B4567FCE4382}"/>
              </a:ext>
            </a:extLst>
          </p:cNvPr>
          <p:cNvSpPr>
            <a:spLocks noGrp="1"/>
          </p:cNvSpPr>
          <p:nvPr/>
        </p:nvSpPr>
        <p:spPr>
          <a:xfrm>
            <a:off x="533400" y="5553075"/>
            <a:ext cx="11096625" cy="609600"/>
          </a:xfrm>
          <a:prstGeom prst="rect">
            <a:avLst/>
          </a:prstGeom>
          <a:noFill/>
          <a:ln w="0">
            <a:noFill/>
          </a:ln>
        </p:spPr>
        <p:txBody>
          <a:bodyPr lIns="0" tIns="0" rIns="0" bIns="0" anchor="t"/>
          <a:lstStyle>
            <a:defPPr>
              <a:defRPr sz="1800" b="0">
                <a:solidFill>
                  <a:srgbClr val="587081"/>
                </a:solidFill>
              </a:defRPr>
            </a:defPPr>
            <a:lvl1pPr>
              <a:defRPr sz="1800" b="0">
                <a:solidFill>
                  <a:srgbClr val="587081"/>
                </a:solidFill>
              </a:defRPr>
            </a:lvl1pPr>
            <a:lvl2pPr>
              <a:defRPr sz="1800" b="0">
                <a:solidFill>
                  <a:srgbClr val="587081"/>
                </a:solidFill>
              </a:defRPr>
            </a:lvl2pPr>
            <a:lvl3pPr>
              <a:defRPr sz="1800" b="0">
                <a:solidFill>
                  <a:srgbClr val="587081"/>
                </a:solidFill>
              </a:defRPr>
            </a:lvl3pPr>
            <a:lvl4pPr>
              <a:defRPr sz="1800" b="0">
                <a:solidFill>
                  <a:srgbClr val="587081"/>
                </a:solidFill>
              </a:defRPr>
            </a:lvl4pPr>
            <a:lvl5pPr>
              <a:defRPr sz="1800" b="0">
                <a:solidFill>
                  <a:srgbClr val="587081"/>
                </a:solidFill>
              </a:defRPr>
            </a:lvl5pPr>
            <a:lvl6pPr>
              <a:defRPr sz="1800" b="0">
                <a:solidFill>
                  <a:srgbClr val="587081"/>
                </a:solidFill>
              </a:defRPr>
            </a:lvl6pPr>
            <a:lvl7pPr>
              <a:defRPr sz="1800" b="0">
                <a:solidFill>
                  <a:srgbClr val="587081"/>
                </a:solidFill>
              </a:defRPr>
            </a:lvl7pPr>
            <a:lvl8pPr>
              <a:defRPr sz="1800" b="0">
                <a:solidFill>
                  <a:srgbClr val="587081"/>
                </a:solidFill>
              </a:defRPr>
            </a:lvl8pPr>
            <a:lvl9pPr>
              <a:defRPr sz="1800" b="0">
                <a:solidFill>
                  <a:srgbClr val="587081"/>
                </a:solidFill>
              </a:defRPr>
            </a:lvl9pPr>
          </a:lstStyle>
          <a:p>
            <a:pPr>
              <a:defRPr sz="1800" b="0">
                <a:solidFill>
                  <a:srgbClr val="587081"/>
                </a:solidFill>
              </a:defRPr>
            </a:pPr>
            <a:r>
              <a:rPr sz="1800" b="0">
                <a:solidFill>
                  <a:srgbClr val="587081"/>
                </a:solidFill>
              </a:rPr>
              <a:t>Job environment: 18–21 km. Study basis: 20 km. ST1 reported 16.5–17 km.</a:t>
            </a:r>
          </a:p>
        </p:txBody>
      </p:sp>
    </p:spTree>
    <p:extLst>
      <p:ext uri="{BB962C8B-B14F-4D97-AF65-F5344CB8AC3E}">
        <p14:creationId xmlns:p14="http://schemas.microsoft.com/office/powerpoint/2010/main" val="820432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Public references became a component-level CAD model">
            <a:extLst>
              <a:ext uri="{FF2B5EF4-FFF2-40B4-BE49-F238E27FC236}">
                <a16:creationId xmlns:a16="http://schemas.microsoft.com/office/drawing/2014/main" id="{EE4BA449-5F67-4427-8B2B-040D6F9D99D6}"/>
              </a:ext>
            </a:extLst>
          </p:cNvPr>
          <p:cNvSpPr>
            <a:spLocks noGrp="1"/>
          </p:cNvSpPr>
          <p:nvPr/>
        </p:nvSpPr>
        <p:spPr>
          <a:xfrm>
            <a:off x="533400" y="361950"/>
            <a:ext cx="11125200" cy="1028700"/>
          </a:xfrm>
          <a:prstGeom prst="rect">
            <a:avLst/>
          </a:prstGeom>
          <a:noFill/>
          <a:ln w="0">
            <a:noFill/>
          </a:ln>
        </p:spPr>
        <p:txBody>
          <a:bodyPr lIns="0" tIns="0" rIns="0" bIns="0" anchor="t"/>
          <a:lstStyle>
            <a:defPPr>
              <a:defRPr sz="3150" b="1">
                <a:solidFill>
                  <a:srgbClr val="142B3D"/>
                </a:solidFill>
              </a:defRPr>
            </a:defPPr>
            <a:lvl1pPr>
              <a:defRPr sz="3150" b="1">
                <a:solidFill>
                  <a:srgbClr val="142B3D"/>
                </a:solidFill>
              </a:defRPr>
            </a:lvl1pPr>
            <a:lvl2pPr>
              <a:defRPr sz="3150" b="1">
                <a:solidFill>
                  <a:srgbClr val="142B3D"/>
                </a:solidFill>
              </a:defRPr>
            </a:lvl2pPr>
            <a:lvl3pPr>
              <a:defRPr sz="3150" b="1">
                <a:solidFill>
                  <a:srgbClr val="142B3D"/>
                </a:solidFill>
              </a:defRPr>
            </a:lvl3pPr>
            <a:lvl4pPr>
              <a:defRPr sz="3150" b="1">
                <a:solidFill>
                  <a:srgbClr val="142B3D"/>
                </a:solidFill>
              </a:defRPr>
            </a:lvl4pPr>
            <a:lvl5pPr>
              <a:defRPr sz="3150" b="1">
                <a:solidFill>
                  <a:srgbClr val="142B3D"/>
                </a:solidFill>
              </a:defRPr>
            </a:lvl5pPr>
            <a:lvl6pPr>
              <a:defRPr sz="3150" b="1">
                <a:solidFill>
                  <a:srgbClr val="142B3D"/>
                </a:solidFill>
              </a:defRPr>
            </a:lvl6pPr>
            <a:lvl7pPr>
              <a:defRPr sz="3150" b="1">
                <a:solidFill>
                  <a:srgbClr val="142B3D"/>
                </a:solidFill>
              </a:defRPr>
            </a:lvl7pPr>
            <a:lvl8pPr>
              <a:defRPr sz="3150" b="1">
                <a:solidFill>
                  <a:srgbClr val="142B3D"/>
                </a:solidFill>
              </a:defRPr>
            </a:lvl8pPr>
            <a:lvl9pPr>
              <a:defRPr sz="3150" b="1">
                <a:solidFill>
                  <a:srgbClr val="142B3D"/>
                </a:solidFill>
              </a:defRPr>
            </a:lvl9pPr>
          </a:lstStyle>
          <a:p>
            <a:pPr>
              <a:defRPr sz="3150" b="1">
                <a:solidFill>
                  <a:srgbClr val="142B3D"/>
                </a:solidFill>
              </a:defRPr>
            </a:pPr>
            <a:r>
              <a:rPr sz="3150" b="1">
                <a:solidFill>
                  <a:srgbClr val="142B3D"/>
                </a:solidFill>
              </a:rPr>
              <a:t>Public references became a component-level CAD model</a:t>
            </a:r>
          </a:p>
        </p:txBody>
      </p:sp>
      <p:sp>
        <p:nvSpPr>
          <p:cNvPr id="2" name="Khani Solutions">
            <a:extLst>
              <a:ext uri="{FF2B5EF4-FFF2-40B4-BE49-F238E27FC236}">
                <a16:creationId xmlns:a16="http://schemas.microsoft.com/office/drawing/2014/main" id="{3106A223-3598-4FC1-9CFD-48F269CB60F2}"/>
              </a:ext>
            </a:extLst>
          </p:cNvPr>
          <p:cNvSpPr>
            <a:spLocks noGrp="1"/>
          </p:cNvSpPr>
          <p:nvPr/>
        </p:nvSpPr>
        <p:spPr>
          <a:xfrm>
            <a:off x="533400" y="6448425"/>
            <a:ext cx="2190750" cy="238125"/>
          </a:xfrm>
          <a:prstGeom prst="rect">
            <a:avLst/>
          </a:prstGeom>
          <a:noFill/>
          <a:ln w="0">
            <a:noFill/>
          </a:ln>
        </p:spPr>
        <p:txBody>
          <a:bodyPr lIns="0" tIns="0" rIns="0" bIns="0" anchor="t"/>
          <a:lstStyle>
            <a:defPPr>
              <a:defRPr sz="1350" b="0">
                <a:solidFill>
                  <a:srgbClr val="587081"/>
                </a:solidFill>
              </a:defRPr>
            </a:defPPr>
            <a:lvl1pPr>
              <a:defRPr sz="1350" b="0">
                <a:solidFill>
                  <a:srgbClr val="587081"/>
                </a:solidFill>
              </a:defRPr>
            </a:lvl1pPr>
            <a:lvl2pPr>
              <a:defRPr sz="1350" b="0">
                <a:solidFill>
                  <a:srgbClr val="587081"/>
                </a:solidFill>
              </a:defRPr>
            </a:lvl2pPr>
            <a:lvl3pPr>
              <a:defRPr sz="1350" b="0">
                <a:solidFill>
                  <a:srgbClr val="587081"/>
                </a:solidFill>
              </a:defRPr>
            </a:lvl3pPr>
            <a:lvl4pPr>
              <a:defRPr sz="1350" b="0">
                <a:solidFill>
                  <a:srgbClr val="587081"/>
                </a:solidFill>
              </a:defRPr>
            </a:lvl4pPr>
            <a:lvl5pPr>
              <a:defRPr sz="1350" b="0">
                <a:solidFill>
                  <a:srgbClr val="587081"/>
                </a:solidFill>
              </a:defRPr>
            </a:lvl5pPr>
            <a:lvl6pPr>
              <a:defRPr sz="1350" b="0">
                <a:solidFill>
                  <a:srgbClr val="587081"/>
                </a:solidFill>
              </a:defRPr>
            </a:lvl6pPr>
            <a:lvl7pPr>
              <a:defRPr sz="1350" b="0">
                <a:solidFill>
                  <a:srgbClr val="587081"/>
                </a:solidFill>
              </a:defRPr>
            </a:lvl7pPr>
            <a:lvl8pPr>
              <a:defRPr sz="1350" b="0">
                <a:solidFill>
                  <a:srgbClr val="587081"/>
                </a:solidFill>
              </a:defRPr>
            </a:lvl8pPr>
            <a:lvl9pPr>
              <a:defRPr sz="1350" b="0">
                <a:solidFill>
                  <a:srgbClr val="587081"/>
                </a:solidFill>
              </a:defRPr>
            </a:lvl9pPr>
          </a:lstStyle>
          <a:p>
            <a:pPr>
              <a:defRPr sz="1350" b="0">
                <a:solidFill>
                  <a:srgbClr val="587081"/>
                </a:solidFill>
              </a:defRPr>
            </a:pPr>
            <a:r>
              <a:rPr sz="1350" b="0">
                <a:solidFill>
                  <a:srgbClr val="587081"/>
                </a:solidFill>
              </a:rPr>
              <a:t>Khani Solutions</a:t>
            </a:r>
          </a:p>
        </p:txBody>
      </p:sp>
      <p:sp>
        <p:nvSpPr>
          <p:cNvPr id="3" name="03 / 20">
            <a:extLst>
              <a:ext uri="{FF2B5EF4-FFF2-40B4-BE49-F238E27FC236}">
                <a16:creationId xmlns:a16="http://schemas.microsoft.com/office/drawing/2014/main" id="{2BC00817-AE9E-4F90-BBC0-42BC00336408}"/>
              </a:ext>
            </a:extLst>
          </p:cNvPr>
          <p:cNvSpPr>
            <a:spLocks noGrp="1"/>
          </p:cNvSpPr>
          <p:nvPr/>
        </p:nvSpPr>
        <p:spPr>
          <a:xfrm>
            <a:off x="10896600" y="6448425"/>
            <a:ext cx="857250" cy="238125"/>
          </a:xfrm>
          <a:prstGeom prst="rect">
            <a:avLst/>
          </a:prstGeom>
          <a:noFill/>
          <a:ln w="0">
            <a:noFill/>
          </a:ln>
        </p:spPr>
        <p:txBody>
          <a:bodyPr lIns="0" tIns="0" rIns="0" bIns="0" anchor="t"/>
          <a:lstStyle>
            <a:defPPr>
              <a:defRPr sz="1350" b="0">
                <a:solidFill>
                  <a:srgbClr val="587081"/>
                </a:solidFill>
              </a:defRPr>
            </a:defPPr>
            <a:lvl1pPr>
              <a:defRPr sz="1350" b="0">
                <a:solidFill>
                  <a:srgbClr val="587081"/>
                </a:solidFill>
              </a:defRPr>
            </a:lvl1pPr>
            <a:lvl2pPr>
              <a:defRPr sz="1350" b="0">
                <a:solidFill>
                  <a:srgbClr val="587081"/>
                </a:solidFill>
              </a:defRPr>
            </a:lvl2pPr>
            <a:lvl3pPr>
              <a:defRPr sz="1350" b="0">
                <a:solidFill>
                  <a:srgbClr val="587081"/>
                </a:solidFill>
              </a:defRPr>
            </a:lvl3pPr>
            <a:lvl4pPr>
              <a:defRPr sz="1350" b="0">
                <a:solidFill>
                  <a:srgbClr val="587081"/>
                </a:solidFill>
              </a:defRPr>
            </a:lvl4pPr>
            <a:lvl5pPr>
              <a:defRPr sz="1350" b="0">
                <a:solidFill>
                  <a:srgbClr val="587081"/>
                </a:solidFill>
              </a:defRPr>
            </a:lvl5pPr>
            <a:lvl6pPr>
              <a:defRPr sz="1350" b="0">
                <a:solidFill>
                  <a:srgbClr val="587081"/>
                </a:solidFill>
              </a:defRPr>
            </a:lvl6pPr>
            <a:lvl7pPr>
              <a:defRPr sz="1350" b="0">
                <a:solidFill>
                  <a:srgbClr val="587081"/>
                </a:solidFill>
              </a:defRPr>
            </a:lvl7pPr>
            <a:lvl8pPr>
              <a:defRPr sz="1350" b="0">
                <a:solidFill>
                  <a:srgbClr val="587081"/>
                </a:solidFill>
              </a:defRPr>
            </a:lvl8pPr>
            <a:lvl9pPr>
              <a:defRPr sz="1350" b="0">
                <a:solidFill>
                  <a:srgbClr val="587081"/>
                </a:solidFill>
              </a:defRPr>
            </a:lvl9pPr>
          </a:lstStyle>
          <a:p>
            <a:pPr>
              <a:defRPr sz="1350" b="0">
                <a:solidFill>
                  <a:srgbClr val="587081"/>
                </a:solidFill>
              </a:defRPr>
            </a:pPr>
            <a:r>
              <a:rPr sz="1350" b="0">
                <a:solidFill>
                  <a:srgbClr val="587081"/>
                </a:solidFill>
              </a:rPr>
              <a:t>03 / 20</a:t>
            </a:r>
          </a:p>
        </p:txBody>
      </p:sp>
      <p:sp>
        <p:nvSpPr>
          <p:cNvPr id="4" name="Detailed evidence on the website">
            <a:extLst>
              <a:ext uri="{FF2B5EF4-FFF2-40B4-BE49-F238E27FC236}">
                <a16:creationId xmlns:a16="http://schemas.microsoft.com/office/drawing/2014/main" id="{D75A8311-F82B-4545-A011-F7058D031A93}"/>
              </a:ext>
            </a:extLst>
          </p:cNvPr>
          <p:cNvSpPr>
            <a:spLocks noGrp="1"/>
          </p:cNvSpPr>
          <p:nvPr/>
        </p:nvSpPr>
        <p:spPr>
          <a:xfrm>
            <a:off x="7000875" y="6448425"/>
            <a:ext cx="3476625" cy="238125"/>
          </a:xfrm>
          <a:prstGeom prst="rect">
            <a:avLst/>
          </a:prstGeom>
          <a:noFill/>
          <a:ln w="0">
            <a:noFill/>
          </a:ln>
        </p:spPr>
        <p:txBody>
          <a:bodyPr lIns="0" tIns="0" rIns="0" bIns="0" anchor="t"/>
          <a:lstStyle>
            <a:defPPr>
              <a:defRPr sz="1350" b="0">
                <a:solidFill>
                  <a:srgbClr val="087F95"/>
                </a:solidFill>
              </a:defRPr>
            </a:defPPr>
            <a:lvl1pPr>
              <a:defRPr sz="1350" b="0">
                <a:solidFill>
                  <a:srgbClr val="087F95"/>
                </a:solidFill>
              </a:defRPr>
            </a:lvl1pPr>
            <a:lvl2pPr>
              <a:defRPr sz="1350" b="0">
                <a:solidFill>
                  <a:srgbClr val="087F95"/>
                </a:solidFill>
              </a:defRPr>
            </a:lvl2pPr>
            <a:lvl3pPr>
              <a:defRPr sz="1350" b="0">
                <a:solidFill>
                  <a:srgbClr val="087F95"/>
                </a:solidFill>
              </a:defRPr>
            </a:lvl3pPr>
            <a:lvl4pPr>
              <a:defRPr sz="1350" b="0">
                <a:solidFill>
                  <a:srgbClr val="087F95"/>
                </a:solidFill>
              </a:defRPr>
            </a:lvl4pPr>
            <a:lvl5pPr>
              <a:defRPr sz="1350" b="0">
                <a:solidFill>
                  <a:srgbClr val="087F95"/>
                </a:solidFill>
              </a:defRPr>
            </a:lvl5pPr>
            <a:lvl6pPr>
              <a:defRPr sz="1350" b="0">
                <a:solidFill>
                  <a:srgbClr val="087F95"/>
                </a:solidFill>
              </a:defRPr>
            </a:lvl6pPr>
            <a:lvl7pPr>
              <a:defRPr sz="1350" b="0">
                <a:solidFill>
                  <a:srgbClr val="087F95"/>
                </a:solidFill>
              </a:defRPr>
            </a:lvl7pPr>
            <a:lvl8pPr>
              <a:defRPr sz="1350" b="0">
                <a:solidFill>
                  <a:srgbClr val="087F95"/>
                </a:solidFill>
              </a:defRPr>
            </a:lvl8pPr>
            <a:lvl9pPr>
              <a:defRPr sz="1350" b="0">
                <a:solidFill>
                  <a:srgbClr val="087F95"/>
                </a:solidFill>
              </a:defRPr>
            </a:lvl9pPr>
          </a:lstStyle>
          <a:p>
            <a:pPr>
              <a:defRPr sz="1350" b="0">
                <a:solidFill>
                  <a:srgbClr val="087F95"/>
                </a:solidFill>
              </a:defRPr>
            </a:pPr>
            <a:r>
              <a:rPr sz="1350" b="0" dirty="0">
                <a:solidFill>
                  <a:srgbClr val="087F95"/>
                </a:solidFill>
                <a:hlinkClick r:id="rId5"/>
              </a:rPr>
              <a:t>Detailed evidence on the website</a:t>
            </a:r>
          </a:p>
        </p:txBody>
      </p:sp>
      <p:pic>
        <p:nvPicPr>
          <p:cNvPr id="5" name="Representative CAD tour, 12 seconds" descr="Embedded silent video. Camera tour of saved representative CAD views.">
            <a:hlinkClick r:id="" action="ppaction://media"/>
            <a:extLst>
              <a:ext uri="{FF2B5EF4-FFF2-40B4-BE49-F238E27FC236}">
                <a16:creationId xmlns:a16="http://schemas.microsoft.com/office/drawing/2014/main" id="{296D236F-068A-4503-93E5-B036321BB57E}"/>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536575" y="1609725"/>
            <a:ext cx="8128000" cy="4572000"/>
          </a:xfrm>
          <a:prstGeom prst="rect">
            <a:avLst/>
          </a:prstGeom>
        </p:spPr>
      </p:pic>
      <p:sp>
        <p:nvSpPr>
          <p:cNvPr id="6" name="12 seconds">
            <a:extLst>
              <a:ext uri="{FF2B5EF4-FFF2-40B4-BE49-F238E27FC236}">
                <a16:creationId xmlns:a16="http://schemas.microsoft.com/office/drawing/2014/main" id="{B1C7241D-FD2D-4E38-BEF4-A08CED38F672}"/>
              </a:ext>
            </a:extLst>
          </p:cNvPr>
          <p:cNvSpPr>
            <a:spLocks noGrp="1"/>
          </p:cNvSpPr>
          <p:nvPr/>
        </p:nvSpPr>
        <p:spPr>
          <a:xfrm>
            <a:off x="9067800" y="2028825"/>
            <a:ext cx="2571750" cy="590550"/>
          </a:xfrm>
          <a:prstGeom prst="rect">
            <a:avLst/>
          </a:prstGeom>
          <a:noFill/>
          <a:ln w="0">
            <a:noFill/>
          </a:ln>
        </p:spPr>
        <p:txBody>
          <a:bodyPr lIns="0" tIns="0" rIns="0" bIns="0" anchor="t"/>
          <a:lstStyle>
            <a:defPPr>
              <a:defRPr sz="3300" b="1">
                <a:solidFill>
                  <a:srgbClr val="087F95"/>
                </a:solidFill>
              </a:defRPr>
            </a:defPPr>
            <a:lvl1pPr>
              <a:defRPr sz="3300" b="1">
                <a:solidFill>
                  <a:srgbClr val="087F95"/>
                </a:solidFill>
              </a:defRPr>
            </a:lvl1pPr>
            <a:lvl2pPr>
              <a:defRPr sz="3300" b="1">
                <a:solidFill>
                  <a:srgbClr val="087F95"/>
                </a:solidFill>
              </a:defRPr>
            </a:lvl2pPr>
            <a:lvl3pPr>
              <a:defRPr sz="3300" b="1">
                <a:solidFill>
                  <a:srgbClr val="087F95"/>
                </a:solidFill>
              </a:defRPr>
            </a:lvl3pPr>
            <a:lvl4pPr>
              <a:defRPr sz="3300" b="1">
                <a:solidFill>
                  <a:srgbClr val="087F95"/>
                </a:solidFill>
              </a:defRPr>
            </a:lvl4pPr>
            <a:lvl5pPr>
              <a:defRPr sz="3300" b="1">
                <a:solidFill>
                  <a:srgbClr val="087F95"/>
                </a:solidFill>
              </a:defRPr>
            </a:lvl5pPr>
            <a:lvl6pPr>
              <a:defRPr sz="3300" b="1">
                <a:solidFill>
                  <a:srgbClr val="087F95"/>
                </a:solidFill>
              </a:defRPr>
            </a:lvl6pPr>
            <a:lvl7pPr>
              <a:defRPr sz="3300" b="1">
                <a:solidFill>
                  <a:srgbClr val="087F95"/>
                </a:solidFill>
              </a:defRPr>
            </a:lvl7pPr>
            <a:lvl8pPr>
              <a:defRPr sz="3300" b="1">
                <a:solidFill>
                  <a:srgbClr val="087F95"/>
                </a:solidFill>
              </a:defRPr>
            </a:lvl8pPr>
            <a:lvl9pPr>
              <a:defRPr sz="3300" b="1">
                <a:solidFill>
                  <a:srgbClr val="087F95"/>
                </a:solidFill>
              </a:defRPr>
            </a:lvl9pPr>
          </a:lstStyle>
          <a:p>
            <a:pPr>
              <a:defRPr sz="3300" b="1">
                <a:solidFill>
                  <a:srgbClr val="087F95"/>
                </a:solidFill>
              </a:defRPr>
            </a:pPr>
            <a:r>
              <a:rPr sz="3300" b="1">
                <a:solidFill>
                  <a:srgbClr val="087F95"/>
                </a:solidFill>
              </a:rPr>
              <a:t>12 seconds</a:t>
            </a:r>
          </a:p>
        </p:txBody>
      </p:sp>
      <p:sp>
        <p:nvSpPr>
          <p:cNvPr id="7" name="Exterior&#10;Proposed cutaway&#10;Electronics&#10;Stern propulsion">
            <a:extLst>
              <a:ext uri="{FF2B5EF4-FFF2-40B4-BE49-F238E27FC236}">
                <a16:creationId xmlns:a16="http://schemas.microsoft.com/office/drawing/2014/main" id="{8A074D6C-0655-49E6-9682-6A0AF64E4E3F}"/>
              </a:ext>
            </a:extLst>
          </p:cNvPr>
          <p:cNvSpPr>
            <a:spLocks noGrp="1"/>
          </p:cNvSpPr>
          <p:nvPr/>
        </p:nvSpPr>
        <p:spPr>
          <a:xfrm>
            <a:off x="9067800" y="2943225"/>
            <a:ext cx="2571750" cy="1914525"/>
          </a:xfrm>
          <a:prstGeom prst="rect">
            <a:avLst/>
          </a:prstGeom>
          <a:noFill/>
          <a:ln w="0">
            <a:noFill/>
          </a:ln>
        </p:spPr>
        <p:txBody>
          <a:bodyPr lIns="0" tIns="0" rIns="0" bIns="0" anchor="t"/>
          <a:lstStyle>
            <a:defPPr>
              <a:defRPr sz="2025" b="0">
                <a:solidFill>
                  <a:srgbClr val="142B3D"/>
                </a:solidFill>
              </a:defRPr>
            </a:defPPr>
            <a:lvl1pPr>
              <a:defRPr sz="2025" b="0">
                <a:solidFill>
                  <a:srgbClr val="142B3D"/>
                </a:solidFill>
              </a:defRPr>
            </a:lvl1pPr>
            <a:lvl2pPr>
              <a:defRPr sz="2025" b="0">
                <a:solidFill>
                  <a:srgbClr val="142B3D"/>
                </a:solidFill>
              </a:defRPr>
            </a:lvl2pPr>
            <a:lvl3pPr>
              <a:defRPr sz="2025" b="0">
                <a:solidFill>
                  <a:srgbClr val="142B3D"/>
                </a:solidFill>
              </a:defRPr>
            </a:lvl3pPr>
            <a:lvl4pPr>
              <a:defRPr sz="2025" b="0">
                <a:solidFill>
                  <a:srgbClr val="142B3D"/>
                </a:solidFill>
              </a:defRPr>
            </a:lvl4pPr>
            <a:lvl5pPr>
              <a:defRPr sz="2025" b="0">
                <a:solidFill>
                  <a:srgbClr val="142B3D"/>
                </a:solidFill>
              </a:defRPr>
            </a:lvl5pPr>
            <a:lvl6pPr>
              <a:defRPr sz="2025" b="0">
                <a:solidFill>
                  <a:srgbClr val="142B3D"/>
                </a:solidFill>
              </a:defRPr>
            </a:lvl6pPr>
            <a:lvl7pPr>
              <a:defRPr sz="2025" b="0">
                <a:solidFill>
                  <a:srgbClr val="142B3D"/>
                </a:solidFill>
              </a:defRPr>
            </a:lvl7pPr>
            <a:lvl8pPr>
              <a:defRPr sz="2025" b="0">
                <a:solidFill>
                  <a:srgbClr val="142B3D"/>
                </a:solidFill>
              </a:defRPr>
            </a:lvl8pPr>
            <a:lvl9pPr>
              <a:defRPr sz="2025" b="0">
                <a:solidFill>
                  <a:srgbClr val="142B3D"/>
                </a:solidFill>
              </a:defRPr>
            </a:lvl9pPr>
          </a:lstStyle>
          <a:p>
            <a:pPr>
              <a:defRPr sz="2025" b="0">
                <a:solidFill>
                  <a:srgbClr val="142B3D"/>
                </a:solidFill>
              </a:defRPr>
            </a:pPr>
            <a:r>
              <a:rPr sz="2025" b="0">
                <a:solidFill>
                  <a:srgbClr val="142B3D"/>
                </a:solidFill>
              </a:rPr>
              <a:t>Exterior</a:t>
            </a:r>
          </a:p>
          <a:p>
            <a:pPr>
              <a:defRPr sz="2025" b="0">
                <a:solidFill>
                  <a:srgbClr val="142B3D"/>
                </a:solidFill>
              </a:defRPr>
            </a:pPr>
            <a:r>
              <a:rPr sz="2025" b="0">
                <a:solidFill>
                  <a:srgbClr val="142B3D"/>
                </a:solidFill>
              </a:rPr>
              <a:t>Proposed cutaway</a:t>
            </a:r>
          </a:p>
          <a:p>
            <a:pPr>
              <a:defRPr sz="2025" b="0">
                <a:solidFill>
                  <a:srgbClr val="142B3D"/>
                </a:solidFill>
              </a:defRPr>
            </a:pPr>
            <a:r>
              <a:rPr sz="2025" b="0">
                <a:solidFill>
                  <a:srgbClr val="142B3D"/>
                </a:solidFill>
              </a:rPr>
              <a:t>Electronics</a:t>
            </a:r>
          </a:p>
          <a:p>
            <a:pPr>
              <a:defRPr sz="2025" b="0">
                <a:solidFill>
                  <a:srgbClr val="142B3D"/>
                </a:solidFill>
              </a:defRPr>
            </a:pPr>
            <a:r>
              <a:rPr sz="2025" b="0">
                <a:solidFill>
                  <a:srgbClr val="142B3D"/>
                </a:solidFill>
              </a:rPr>
              <a:t>Stern propulsion</a:t>
            </a:r>
          </a:p>
        </p:txBody>
      </p:sp>
      <p:sp>
        <p:nvSpPr>
          <p:cNvPr id="8" name="CAD tour starts automatically">
            <a:extLst>
              <a:ext uri="{FF2B5EF4-FFF2-40B4-BE49-F238E27FC236}">
                <a16:creationId xmlns:a16="http://schemas.microsoft.com/office/drawing/2014/main" id="{8E3AE2EC-D038-49EB-BF66-97C8E7406B49}"/>
              </a:ext>
            </a:extLst>
          </p:cNvPr>
          <p:cNvSpPr>
            <a:spLocks noGrp="1"/>
          </p:cNvSpPr>
          <p:nvPr/>
        </p:nvSpPr>
        <p:spPr>
          <a:xfrm>
            <a:off x="9067800" y="5267325"/>
            <a:ext cx="2476500" cy="723900"/>
          </a:xfrm>
          <a:prstGeom prst="rect">
            <a:avLst/>
          </a:prstGeom>
          <a:noFill/>
          <a:ln w="0">
            <a:noFill/>
          </a:ln>
        </p:spPr>
        <p:txBody>
          <a:bodyPr lIns="0" tIns="0" rIns="0" bIns="0" anchor="t"/>
          <a:lstStyle>
            <a:defPPr>
              <a:defRPr sz="1875" b="1">
                <a:solidFill>
                  <a:srgbClr val="087F95"/>
                </a:solidFill>
              </a:defRPr>
            </a:defPPr>
            <a:lvl1pPr>
              <a:defRPr sz="1875" b="1">
                <a:solidFill>
                  <a:srgbClr val="087F95"/>
                </a:solidFill>
              </a:defRPr>
            </a:lvl1pPr>
            <a:lvl2pPr>
              <a:defRPr sz="1875" b="1">
                <a:solidFill>
                  <a:srgbClr val="087F95"/>
                </a:solidFill>
              </a:defRPr>
            </a:lvl2pPr>
            <a:lvl3pPr>
              <a:defRPr sz="1875" b="1">
                <a:solidFill>
                  <a:srgbClr val="087F95"/>
                </a:solidFill>
              </a:defRPr>
            </a:lvl3pPr>
            <a:lvl4pPr>
              <a:defRPr sz="1875" b="1">
                <a:solidFill>
                  <a:srgbClr val="087F95"/>
                </a:solidFill>
              </a:defRPr>
            </a:lvl4pPr>
            <a:lvl5pPr>
              <a:defRPr sz="1875" b="1">
                <a:solidFill>
                  <a:srgbClr val="087F95"/>
                </a:solidFill>
              </a:defRPr>
            </a:lvl5pPr>
            <a:lvl6pPr>
              <a:defRPr sz="1875" b="1">
                <a:solidFill>
                  <a:srgbClr val="087F95"/>
                </a:solidFill>
              </a:defRPr>
            </a:lvl6pPr>
            <a:lvl7pPr>
              <a:defRPr sz="1875" b="1">
                <a:solidFill>
                  <a:srgbClr val="087F95"/>
                </a:solidFill>
              </a:defRPr>
            </a:lvl7pPr>
            <a:lvl8pPr>
              <a:defRPr sz="1875" b="1">
                <a:solidFill>
                  <a:srgbClr val="087F95"/>
                </a:solidFill>
              </a:defRPr>
            </a:lvl8pPr>
            <a:lvl9pPr>
              <a:defRPr sz="1875" b="1">
                <a:solidFill>
                  <a:srgbClr val="087F95"/>
                </a:solidFill>
              </a:defRPr>
            </a:lvl9pPr>
          </a:lstStyle>
          <a:p>
            <a:pPr>
              <a:defRPr sz="1875" b="1">
                <a:solidFill>
                  <a:srgbClr val="087F95"/>
                </a:solidFill>
              </a:defRPr>
            </a:pPr>
            <a:r>
              <a:rPr sz="1875" b="1">
                <a:solidFill>
                  <a:srgbClr val="087F95"/>
                </a:solidFill>
              </a:rPr>
              <a:t>CAD tour starts automatically</a:t>
            </a:r>
          </a:p>
        </p:txBody>
      </p:sp>
    </p:spTree>
    <p:extLst>
      <p:ext uri="{BB962C8B-B14F-4D97-AF65-F5344CB8AC3E}">
        <p14:creationId xmlns:p14="http://schemas.microsoft.com/office/powerpoint/2010/main" val="2141958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200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Avionics, batteries, power conversion and payloads">
            <a:extLst>
              <a:ext uri="{FF2B5EF4-FFF2-40B4-BE49-F238E27FC236}">
                <a16:creationId xmlns:a16="http://schemas.microsoft.com/office/drawing/2014/main" id="{A06DDFC1-CAAD-48C4-A3C6-F3542408E750}"/>
              </a:ext>
            </a:extLst>
          </p:cNvPr>
          <p:cNvSpPr>
            <a:spLocks noGrp="1"/>
          </p:cNvSpPr>
          <p:nvPr/>
        </p:nvSpPr>
        <p:spPr>
          <a:xfrm>
            <a:off x="533400" y="361950"/>
            <a:ext cx="11125200" cy="1028700"/>
          </a:xfrm>
          <a:prstGeom prst="rect">
            <a:avLst/>
          </a:prstGeom>
          <a:noFill/>
          <a:ln w="0">
            <a:noFill/>
          </a:ln>
        </p:spPr>
        <p:txBody>
          <a:bodyPr lIns="0" tIns="0" rIns="0" bIns="0" anchor="t"/>
          <a:lstStyle>
            <a:defPPr>
              <a:defRPr sz="3150" b="1">
                <a:solidFill>
                  <a:srgbClr val="142B3D"/>
                </a:solidFill>
              </a:defRPr>
            </a:defPPr>
            <a:lvl1pPr>
              <a:defRPr sz="3150" b="1">
                <a:solidFill>
                  <a:srgbClr val="142B3D"/>
                </a:solidFill>
              </a:defRPr>
            </a:lvl1pPr>
            <a:lvl2pPr>
              <a:defRPr sz="3150" b="1">
                <a:solidFill>
                  <a:srgbClr val="142B3D"/>
                </a:solidFill>
              </a:defRPr>
            </a:lvl2pPr>
            <a:lvl3pPr>
              <a:defRPr sz="3150" b="1">
                <a:solidFill>
                  <a:srgbClr val="142B3D"/>
                </a:solidFill>
              </a:defRPr>
            </a:lvl3pPr>
            <a:lvl4pPr>
              <a:defRPr sz="3150" b="1">
                <a:solidFill>
                  <a:srgbClr val="142B3D"/>
                </a:solidFill>
              </a:defRPr>
            </a:lvl4pPr>
            <a:lvl5pPr>
              <a:defRPr sz="3150" b="1">
                <a:solidFill>
                  <a:srgbClr val="142B3D"/>
                </a:solidFill>
              </a:defRPr>
            </a:lvl5pPr>
            <a:lvl6pPr>
              <a:defRPr sz="3150" b="1">
                <a:solidFill>
                  <a:srgbClr val="142B3D"/>
                </a:solidFill>
              </a:defRPr>
            </a:lvl6pPr>
            <a:lvl7pPr>
              <a:defRPr sz="3150" b="1">
                <a:solidFill>
                  <a:srgbClr val="142B3D"/>
                </a:solidFill>
              </a:defRPr>
            </a:lvl7pPr>
            <a:lvl8pPr>
              <a:defRPr sz="3150" b="1">
                <a:solidFill>
                  <a:srgbClr val="142B3D"/>
                </a:solidFill>
              </a:defRPr>
            </a:lvl8pPr>
            <a:lvl9pPr>
              <a:defRPr sz="3150" b="1">
                <a:solidFill>
                  <a:srgbClr val="142B3D"/>
                </a:solidFill>
              </a:defRPr>
            </a:lvl9pPr>
          </a:lstStyle>
          <a:p>
            <a:pPr>
              <a:defRPr sz="3150" b="1">
                <a:solidFill>
                  <a:srgbClr val="142B3D"/>
                </a:solidFill>
              </a:defRPr>
            </a:pPr>
            <a:r>
              <a:rPr sz="3150" b="1">
                <a:solidFill>
                  <a:srgbClr val="142B3D"/>
                </a:solidFill>
              </a:rPr>
              <a:t>Avionics, batteries, power conversion and payloads</a:t>
            </a:r>
          </a:p>
        </p:txBody>
      </p:sp>
      <p:sp>
        <p:nvSpPr>
          <p:cNvPr id="2" name="Khani Solutions">
            <a:extLst>
              <a:ext uri="{FF2B5EF4-FFF2-40B4-BE49-F238E27FC236}">
                <a16:creationId xmlns:a16="http://schemas.microsoft.com/office/drawing/2014/main" id="{09C90C24-256B-4B75-B9AF-2D20CC17A1CF}"/>
              </a:ext>
            </a:extLst>
          </p:cNvPr>
          <p:cNvSpPr>
            <a:spLocks noGrp="1"/>
          </p:cNvSpPr>
          <p:nvPr/>
        </p:nvSpPr>
        <p:spPr>
          <a:xfrm>
            <a:off x="533400" y="6448425"/>
            <a:ext cx="2190750" cy="238125"/>
          </a:xfrm>
          <a:prstGeom prst="rect">
            <a:avLst/>
          </a:prstGeom>
          <a:noFill/>
          <a:ln w="0">
            <a:noFill/>
          </a:ln>
        </p:spPr>
        <p:txBody>
          <a:bodyPr lIns="0" tIns="0" rIns="0" bIns="0" anchor="t"/>
          <a:lstStyle>
            <a:defPPr>
              <a:defRPr sz="1350" b="0">
                <a:solidFill>
                  <a:srgbClr val="587081"/>
                </a:solidFill>
              </a:defRPr>
            </a:defPPr>
            <a:lvl1pPr>
              <a:defRPr sz="1350" b="0">
                <a:solidFill>
                  <a:srgbClr val="587081"/>
                </a:solidFill>
              </a:defRPr>
            </a:lvl1pPr>
            <a:lvl2pPr>
              <a:defRPr sz="1350" b="0">
                <a:solidFill>
                  <a:srgbClr val="587081"/>
                </a:solidFill>
              </a:defRPr>
            </a:lvl2pPr>
            <a:lvl3pPr>
              <a:defRPr sz="1350" b="0">
                <a:solidFill>
                  <a:srgbClr val="587081"/>
                </a:solidFill>
              </a:defRPr>
            </a:lvl3pPr>
            <a:lvl4pPr>
              <a:defRPr sz="1350" b="0">
                <a:solidFill>
                  <a:srgbClr val="587081"/>
                </a:solidFill>
              </a:defRPr>
            </a:lvl4pPr>
            <a:lvl5pPr>
              <a:defRPr sz="1350" b="0">
                <a:solidFill>
                  <a:srgbClr val="587081"/>
                </a:solidFill>
              </a:defRPr>
            </a:lvl5pPr>
            <a:lvl6pPr>
              <a:defRPr sz="1350" b="0">
                <a:solidFill>
                  <a:srgbClr val="587081"/>
                </a:solidFill>
              </a:defRPr>
            </a:lvl6pPr>
            <a:lvl7pPr>
              <a:defRPr sz="1350" b="0">
                <a:solidFill>
                  <a:srgbClr val="587081"/>
                </a:solidFill>
              </a:defRPr>
            </a:lvl7pPr>
            <a:lvl8pPr>
              <a:defRPr sz="1350" b="0">
                <a:solidFill>
                  <a:srgbClr val="587081"/>
                </a:solidFill>
              </a:defRPr>
            </a:lvl8pPr>
            <a:lvl9pPr>
              <a:defRPr sz="1350" b="0">
                <a:solidFill>
                  <a:srgbClr val="587081"/>
                </a:solidFill>
              </a:defRPr>
            </a:lvl9pPr>
          </a:lstStyle>
          <a:p>
            <a:pPr>
              <a:defRPr sz="1350" b="0">
                <a:solidFill>
                  <a:srgbClr val="587081"/>
                </a:solidFill>
              </a:defRPr>
            </a:pPr>
            <a:r>
              <a:rPr sz="1350" b="0">
                <a:solidFill>
                  <a:srgbClr val="587081"/>
                </a:solidFill>
              </a:rPr>
              <a:t>Khani Solutions</a:t>
            </a:r>
          </a:p>
        </p:txBody>
      </p:sp>
      <p:sp>
        <p:nvSpPr>
          <p:cNvPr id="3" name="04 / 20">
            <a:extLst>
              <a:ext uri="{FF2B5EF4-FFF2-40B4-BE49-F238E27FC236}">
                <a16:creationId xmlns:a16="http://schemas.microsoft.com/office/drawing/2014/main" id="{89D53914-8ACE-43DD-AECC-224B12681577}"/>
              </a:ext>
            </a:extLst>
          </p:cNvPr>
          <p:cNvSpPr>
            <a:spLocks noGrp="1"/>
          </p:cNvSpPr>
          <p:nvPr/>
        </p:nvSpPr>
        <p:spPr>
          <a:xfrm>
            <a:off x="10896600" y="6448425"/>
            <a:ext cx="857250" cy="238125"/>
          </a:xfrm>
          <a:prstGeom prst="rect">
            <a:avLst/>
          </a:prstGeom>
          <a:noFill/>
          <a:ln w="0">
            <a:noFill/>
          </a:ln>
        </p:spPr>
        <p:txBody>
          <a:bodyPr lIns="0" tIns="0" rIns="0" bIns="0" anchor="t"/>
          <a:lstStyle>
            <a:defPPr>
              <a:defRPr sz="1350" b="0">
                <a:solidFill>
                  <a:srgbClr val="587081"/>
                </a:solidFill>
              </a:defRPr>
            </a:defPPr>
            <a:lvl1pPr>
              <a:defRPr sz="1350" b="0">
                <a:solidFill>
                  <a:srgbClr val="587081"/>
                </a:solidFill>
              </a:defRPr>
            </a:lvl1pPr>
            <a:lvl2pPr>
              <a:defRPr sz="1350" b="0">
                <a:solidFill>
                  <a:srgbClr val="587081"/>
                </a:solidFill>
              </a:defRPr>
            </a:lvl2pPr>
            <a:lvl3pPr>
              <a:defRPr sz="1350" b="0">
                <a:solidFill>
                  <a:srgbClr val="587081"/>
                </a:solidFill>
              </a:defRPr>
            </a:lvl3pPr>
            <a:lvl4pPr>
              <a:defRPr sz="1350" b="0">
                <a:solidFill>
                  <a:srgbClr val="587081"/>
                </a:solidFill>
              </a:defRPr>
            </a:lvl4pPr>
            <a:lvl5pPr>
              <a:defRPr sz="1350" b="0">
                <a:solidFill>
                  <a:srgbClr val="587081"/>
                </a:solidFill>
              </a:defRPr>
            </a:lvl5pPr>
            <a:lvl6pPr>
              <a:defRPr sz="1350" b="0">
                <a:solidFill>
                  <a:srgbClr val="587081"/>
                </a:solidFill>
              </a:defRPr>
            </a:lvl6pPr>
            <a:lvl7pPr>
              <a:defRPr sz="1350" b="0">
                <a:solidFill>
                  <a:srgbClr val="587081"/>
                </a:solidFill>
              </a:defRPr>
            </a:lvl7pPr>
            <a:lvl8pPr>
              <a:defRPr sz="1350" b="0">
                <a:solidFill>
                  <a:srgbClr val="587081"/>
                </a:solidFill>
              </a:defRPr>
            </a:lvl8pPr>
            <a:lvl9pPr>
              <a:defRPr sz="1350" b="0">
                <a:solidFill>
                  <a:srgbClr val="587081"/>
                </a:solidFill>
              </a:defRPr>
            </a:lvl9pPr>
          </a:lstStyle>
          <a:p>
            <a:pPr>
              <a:defRPr sz="1350" b="0">
                <a:solidFill>
                  <a:srgbClr val="587081"/>
                </a:solidFill>
              </a:defRPr>
            </a:pPr>
            <a:r>
              <a:rPr sz="1350" b="0">
                <a:solidFill>
                  <a:srgbClr val="587081"/>
                </a:solidFill>
              </a:rPr>
              <a:t>04 / 20</a:t>
            </a:r>
          </a:p>
        </p:txBody>
      </p:sp>
      <p:sp>
        <p:nvSpPr>
          <p:cNvPr id="4" name="Detailed evidence on the website">
            <a:extLst>
              <a:ext uri="{FF2B5EF4-FFF2-40B4-BE49-F238E27FC236}">
                <a16:creationId xmlns:a16="http://schemas.microsoft.com/office/drawing/2014/main" id="{4F679117-51F4-4F2A-BDEF-19C307CF0230}"/>
              </a:ext>
            </a:extLst>
          </p:cNvPr>
          <p:cNvSpPr>
            <a:spLocks noGrp="1"/>
          </p:cNvSpPr>
          <p:nvPr/>
        </p:nvSpPr>
        <p:spPr>
          <a:xfrm>
            <a:off x="7000875" y="6448425"/>
            <a:ext cx="3476625" cy="238125"/>
          </a:xfrm>
          <a:prstGeom prst="rect">
            <a:avLst/>
          </a:prstGeom>
          <a:noFill/>
          <a:ln w="0">
            <a:noFill/>
          </a:ln>
        </p:spPr>
        <p:txBody>
          <a:bodyPr lIns="0" tIns="0" rIns="0" bIns="0" anchor="t"/>
          <a:lstStyle>
            <a:defPPr>
              <a:defRPr sz="1350" b="0">
                <a:solidFill>
                  <a:srgbClr val="087F95"/>
                </a:solidFill>
              </a:defRPr>
            </a:defPPr>
            <a:lvl1pPr>
              <a:defRPr sz="1350" b="0">
                <a:solidFill>
                  <a:srgbClr val="087F95"/>
                </a:solidFill>
              </a:defRPr>
            </a:lvl1pPr>
            <a:lvl2pPr>
              <a:defRPr sz="1350" b="0">
                <a:solidFill>
                  <a:srgbClr val="087F95"/>
                </a:solidFill>
              </a:defRPr>
            </a:lvl2pPr>
            <a:lvl3pPr>
              <a:defRPr sz="1350" b="0">
                <a:solidFill>
                  <a:srgbClr val="087F95"/>
                </a:solidFill>
              </a:defRPr>
            </a:lvl3pPr>
            <a:lvl4pPr>
              <a:defRPr sz="1350" b="0">
                <a:solidFill>
                  <a:srgbClr val="087F95"/>
                </a:solidFill>
              </a:defRPr>
            </a:lvl4pPr>
            <a:lvl5pPr>
              <a:defRPr sz="1350" b="0">
                <a:solidFill>
                  <a:srgbClr val="087F95"/>
                </a:solidFill>
              </a:defRPr>
            </a:lvl5pPr>
            <a:lvl6pPr>
              <a:defRPr sz="1350" b="0">
                <a:solidFill>
                  <a:srgbClr val="087F95"/>
                </a:solidFill>
              </a:defRPr>
            </a:lvl6pPr>
            <a:lvl7pPr>
              <a:defRPr sz="1350" b="0">
                <a:solidFill>
                  <a:srgbClr val="087F95"/>
                </a:solidFill>
              </a:defRPr>
            </a:lvl7pPr>
            <a:lvl8pPr>
              <a:defRPr sz="1350" b="0">
                <a:solidFill>
                  <a:srgbClr val="087F95"/>
                </a:solidFill>
              </a:defRPr>
            </a:lvl8pPr>
            <a:lvl9pPr>
              <a:defRPr sz="1350" b="0">
                <a:solidFill>
                  <a:srgbClr val="087F95"/>
                </a:solidFill>
              </a:defRPr>
            </a:lvl9pPr>
          </a:lstStyle>
          <a:p>
            <a:pPr>
              <a:defRPr sz="1350" b="0">
                <a:solidFill>
                  <a:srgbClr val="087F95"/>
                </a:solidFill>
              </a:defRPr>
            </a:pPr>
            <a:r>
              <a:rPr sz="1350" b="0">
                <a:solidFill>
                  <a:srgbClr val="087F95"/>
                </a:solidFill>
                <a:hlinkClick r:id="rId3"/>
              </a:rPr>
              <a:t>Detailed evidence on the website</a:t>
            </a:r>
          </a:p>
        </p:txBody>
      </p:sp>
      <p:pic>
        <p:nvPicPr>
          <p:cNvPr id="5" name="Picture 4">
            <a:extLst>
              <a:ext uri="{FF2B5EF4-FFF2-40B4-BE49-F238E27FC236}">
                <a16:creationId xmlns:a16="http://schemas.microsoft.com/office/drawing/2014/main" id="{528CD02A-5960-452A-A2C3-3A972589333D}"/>
              </a:ext>
            </a:extLst>
          </p:cNvPr>
          <p:cNvPicPr>
            <a:picLocks noChangeAspect="1"/>
          </p:cNvPicPr>
          <p:nvPr/>
        </p:nvPicPr>
        <p:blipFill>
          <a:blip r:embed="rId4"/>
          <a:stretch/>
        </p:blipFill>
        <p:spPr>
          <a:xfrm>
            <a:off x="533400" y="1791052"/>
            <a:ext cx="11125200" cy="3475922"/>
          </a:xfrm>
          <a:prstGeom prst="rect">
            <a:avLst/>
          </a:prstGeom>
        </p:spPr>
      </p:pic>
      <p:sp>
        <p:nvSpPr>
          <p:cNvPr id="6" name="Avionics">
            <a:extLst>
              <a:ext uri="{FF2B5EF4-FFF2-40B4-BE49-F238E27FC236}">
                <a16:creationId xmlns:a16="http://schemas.microsoft.com/office/drawing/2014/main" id="{4183515D-4EAA-4B98-A14D-2DFB75E5FD11}"/>
              </a:ext>
            </a:extLst>
          </p:cNvPr>
          <p:cNvSpPr>
            <a:spLocks noGrp="1"/>
          </p:cNvSpPr>
          <p:nvPr/>
        </p:nvSpPr>
        <p:spPr>
          <a:xfrm>
            <a:off x="866775" y="1666875"/>
            <a:ext cx="2286000" cy="333375"/>
          </a:xfrm>
          <a:prstGeom prst="rect">
            <a:avLst/>
          </a:prstGeom>
          <a:noFill/>
          <a:ln w="0">
            <a:noFill/>
          </a:ln>
        </p:spPr>
        <p:txBody>
          <a:bodyPr lIns="0" tIns="0" rIns="0" bIns="0" anchor="t"/>
          <a:lstStyle>
            <a:defPPr>
              <a:defRPr sz="2025" b="1">
                <a:solidFill>
                  <a:srgbClr val="4675AD"/>
                </a:solidFill>
              </a:defRPr>
            </a:defPPr>
            <a:lvl1pPr>
              <a:defRPr sz="2025" b="1">
                <a:solidFill>
                  <a:srgbClr val="4675AD"/>
                </a:solidFill>
              </a:defRPr>
            </a:lvl1pPr>
            <a:lvl2pPr>
              <a:defRPr sz="2025" b="1">
                <a:solidFill>
                  <a:srgbClr val="4675AD"/>
                </a:solidFill>
              </a:defRPr>
            </a:lvl2pPr>
            <a:lvl3pPr>
              <a:defRPr sz="2025" b="1">
                <a:solidFill>
                  <a:srgbClr val="4675AD"/>
                </a:solidFill>
              </a:defRPr>
            </a:lvl3pPr>
            <a:lvl4pPr>
              <a:defRPr sz="2025" b="1">
                <a:solidFill>
                  <a:srgbClr val="4675AD"/>
                </a:solidFill>
              </a:defRPr>
            </a:lvl4pPr>
            <a:lvl5pPr>
              <a:defRPr sz="2025" b="1">
                <a:solidFill>
                  <a:srgbClr val="4675AD"/>
                </a:solidFill>
              </a:defRPr>
            </a:lvl5pPr>
            <a:lvl6pPr>
              <a:defRPr sz="2025" b="1">
                <a:solidFill>
                  <a:srgbClr val="4675AD"/>
                </a:solidFill>
              </a:defRPr>
            </a:lvl6pPr>
            <a:lvl7pPr>
              <a:defRPr sz="2025" b="1">
                <a:solidFill>
                  <a:srgbClr val="4675AD"/>
                </a:solidFill>
              </a:defRPr>
            </a:lvl7pPr>
            <a:lvl8pPr>
              <a:defRPr sz="2025" b="1">
                <a:solidFill>
                  <a:srgbClr val="4675AD"/>
                </a:solidFill>
              </a:defRPr>
            </a:lvl8pPr>
            <a:lvl9pPr>
              <a:defRPr sz="2025" b="1">
                <a:solidFill>
                  <a:srgbClr val="4675AD"/>
                </a:solidFill>
              </a:defRPr>
            </a:lvl9pPr>
          </a:lstStyle>
          <a:p>
            <a:pPr>
              <a:defRPr sz="2025" b="1">
                <a:solidFill>
                  <a:srgbClr val="4675AD"/>
                </a:solidFill>
              </a:defRPr>
            </a:pPr>
            <a:r>
              <a:rPr sz="2025" b="1">
                <a:solidFill>
                  <a:srgbClr val="4675AD"/>
                </a:solidFill>
              </a:rPr>
              <a:t>Avionics</a:t>
            </a:r>
          </a:p>
        </p:txBody>
      </p:sp>
      <p:sp>
        <p:nvSpPr>
          <p:cNvPr id="7" name="Battery modules">
            <a:extLst>
              <a:ext uri="{FF2B5EF4-FFF2-40B4-BE49-F238E27FC236}">
                <a16:creationId xmlns:a16="http://schemas.microsoft.com/office/drawing/2014/main" id="{DA77F89B-0101-4E54-90F7-4D09D77F75BB}"/>
              </a:ext>
            </a:extLst>
          </p:cNvPr>
          <p:cNvSpPr>
            <a:spLocks noGrp="1"/>
          </p:cNvSpPr>
          <p:nvPr/>
        </p:nvSpPr>
        <p:spPr>
          <a:xfrm>
            <a:off x="3962400" y="1666875"/>
            <a:ext cx="2667000" cy="333375"/>
          </a:xfrm>
          <a:prstGeom prst="rect">
            <a:avLst/>
          </a:prstGeom>
          <a:noFill/>
          <a:ln w="0">
            <a:noFill/>
          </a:ln>
        </p:spPr>
        <p:txBody>
          <a:bodyPr lIns="0" tIns="0" rIns="0" bIns="0" anchor="t"/>
          <a:lstStyle>
            <a:defPPr>
              <a:defRPr sz="2025" b="1">
                <a:solidFill>
                  <a:srgbClr val="2C7A60"/>
                </a:solidFill>
              </a:defRPr>
            </a:defPPr>
            <a:lvl1pPr>
              <a:defRPr sz="2025" b="1">
                <a:solidFill>
                  <a:srgbClr val="2C7A60"/>
                </a:solidFill>
              </a:defRPr>
            </a:lvl1pPr>
            <a:lvl2pPr>
              <a:defRPr sz="2025" b="1">
                <a:solidFill>
                  <a:srgbClr val="2C7A60"/>
                </a:solidFill>
              </a:defRPr>
            </a:lvl2pPr>
            <a:lvl3pPr>
              <a:defRPr sz="2025" b="1">
                <a:solidFill>
                  <a:srgbClr val="2C7A60"/>
                </a:solidFill>
              </a:defRPr>
            </a:lvl3pPr>
            <a:lvl4pPr>
              <a:defRPr sz="2025" b="1">
                <a:solidFill>
                  <a:srgbClr val="2C7A60"/>
                </a:solidFill>
              </a:defRPr>
            </a:lvl4pPr>
            <a:lvl5pPr>
              <a:defRPr sz="2025" b="1">
                <a:solidFill>
                  <a:srgbClr val="2C7A60"/>
                </a:solidFill>
              </a:defRPr>
            </a:lvl5pPr>
            <a:lvl6pPr>
              <a:defRPr sz="2025" b="1">
                <a:solidFill>
                  <a:srgbClr val="2C7A60"/>
                </a:solidFill>
              </a:defRPr>
            </a:lvl6pPr>
            <a:lvl7pPr>
              <a:defRPr sz="2025" b="1">
                <a:solidFill>
                  <a:srgbClr val="2C7A60"/>
                </a:solidFill>
              </a:defRPr>
            </a:lvl7pPr>
            <a:lvl8pPr>
              <a:defRPr sz="2025" b="1">
                <a:solidFill>
                  <a:srgbClr val="2C7A60"/>
                </a:solidFill>
              </a:defRPr>
            </a:lvl8pPr>
            <a:lvl9pPr>
              <a:defRPr sz="2025" b="1">
                <a:solidFill>
                  <a:srgbClr val="2C7A60"/>
                </a:solidFill>
              </a:defRPr>
            </a:lvl9pPr>
          </a:lstStyle>
          <a:p>
            <a:pPr>
              <a:defRPr sz="2025" b="1">
                <a:solidFill>
                  <a:srgbClr val="2C7A60"/>
                </a:solidFill>
              </a:defRPr>
            </a:pPr>
            <a:r>
              <a:rPr sz="2025" b="1">
                <a:solidFill>
                  <a:srgbClr val="2C7A60"/>
                </a:solidFill>
              </a:rPr>
              <a:t>Battery modules</a:t>
            </a:r>
          </a:p>
        </p:txBody>
      </p:sp>
      <p:sp>
        <p:nvSpPr>
          <p:cNvPr id="8" name="Radiators and power">
            <a:extLst>
              <a:ext uri="{FF2B5EF4-FFF2-40B4-BE49-F238E27FC236}">
                <a16:creationId xmlns:a16="http://schemas.microsoft.com/office/drawing/2014/main" id="{A6AF2631-1766-4C85-A918-07AAEAB583D7}"/>
              </a:ext>
            </a:extLst>
          </p:cNvPr>
          <p:cNvSpPr>
            <a:spLocks noGrp="1"/>
          </p:cNvSpPr>
          <p:nvPr/>
        </p:nvSpPr>
        <p:spPr>
          <a:xfrm>
            <a:off x="6953250" y="1666875"/>
            <a:ext cx="3429000" cy="333375"/>
          </a:xfrm>
          <a:prstGeom prst="rect">
            <a:avLst/>
          </a:prstGeom>
          <a:noFill/>
          <a:ln w="0">
            <a:noFill/>
          </a:ln>
        </p:spPr>
        <p:txBody>
          <a:bodyPr lIns="0" tIns="0" rIns="0" bIns="0" anchor="t"/>
          <a:lstStyle>
            <a:defPPr>
              <a:defRPr sz="2025" b="1">
                <a:solidFill>
                  <a:srgbClr val="AD7A22"/>
                </a:solidFill>
              </a:defRPr>
            </a:defPPr>
            <a:lvl1pPr>
              <a:defRPr sz="2025" b="1">
                <a:solidFill>
                  <a:srgbClr val="AD7A22"/>
                </a:solidFill>
              </a:defRPr>
            </a:lvl1pPr>
            <a:lvl2pPr>
              <a:defRPr sz="2025" b="1">
                <a:solidFill>
                  <a:srgbClr val="AD7A22"/>
                </a:solidFill>
              </a:defRPr>
            </a:lvl2pPr>
            <a:lvl3pPr>
              <a:defRPr sz="2025" b="1">
                <a:solidFill>
                  <a:srgbClr val="AD7A22"/>
                </a:solidFill>
              </a:defRPr>
            </a:lvl3pPr>
            <a:lvl4pPr>
              <a:defRPr sz="2025" b="1">
                <a:solidFill>
                  <a:srgbClr val="AD7A22"/>
                </a:solidFill>
              </a:defRPr>
            </a:lvl4pPr>
            <a:lvl5pPr>
              <a:defRPr sz="2025" b="1">
                <a:solidFill>
                  <a:srgbClr val="AD7A22"/>
                </a:solidFill>
              </a:defRPr>
            </a:lvl5pPr>
            <a:lvl6pPr>
              <a:defRPr sz="2025" b="1">
                <a:solidFill>
                  <a:srgbClr val="AD7A22"/>
                </a:solidFill>
              </a:defRPr>
            </a:lvl6pPr>
            <a:lvl7pPr>
              <a:defRPr sz="2025" b="1">
                <a:solidFill>
                  <a:srgbClr val="AD7A22"/>
                </a:solidFill>
              </a:defRPr>
            </a:lvl7pPr>
            <a:lvl8pPr>
              <a:defRPr sz="2025" b="1">
                <a:solidFill>
                  <a:srgbClr val="AD7A22"/>
                </a:solidFill>
              </a:defRPr>
            </a:lvl8pPr>
            <a:lvl9pPr>
              <a:defRPr sz="2025" b="1">
                <a:solidFill>
                  <a:srgbClr val="AD7A22"/>
                </a:solidFill>
              </a:defRPr>
            </a:lvl9pPr>
          </a:lstStyle>
          <a:p>
            <a:pPr>
              <a:defRPr sz="2025" b="1">
                <a:solidFill>
                  <a:srgbClr val="AD7A22"/>
                </a:solidFill>
              </a:defRPr>
            </a:pPr>
            <a:r>
              <a:rPr sz="2025" b="1">
                <a:solidFill>
                  <a:srgbClr val="AD7A22"/>
                </a:solidFill>
              </a:rPr>
              <a:t>Radiators and power</a:t>
            </a:r>
          </a:p>
        </p:txBody>
      </p:sp>
      <p:sp>
        <p:nvSpPr>
          <p:cNvPr id="9" name="RF, antenna and optics">
            <a:extLst>
              <a:ext uri="{FF2B5EF4-FFF2-40B4-BE49-F238E27FC236}">
                <a16:creationId xmlns:a16="http://schemas.microsoft.com/office/drawing/2014/main" id="{9BE73503-88E3-40B5-A354-591A3873356B}"/>
              </a:ext>
            </a:extLst>
          </p:cNvPr>
          <p:cNvSpPr>
            <a:spLocks noGrp="1"/>
          </p:cNvSpPr>
          <p:nvPr/>
        </p:nvSpPr>
        <p:spPr>
          <a:xfrm>
            <a:off x="8153400" y="5019675"/>
            <a:ext cx="3333750" cy="333375"/>
          </a:xfrm>
          <a:prstGeom prst="rect">
            <a:avLst/>
          </a:prstGeom>
          <a:noFill/>
          <a:ln w="0">
            <a:noFill/>
          </a:ln>
        </p:spPr>
        <p:txBody>
          <a:bodyPr lIns="0" tIns="0" rIns="0" bIns="0" anchor="t"/>
          <a:lstStyle>
            <a:defPPr>
              <a:defRPr sz="2025" b="1">
                <a:solidFill>
                  <a:srgbClr val="76558D"/>
                </a:solidFill>
              </a:defRPr>
            </a:defPPr>
            <a:lvl1pPr>
              <a:defRPr sz="2025" b="1">
                <a:solidFill>
                  <a:srgbClr val="76558D"/>
                </a:solidFill>
              </a:defRPr>
            </a:lvl1pPr>
            <a:lvl2pPr>
              <a:defRPr sz="2025" b="1">
                <a:solidFill>
                  <a:srgbClr val="76558D"/>
                </a:solidFill>
              </a:defRPr>
            </a:lvl2pPr>
            <a:lvl3pPr>
              <a:defRPr sz="2025" b="1">
                <a:solidFill>
                  <a:srgbClr val="76558D"/>
                </a:solidFill>
              </a:defRPr>
            </a:lvl3pPr>
            <a:lvl4pPr>
              <a:defRPr sz="2025" b="1">
                <a:solidFill>
                  <a:srgbClr val="76558D"/>
                </a:solidFill>
              </a:defRPr>
            </a:lvl4pPr>
            <a:lvl5pPr>
              <a:defRPr sz="2025" b="1">
                <a:solidFill>
                  <a:srgbClr val="76558D"/>
                </a:solidFill>
              </a:defRPr>
            </a:lvl5pPr>
            <a:lvl6pPr>
              <a:defRPr sz="2025" b="1">
                <a:solidFill>
                  <a:srgbClr val="76558D"/>
                </a:solidFill>
              </a:defRPr>
            </a:lvl6pPr>
            <a:lvl7pPr>
              <a:defRPr sz="2025" b="1">
                <a:solidFill>
                  <a:srgbClr val="76558D"/>
                </a:solidFill>
              </a:defRPr>
            </a:lvl7pPr>
            <a:lvl8pPr>
              <a:defRPr sz="2025" b="1">
                <a:solidFill>
                  <a:srgbClr val="76558D"/>
                </a:solidFill>
              </a:defRPr>
            </a:lvl8pPr>
            <a:lvl9pPr>
              <a:defRPr sz="2025" b="1">
                <a:solidFill>
                  <a:srgbClr val="76558D"/>
                </a:solidFill>
              </a:defRPr>
            </a:lvl9pPr>
          </a:lstStyle>
          <a:p>
            <a:pPr>
              <a:defRPr sz="2025" b="1">
                <a:solidFill>
                  <a:srgbClr val="76558D"/>
                </a:solidFill>
              </a:defRPr>
            </a:pPr>
            <a:r>
              <a:rPr sz="2025" b="1">
                <a:solidFill>
                  <a:srgbClr val="76558D"/>
                </a:solidFill>
              </a:rPr>
              <a:t>RF, antenna and optics</a:t>
            </a:r>
          </a:p>
        </p:txBody>
      </p:sp>
      <p:sp>
        <p:nvSpPr>
          <p:cNvPr id="10" name="Different heat paths and limits drive separate subsystem models.">
            <a:extLst>
              <a:ext uri="{FF2B5EF4-FFF2-40B4-BE49-F238E27FC236}">
                <a16:creationId xmlns:a16="http://schemas.microsoft.com/office/drawing/2014/main" id="{72C2E0F5-014D-4796-BF5A-3EBAE9C9BA8C}"/>
              </a:ext>
            </a:extLst>
          </p:cNvPr>
          <p:cNvSpPr>
            <a:spLocks noGrp="1"/>
          </p:cNvSpPr>
          <p:nvPr/>
        </p:nvSpPr>
        <p:spPr>
          <a:xfrm>
            <a:off x="533400" y="5657850"/>
            <a:ext cx="10668000" cy="523875"/>
          </a:xfrm>
          <a:prstGeom prst="rect">
            <a:avLst/>
          </a:prstGeom>
          <a:noFill/>
          <a:ln w="0">
            <a:noFill/>
          </a:ln>
        </p:spPr>
        <p:txBody>
          <a:bodyPr lIns="0" tIns="0" rIns="0" bIns="0" anchor="t"/>
          <a:lstStyle>
            <a:defPPr>
              <a:defRPr sz="2175" b="0">
                <a:solidFill>
                  <a:srgbClr val="142B3D"/>
                </a:solidFill>
              </a:defRPr>
            </a:defPPr>
            <a:lvl1pPr>
              <a:defRPr sz="2175" b="0">
                <a:solidFill>
                  <a:srgbClr val="142B3D"/>
                </a:solidFill>
              </a:defRPr>
            </a:lvl1pPr>
            <a:lvl2pPr>
              <a:defRPr sz="2175" b="0">
                <a:solidFill>
                  <a:srgbClr val="142B3D"/>
                </a:solidFill>
              </a:defRPr>
            </a:lvl2pPr>
            <a:lvl3pPr>
              <a:defRPr sz="2175" b="0">
                <a:solidFill>
                  <a:srgbClr val="142B3D"/>
                </a:solidFill>
              </a:defRPr>
            </a:lvl3pPr>
            <a:lvl4pPr>
              <a:defRPr sz="2175" b="0">
                <a:solidFill>
                  <a:srgbClr val="142B3D"/>
                </a:solidFill>
              </a:defRPr>
            </a:lvl4pPr>
            <a:lvl5pPr>
              <a:defRPr sz="2175" b="0">
                <a:solidFill>
                  <a:srgbClr val="142B3D"/>
                </a:solidFill>
              </a:defRPr>
            </a:lvl5pPr>
            <a:lvl6pPr>
              <a:defRPr sz="2175" b="0">
                <a:solidFill>
                  <a:srgbClr val="142B3D"/>
                </a:solidFill>
              </a:defRPr>
            </a:lvl6pPr>
            <a:lvl7pPr>
              <a:defRPr sz="2175" b="0">
                <a:solidFill>
                  <a:srgbClr val="142B3D"/>
                </a:solidFill>
              </a:defRPr>
            </a:lvl7pPr>
            <a:lvl8pPr>
              <a:defRPr sz="2175" b="0">
                <a:solidFill>
                  <a:srgbClr val="142B3D"/>
                </a:solidFill>
              </a:defRPr>
            </a:lvl8pPr>
            <a:lvl9pPr>
              <a:defRPr sz="2175" b="0">
                <a:solidFill>
                  <a:srgbClr val="142B3D"/>
                </a:solidFill>
              </a:defRPr>
            </a:lvl9pPr>
          </a:lstStyle>
          <a:p>
            <a:pPr>
              <a:defRPr sz="2175" b="0">
                <a:solidFill>
                  <a:srgbClr val="142B3D"/>
                </a:solidFill>
              </a:defRPr>
            </a:pPr>
            <a:r>
              <a:rPr sz="2175" b="0">
                <a:solidFill>
                  <a:srgbClr val="142B3D"/>
                </a:solidFill>
              </a:rPr>
              <a:t>Different heat paths and limits drive separate subsystem models.</a:t>
            </a:r>
          </a:p>
        </p:txBody>
      </p:sp>
    </p:spTree>
    <p:extLst>
      <p:ext uri="{BB962C8B-B14F-4D97-AF65-F5344CB8AC3E}">
        <p14:creationId xmlns:p14="http://schemas.microsoft.com/office/powerpoint/2010/main" val="9920994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One OpenModelica model connects the thermal system">
            <a:extLst>
              <a:ext uri="{FF2B5EF4-FFF2-40B4-BE49-F238E27FC236}">
                <a16:creationId xmlns:a16="http://schemas.microsoft.com/office/drawing/2014/main" id="{F3F859DB-E412-4A2D-8B9B-6FD0D4153D8C}"/>
              </a:ext>
            </a:extLst>
          </p:cNvPr>
          <p:cNvSpPr>
            <a:spLocks noGrp="1"/>
          </p:cNvSpPr>
          <p:nvPr/>
        </p:nvSpPr>
        <p:spPr>
          <a:xfrm>
            <a:off x="533400" y="361950"/>
            <a:ext cx="11125200" cy="1028700"/>
          </a:xfrm>
          <a:prstGeom prst="rect">
            <a:avLst/>
          </a:prstGeom>
          <a:noFill/>
          <a:ln w="0">
            <a:noFill/>
          </a:ln>
        </p:spPr>
        <p:txBody>
          <a:bodyPr lIns="0" tIns="0" rIns="0" bIns="0" anchor="t"/>
          <a:lstStyle>
            <a:defPPr>
              <a:defRPr sz="3150" b="1">
                <a:solidFill>
                  <a:srgbClr val="142B3D"/>
                </a:solidFill>
              </a:defRPr>
            </a:defPPr>
            <a:lvl1pPr>
              <a:defRPr sz="3150" b="1">
                <a:solidFill>
                  <a:srgbClr val="142B3D"/>
                </a:solidFill>
              </a:defRPr>
            </a:lvl1pPr>
            <a:lvl2pPr>
              <a:defRPr sz="3150" b="1">
                <a:solidFill>
                  <a:srgbClr val="142B3D"/>
                </a:solidFill>
              </a:defRPr>
            </a:lvl2pPr>
            <a:lvl3pPr>
              <a:defRPr sz="3150" b="1">
                <a:solidFill>
                  <a:srgbClr val="142B3D"/>
                </a:solidFill>
              </a:defRPr>
            </a:lvl3pPr>
            <a:lvl4pPr>
              <a:defRPr sz="3150" b="1">
                <a:solidFill>
                  <a:srgbClr val="142B3D"/>
                </a:solidFill>
              </a:defRPr>
            </a:lvl4pPr>
            <a:lvl5pPr>
              <a:defRPr sz="3150" b="1">
                <a:solidFill>
                  <a:srgbClr val="142B3D"/>
                </a:solidFill>
              </a:defRPr>
            </a:lvl5pPr>
            <a:lvl6pPr>
              <a:defRPr sz="3150" b="1">
                <a:solidFill>
                  <a:srgbClr val="142B3D"/>
                </a:solidFill>
              </a:defRPr>
            </a:lvl6pPr>
            <a:lvl7pPr>
              <a:defRPr sz="3150" b="1">
                <a:solidFill>
                  <a:srgbClr val="142B3D"/>
                </a:solidFill>
              </a:defRPr>
            </a:lvl7pPr>
            <a:lvl8pPr>
              <a:defRPr sz="3150" b="1">
                <a:solidFill>
                  <a:srgbClr val="142B3D"/>
                </a:solidFill>
              </a:defRPr>
            </a:lvl8pPr>
            <a:lvl9pPr>
              <a:defRPr sz="3150" b="1">
                <a:solidFill>
                  <a:srgbClr val="142B3D"/>
                </a:solidFill>
              </a:defRPr>
            </a:lvl9pPr>
          </a:lstStyle>
          <a:p>
            <a:pPr>
              <a:defRPr sz="3150" b="1">
                <a:solidFill>
                  <a:srgbClr val="142B3D"/>
                </a:solidFill>
              </a:defRPr>
            </a:pPr>
            <a:r>
              <a:rPr sz="3150" b="1">
                <a:solidFill>
                  <a:srgbClr val="142B3D"/>
                </a:solidFill>
              </a:rPr>
              <a:t>One OpenModelica model connects the thermal system</a:t>
            </a:r>
          </a:p>
        </p:txBody>
      </p:sp>
      <p:sp>
        <p:nvSpPr>
          <p:cNvPr id="2" name="Khani Solutions">
            <a:extLst>
              <a:ext uri="{FF2B5EF4-FFF2-40B4-BE49-F238E27FC236}">
                <a16:creationId xmlns:a16="http://schemas.microsoft.com/office/drawing/2014/main" id="{2557109C-220A-4368-9A47-2AC8A9C4727B}"/>
              </a:ext>
            </a:extLst>
          </p:cNvPr>
          <p:cNvSpPr>
            <a:spLocks noGrp="1"/>
          </p:cNvSpPr>
          <p:nvPr/>
        </p:nvSpPr>
        <p:spPr>
          <a:xfrm>
            <a:off x="533400" y="6448425"/>
            <a:ext cx="2190750" cy="238125"/>
          </a:xfrm>
          <a:prstGeom prst="rect">
            <a:avLst/>
          </a:prstGeom>
          <a:noFill/>
          <a:ln w="0">
            <a:noFill/>
          </a:ln>
        </p:spPr>
        <p:txBody>
          <a:bodyPr lIns="0" tIns="0" rIns="0" bIns="0" anchor="t"/>
          <a:lstStyle>
            <a:defPPr>
              <a:defRPr sz="1350" b="0">
                <a:solidFill>
                  <a:srgbClr val="587081"/>
                </a:solidFill>
              </a:defRPr>
            </a:defPPr>
            <a:lvl1pPr>
              <a:defRPr sz="1350" b="0">
                <a:solidFill>
                  <a:srgbClr val="587081"/>
                </a:solidFill>
              </a:defRPr>
            </a:lvl1pPr>
            <a:lvl2pPr>
              <a:defRPr sz="1350" b="0">
                <a:solidFill>
                  <a:srgbClr val="587081"/>
                </a:solidFill>
              </a:defRPr>
            </a:lvl2pPr>
            <a:lvl3pPr>
              <a:defRPr sz="1350" b="0">
                <a:solidFill>
                  <a:srgbClr val="587081"/>
                </a:solidFill>
              </a:defRPr>
            </a:lvl3pPr>
            <a:lvl4pPr>
              <a:defRPr sz="1350" b="0">
                <a:solidFill>
                  <a:srgbClr val="587081"/>
                </a:solidFill>
              </a:defRPr>
            </a:lvl4pPr>
            <a:lvl5pPr>
              <a:defRPr sz="1350" b="0">
                <a:solidFill>
                  <a:srgbClr val="587081"/>
                </a:solidFill>
              </a:defRPr>
            </a:lvl5pPr>
            <a:lvl6pPr>
              <a:defRPr sz="1350" b="0">
                <a:solidFill>
                  <a:srgbClr val="587081"/>
                </a:solidFill>
              </a:defRPr>
            </a:lvl6pPr>
            <a:lvl7pPr>
              <a:defRPr sz="1350" b="0">
                <a:solidFill>
                  <a:srgbClr val="587081"/>
                </a:solidFill>
              </a:defRPr>
            </a:lvl7pPr>
            <a:lvl8pPr>
              <a:defRPr sz="1350" b="0">
                <a:solidFill>
                  <a:srgbClr val="587081"/>
                </a:solidFill>
              </a:defRPr>
            </a:lvl8pPr>
            <a:lvl9pPr>
              <a:defRPr sz="1350" b="0">
                <a:solidFill>
                  <a:srgbClr val="587081"/>
                </a:solidFill>
              </a:defRPr>
            </a:lvl9pPr>
          </a:lstStyle>
          <a:p>
            <a:pPr>
              <a:defRPr sz="1350" b="0">
                <a:solidFill>
                  <a:srgbClr val="587081"/>
                </a:solidFill>
              </a:defRPr>
            </a:pPr>
            <a:r>
              <a:rPr sz="1350" b="0">
                <a:solidFill>
                  <a:srgbClr val="587081"/>
                </a:solidFill>
              </a:rPr>
              <a:t>Khani Solutions</a:t>
            </a:r>
          </a:p>
        </p:txBody>
      </p:sp>
      <p:sp>
        <p:nvSpPr>
          <p:cNvPr id="3" name="05 / 20">
            <a:extLst>
              <a:ext uri="{FF2B5EF4-FFF2-40B4-BE49-F238E27FC236}">
                <a16:creationId xmlns:a16="http://schemas.microsoft.com/office/drawing/2014/main" id="{7F91995D-11FF-4A0C-9409-7C21DB09929C}"/>
              </a:ext>
            </a:extLst>
          </p:cNvPr>
          <p:cNvSpPr>
            <a:spLocks noGrp="1"/>
          </p:cNvSpPr>
          <p:nvPr/>
        </p:nvSpPr>
        <p:spPr>
          <a:xfrm>
            <a:off x="10896600" y="6448425"/>
            <a:ext cx="857250" cy="238125"/>
          </a:xfrm>
          <a:prstGeom prst="rect">
            <a:avLst/>
          </a:prstGeom>
          <a:noFill/>
          <a:ln w="0">
            <a:noFill/>
          </a:ln>
        </p:spPr>
        <p:txBody>
          <a:bodyPr lIns="0" tIns="0" rIns="0" bIns="0" anchor="t"/>
          <a:lstStyle>
            <a:defPPr>
              <a:defRPr sz="1350" b="0">
                <a:solidFill>
                  <a:srgbClr val="587081"/>
                </a:solidFill>
              </a:defRPr>
            </a:defPPr>
            <a:lvl1pPr>
              <a:defRPr sz="1350" b="0">
                <a:solidFill>
                  <a:srgbClr val="587081"/>
                </a:solidFill>
              </a:defRPr>
            </a:lvl1pPr>
            <a:lvl2pPr>
              <a:defRPr sz="1350" b="0">
                <a:solidFill>
                  <a:srgbClr val="587081"/>
                </a:solidFill>
              </a:defRPr>
            </a:lvl2pPr>
            <a:lvl3pPr>
              <a:defRPr sz="1350" b="0">
                <a:solidFill>
                  <a:srgbClr val="587081"/>
                </a:solidFill>
              </a:defRPr>
            </a:lvl3pPr>
            <a:lvl4pPr>
              <a:defRPr sz="1350" b="0">
                <a:solidFill>
                  <a:srgbClr val="587081"/>
                </a:solidFill>
              </a:defRPr>
            </a:lvl4pPr>
            <a:lvl5pPr>
              <a:defRPr sz="1350" b="0">
                <a:solidFill>
                  <a:srgbClr val="587081"/>
                </a:solidFill>
              </a:defRPr>
            </a:lvl5pPr>
            <a:lvl6pPr>
              <a:defRPr sz="1350" b="0">
                <a:solidFill>
                  <a:srgbClr val="587081"/>
                </a:solidFill>
              </a:defRPr>
            </a:lvl6pPr>
            <a:lvl7pPr>
              <a:defRPr sz="1350" b="0">
                <a:solidFill>
                  <a:srgbClr val="587081"/>
                </a:solidFill>
              </a:defRPr>
            </a:lvl7pPr>
            <a:lvl8pPr>
              <a:defRPr sz="1350" b="0">
                <a:solidFill>
                  <a:srgbClr val="587081"/>
                </a:solidFill>
              </a:defRPr>
            </a:lvl8pPr>
            <a:lvl9pPr>
              <a:defRPr sz="1350" b="0">
                <a:solidFill>
                  <a:srgbClr val="587081"/>
                </a:solidFill>
              </a:defRPr>
            </a:lvl9pPr>
          </a:lstStyle>
          <a:p>
            <a:pPr>
              <a:defRPr sz="1350" b="0">
                <a:solidFill>
                  <a:srgbClr val="587081"/>
                </a:solidFill>
              </a:defRPr>
            </a:pPr>
            <a:r>
              <a:rPr sz="1350" b="0">
                <a:solidFill>
                  <a:srgbClr val="587081"/>
                </a:solidFill>
              </a:rPr>
              <a:t>05 / 20</a:t>
            </a:r>
          </a:p>
        </p:txBody>
      </p:sp>
      <p:sp>
        <p:nvSpPr>
          <p:cNvPr id="4" name="Detailed evidence on the website">
            <a:extLst>
              <a:ext uri="{FF2B5EF4-FFF2-40B4-BE49-F238E27FC236}">
                <a16:creationId xmlns:a16="http://schemas.microsoft.com/office/drawing/2014/main" id="{6495F024-ED71-4783-AC48-FF7BB1938A52}"/>
              </a:ext>
            </a:extLst>
          </p:cNvPr>
          <p:cNvSpPr>
            <a:spLocks noGrp="1"/>
          </p:cNvSpPr>
          <p:nvPr/>
        </p:nvSpPr>
        <p:spPr>
          <a:xfrm>
            <a:off x="7000875" y="6448425"/>
            <a:ext cx="3476625" cy="238125"/>
          </a:xfrm>
          <a:prstGeom prst="rect">
            <a:avLst/>
          </a:prstGeom>
          <a:noFill/>
          <a:ln w="0">
            <a:noFill/>
          </a:ln>
        </p:spPr>
        <p:txBody>
          <a:bodyPr lIns="0" tIns="0" rIns="0" bIns="0" anchor="t"/>
          <a:lstStyle>
            <a:defPPr>
              <a:defRPr sz="1350" b="0">
                <a:solidFill>
                  <a:srgbClr val="087F95"/>
                </a:solidFill>
              </a:defRPr>
            </a:defPPr>
            <a:lvl1pPr>
              <a:defRPr sz="1350" b="0">
                <a:solidFill>
                  <a:srgbClr val="087F95"/>
                </a:solidFill>
              </a:defRPr>
            </a:lvl1pPr>
            <a:lvl2pPr>
              <a:defRPr sz="1350" b="0">
                <a:solidFill>
                  <a:srgbClr val="087F95"/>
                </a:solidFill>
              </a:defRPr>
            </a:lvl2pPr>
            <a:lvl3pPr>
              <a:defRPr sz="1350" b="0">
                <a:solidFill>
                  <a:srgbClr val="087F95"/>
                </a:solidFill>
              </a:defRPr>
            </a:lvl3pPr>
            <a:lvl4pPr>
              <a:defRPr sz="1350" b="0">
                <a:solidFill>
                  <a:srgbClr val="087F95"/>
                </a:solidFill>
              </a:defRPr>
            </a:lvl4pPr>
            <a:lvl5pPr>
              <a:defRPr sz="1350" b="0">
                <a:solidFill>
                  <a:srgbClr val="087F95"/>
                </a:solidFill>
              </a:defRPr>
            </a:lvl5pPr>
            <a:lvl6pPr>
              <a:defRPr sz="1350" b="0">
                <a:solidFill>
                  <a:srgbClr val="087F95"/>
                </a:solidFill>
              </a:defRPr>
            </a:lvl6pPr>
            <a:lvl7pPr>
              <a:defRPr sz="1350" b="0">
                <a:solidFill>
                  <a:srgbClr val="087F95"/>
                </a:solidFill>
              </a:defRPr>
            </a:lvl7pPr>
            <a:lvl8pPr>
              <a:defRPr sz="1350" b="0">
                <a:solidFill>
                  <a:srgbClr val="087F95"/>
                </a:solidFill>
              </a:defRPr>
            </a:lvl8pPr>
            <a:lvl9pPr>
              <a:defRPr sz="1350" b="0">
                <a:solidFill>
                  <a:srgbClr val="087F95"/>
                </a:solidFill>
              </a:defRPr>
            </a:lvl9pPr>
          </a:lstStyle>
          <a:p>
            <a:pPr>
              <a:defRPr sz="1350" b="0">
                <a:solidFill>
                  <a:srgbClr val="087F95"/>
                </a:solidFill>
              </a:defRPr>
            </a:pPr>
            <a:r>
              <a:rPr sz="1350" b="0">
                <a:solidFill>
                  <a:srgbClr val="087F95"/>
                </a:solidFill>
                <a:hlinkClick r:id="rId3"/>
              </a:rPr>
              <a:t>Detailed evidence on the website</a:t>
            </a:r>
          </a:p>
        </p:txBody>
      </p:sp>
      <p:pic>
        <p:nvPicPr>
          <p:cNvPr id="5" name="Graphic 4">
            <a:extLst>
              <a:ext uri="{FF2B5EF4-FFF2-40B4-BE49-F238E27FC236}">
                <a16:creationId xmlns:a16="http://schemas.microsoft.com/office/drawing/2014/main" id="{70C0D70F-791E-464D-9930-D7EAF6AE87B9}"/>
              </a:ext>
            </a:extLst>
          </p:cNvPr>
          <p:cNvPicPr>
            <a:picLocks noChangeAspect="1"/>
          </p:cNvPicPr>
          <p:nvPr/>
        </p:nvPicPr>
        <p:blipFill>
          <a:blip>
            <a:extLst>
              <a:ext uri="{96DAC541-7B7A-43D3-8B79-37D633B846F1}">
                <asvg:svgBlip xmlns:asvg="http://schemas.microsoft.com/office/drawing/2016/SVG/main" r:embed="rId4"/>
              </a:ext>
            </a:extLst>
          </a:blip>
          <a:stretch/>
        </p:blipFill>
        <p:spPr>
          <a:xfrm>
            <a:off x="533400" y="1485900"/>
            <a:ext cx="9191625" cy="4581525"/>
          </a:xfrm>
          <a:prstGeom prst="rect">
            <a:avLst/>
          </a:prstGeom>
        </p:spPr>
      </p:pic>
      <p:sp>
        <p:nvSpPr>
          <p:cNvPr id="6" name="28">
            <a:extLst>
              <a:ext uri="{FF2B5EF4-FFF2-40B4-BE49-F238E27FC236}">
                <a16:creationId xmlns:a16="http://schemas.microsoft.com/office/drawing/2014/main" id="{58C77E07-4891-4594-8515-B824956C5D07}"/>
              </a:ext>
            </a:extLst>
          </p:cNvPr>
          <p:cNvSpPr>
            <a:spLocks noGrp="1"/>
          </p:cNvSpPr>
          <p:nvPr/>
        </p:nvSpPr>
        <p:spPr>
          <a:xfrm>
            <a:off x="9801225" y="1847850"/>
            <a:ext cx="1809750" cy="609600"/>
          </a:xfrm>
          <a:prstGeom prst="rect">
            <a:avLst/>
          </a:prstGeom>
          <a:noFill/>
          <a:ln w="0">
            <a:noFill/>
          </a:ln>
        </p:spPr>
        <p:txBody>
          <a:bodyPr lIns="0" tIns="0" rIns="0" bIns="0" anchor="t"/>
          <a:lstStyle>
            <a:defPPr>
              <a:defRPr sz="3900" b="1">
                <a:solidFill>
                  <a:srgbClr val="087F95"/>
                </a:solidFill>
              </a:defRPr>
            </a:defPPr>
            <a:lvl1pPr>
              <a:defRPr sz="3900" b="1">
                <a:solidFill>
                  <a:srgbClr val="087F95"/>
                </a:solidFill>
              </a:defRPr>
            </a:lvl1pPr>
            <a:lvl2pPr>
              <a:defRPr sz="3900" b="1">
                <a:solidFill>
                  <a:srgbClr val="087F95"/>
                </a:solidFill>
              </a:defRPr>
            </a:lvl2pPr>
            <a:lvl3pPr>
              <a:defRPr sz="3900" b="1">
                <a:solidFill>
                  <a:srgbClr val="087F95"/>
                </a:solidFill>
              </a:defRPr>
            </a:lvl3pPr>
            <a:lvl4pPr>
              <a:defRPr sz="3900" b="1">
                <a:solidFill>
                  <a:srgbClr val="087F95"/>
                </a:solidFill>
              </a:defRPr>
            </a:lvl4pPr>
            <a:lvl5pPr>
              <a:defRPr sz="3900" b="1">
                <a:solidFill>
                  <a:srgbClr val="087F95"/>
                </a:solidFill>
              </a:defRPr>
            </a:lvl5pPr>
            <a:lvl6pPr>
              <a:defRPr sz="3900" b="1">
                <a:solidFill>
                  <a:srgbClr val="087F95"/>
                </a:solidFill>
              </a:defRPr>
            </a:lvl6pPr>
            <a:lvl7pPr>
              <a:defRPr sz="3900" b="1">
                <a:solidFill>
                  <a:srgbClr val="087F95"/>
                </a:solidFill>
              </a:defRPr>
            </a:lvl7pPr>
            <a:lvl8pPr>
              <a:defRPr sz="3900" b="1">
                <a:solidFill>
                  <a:srgbClr val="087F95"/>
                </a:solidFill>
              </a:defRPr>
            </a:lvl8pPr>
            <a:lvl9pPr>
              <a:defRPr sz="3900" b="1">
                <a:solidFill>
                  <a:srgbClr val="087F95"/>
                </a:solidFill>
              </a:defRPr>
            </a:lvl9pPr>
          </a:lstStyle>
          <a:p>
            <a:pPr>
              <a:defRPr sz="3900" b="1">
                <a:solidFill>
                  <a:srgbClr val="087F95"/>
                </a:solidFill>
              </a:defRPr>
            </a:pPr>
            <a:r>
              <a:rPr sz="3900" b="1">
                <a:solidFill>
                  <a:srgbClr val="087F95"/>
                </a:solidFill>
              </a:rPr>
              <a:t>28</a:t>
            </a:r>
          </a:p>
        </p:txBody>
      </p:sp>
      <p:sp>
        <p:nvSpPr>
          <p:cNvPr id="7" name="Thermal states in the expanded mission">
            <a:extLst>
              <a:ext uri="{FF2B5EF4-FFF2-40B4-BE49-F238E27FC236}">
                <a16:creationId xmlns:a16="http://schemas.microsoft.com/office/drawing/2014/main" id="{E969319F-4F44-4A2C-871A-A947E969F13E}"/>
              </a:ext>
            </a:extLst>
          </p:cNvPr>
          <p:cNvSpPr>
            <a:spLocks noGrp="1"/>
          </p:cNvSpPr>
          <p:nvPr/>
        </p:nvSpPr>
        <p:spPr>
          <a:xfrm>
            <a:off x="9801225" y="2486025"/>
            <a:ext cx="1809750" cy="742950"/>
          </a:xfrm>
          <a:prstGeom prst="rect">
            <a:avLst/>
          </a:prstGeom>
          <a:noFill/>
          <a:ln w="0">
            <a:noFill/>
          </a:ln>
        </p:spPr>
        <p:txBody>
          <a:bodyPr lIns="0" tIns="0" rIns="0" bIns="0" anchor="t"/>
          <a:lstStyle>
            <a:defPPr>
              <a:defRPr sz="1725" b="0">
                <a:solidFill>
                  <a:srgbClr val="587081"/>
                </a:solidFill>
              </a:defRPr>
            </a:defPPr>
            <a:lvl1pPr>
              <a:defRPr sz="1725" b="0">
                <a:solidFill>
                  <a:srgbClr val="587081"/>
                </a:solidFill>
              </a:defRPr>
            </a:lvl1pPr>
            <a:lvl2pPr>
              <a:defRPr sz="1725" b="0">
                <a:solidFill>
                  <a:srgbClr val="587081"/>
                </a:solidFill>
              </a:defRPr>
            </a:lvl2pPr>
            <a:lvl3pPr>
              <a:defRPr sz="1725" b="0">
                <a:solidFill>
                  <a:srgbClr val="587081"/>
                </a:solidFill>
              </a:defRPr>
            </a:lvl3pPr>
            <a:lvl4pPr>
              <a:defRPr sz="1725" b="0">
                <a:solidFill>
                  <a:srgbClr val="587081"/>
                </a:solidFill>
              </a:defRPr>
            </a:lvl4pPr>
            <a:lvl5pPr>
              <a:defRPr sz="1725" b="0">
                <a:solidFill>
                  <a:srgbClr val="587081"/>
                </a:solidFill>
              </a:defRPr>
            </a:lvl5pPr>
            <a:lvl6pPr>
              <a:defRPr sz="1725" b="0">
                <a:solidFill>
                  <a:srgbClr val="587081"/>
                </a:solidFill>
              </a:defRPr>
            </a:lvl6pPr>
            <a:lvl7pPr>
              <a:defRPr sz="1725" b="0">
                <a:solidFill>
                  <a:srgbClr val="587081"/>
                </a:solidFill>
              </a:defRPr>
            </a:lvl7pPr>
            <a:lvl8pPr>
              <a:defRPr sz="1725" b="0">
                <a:solidFill>
                  <a:srgbClr val="587081"/>
                </a:solidFill>
              </a:defRPr>
            </a:lvl8pPr>
            <a:lvl9pPr>
              <a:defRPr sz="1725" b="0">
                <a:solidFill>
                  <a:srgbClr val="587081"/>
                </a:solidFill>
              </a:defRPr>
            </a:lvl9pPr>
          </a:lstStyle>
          <a:p>
            <a:pPr>
              <a:defRPr sz="1725" b="0">
                <a:solidFill>
                  <a:srgbClr val="587081"/>
                </a:solidFill>
              </a:defRPr>
            </a:pPr>
            <a:r>
              <a:rPr sz="1725" b="0">
                <a:solidFill>
                  <a:srgbClr val="587081"/>
                </a:solidFill>
              </a:rPr>
              <a:t>Thermal states in the expanded mission</a:t>
            </a:r>
          </a:p>
        </p:txBody>
      </p:sp>
      <p:sp>
        <p:nvSpPr>
          <p:cNvPr id="8" name="Environment&#10;Heat paths&#10;Electrical power&#10;Heater control">
            <a:extLst>
              <a:ext uri="{FF2B5EF4-FFF2-40B4-BE49-F238E27FC236}">
                <a16:creationId xmlns:a16="http://schemas.microsoft.com/office/drawing/2014/main" id="{C9A789A9-D7F7-4C83-9850-539808107BE0}"/>
              </a:ext>
            </a:extLst>
          </p:cNvPr>
          <p:cNvSpPr>
            <a:spLocks noGrp="1"/>
          </p:cNvSpPr>
          <p:nvPr/>
        </p:nvSpPr>
        <p:spPr>
          <a:xfrm>
            <a:off x="9810750" y="3676650"/>
            <a:ext cx="1809750" cy="1809750"/>
          </a:xfrm>
          <a:prstGeom prst="rect">
            <a:avLst/>
          </a:prstGeom>
          <a:noFill/>
          <a:ln w="0">
            <a:noFill/>
          </a:ln>
        </p:spPr>
        <p:txBody>
          <a:bodyPr lIns="0" tIns="0" rIns="0" bIns="0" anchor="t"/>
          <a:lstStyle>
            <a:defPPr>
              <a:defRPr sz="1875" b="0">
                <a:solidFill>
                  <a:srgbClr val="142B3D"/>
                </a:solidFill>
              </a:defRPr>
            </a:defPPr>
            <a:lvl1pPr>
              <a:defRPr sz="1875" b="0">
                <a:solidFill>
                  <a:srgbClr val="142B3D"/>
                </a:solidFill>
              </a:defRPr>
            </a:lvl1pPr>
            <a:lvl2pPr>
              <a:defRPr sz="1875" b="0">
                <a:solidFill>
                  <a:srgbClr val="142B3D"/>
                </a:solidFill>
              </a:defRPr>
            </a:lvl2pPr>
            <a:lvl3pPr>
              <a:defRPr sz="1875" b="0">
                <a:solidFill>
                  <a:srgbClr val="142B3D"/>
                </a:solidFill>
              </a:defRPr>
            </a:lvl3pPr>
            <a:lvl4pPr>
              <a:defRPr sz="1875" b="0">
                <a:solidFill>
                  <a:srgbClr val="142B3D"/>
                </a:solidFill>
              </a:defRPr>
            </a:lvl4pPr>
            <a:lvl5pPr>
              <a:defRPr sz="1875" b="0">
                <a:solidFill>
                  <a:srgbClr val="142B3D"/>
                </a:solidFill>
              </a:defRPr>
            </a:lvl5pPr>
            <a:lvl6pPr>
              <a:defRPr sz="1875" b="0">
                <a:solidFill>
                  <a:srgbClr val="142B3D"/>
                </a:solidFill>
              </a:defRPr>
            </a:lvl6pPr>
            <a:lvl7pPr>
              <a:defRPr sz="1875" b="0">
                <a:solidFill>
                  <a:srgbClr val="142B3D"/>
                </a:solidFill>
              </a:defRPr>
            </a:lvl7pPr>
            <a:lvl8pPr>
              <a:defRPr sz="1875" b="0">
                <a:solidFill>
                  <a:srgbClr val="142B3D"/>
                </a:solidFill>
              </a:defRPr>
            </a:lvl8pPr>
            <a:lvl9pPr>
              <a:defRPr sz="1875" b="0">
                <a:solidFill>
                  <a:srgbClr val="142B3D"/>
                </a:solidFill>
              </a:defRPr>
            </a:lvl9pPr>
          </a:lstStyle>
          <a:p>
            <a:pPr>
              <a:defRPr sz="1875" b="0">
                <a:solidFill>
                  <a:srgbClr val="142B3D"/>
                </a:solidFill>
              </a:defRPr>
            </a:pPr>
            <a:r>
              <a:rPr sz="1875" b="0">
                <a:solidFill>
                  <a:srgbClr val="142B3D"/>
                </a:solidFill>
              </a:rPr>
              <a:t>Environment</a:t>
            </a:r>
          </a:p>
          <a:p>
            <a:pPr>
              <a:defRPr sz="1875" b="0">
                <a:solidFill>
                  <a:srgbClr val="142B3D"/>
                </a:solidFill>
              </a:defRPr>
            </a:pPr>
            <a:r>
              <a:rPr sz="1875" b="0">
                <a:solidFill>
                  <a:srgbClr val="142B3D"/>
                </a:solidFill>
              </a:rPr>
              <a:t>Heat paths</a:t>
            </a:r>
          </a:p>
          <a:p>
            <a:pPr>
              <a:defRPr sz="1875" b="0">
                <a:solidFill>
                  <a:srgbClr val="142B3D"/>
                </a:solidFill>
              </a:defRPr>
            </a:pPr>
            <a:r>
              <a:rPr sz="1875" b="0">
                <a:solidFill>
                  <a:srgbClr val="142B3D"/>
                </a:solidFill>
              </a:rPr>
              <a:t>Electrical power</a:t>
            </a:r>
          </a:p>
          <a:p>
            <a:pPr>
              <a:defRPr sz="1875" b="0">
                <a:solidFill>
                  <a:srgbClr val="142B3D"/>
                </a:solidFill>
              </a:defRPr>
            </a:pPr>
            <a:r>
              <a:rPr sz="1875" b="0">
                <a:solidFill>
                  <a:srgbClr val="142B3D"/>
                </a:solidFill>
              </a:rPr>
              <a:t>Heater control</a:t>
            </a:r>
          </a:p>
        </p:txBody>
      </p:sp>
      <p:sp>
        <p:nvSpPr>
          <p:cNvPr id="9" name="24-state baseline shown. The telecom extension has 28 states. Sou">
            <a:extLst>
              <a:ext uri="{FF2B5EF4-FFF2-40B4-BE49-F238E27FC236}">
                <a16:creationId xmlns:a16="http://schemas.microsoft.com/office/drawing/2014/main" id="{F5F76880-FB8A-49E5-9FB0-6B64B4E94F13}"/>
              </a:ext>
            </a:extLst>
          </p:cNvPr>
          <p:cNvSpPr>
            <a:spLocks noGrp="1"/>
          </p:cNvSpPr>
          <p:nvPr/>
        </p:nvSpPr>
        <p:spPr>
          <a:xfrm>
            <a:off x="533400" y="6057900"/>
            <a:ext cx="10953750" cy="266700"/>
          </a:xfrm>
          <a:prstGeom prst="rect">
            <a:avLst/>
          </a:prstGeom>
          <a:noFill/>
          <a:ln w="0">
            <a:noFill/>
          </a:ln>
        </p:spPr>
        <p:txBody>
          <a:bodyPr lIns="0" tIns="0" rIns="0" bIns="0" anchor="t"/>
          <a:lstStyle>
            <a:defPPr>
              <a:defRPr sz="1500" b="0">
                <a:solidFill>
                  <a:srgbClr val="587081"/>
                </a:solidFill>
              </a:defRPr>
            </a:defPPr>
            <a:lvl1pPr>
              <a:defRPr sz="1500" b="0">
                <a:solidFill>
                  <a:srgbClr val="587081"/>
                </a:solidFill>
              </a:defRPr>
            </a:lvl1pPr>
            <a:lvl2pPr>
              <a:defRPr sz="1500" b="0">
                <a:solidFill>
                  <a:srgbClr val="587081"/>
                </a:solidFill>
              </a:defRPr>
            </a:lvl2pPr>
            <a:lvl3pPr>
              <a:defRPr sz="1500" b="0">
                <a:solidFill>
                  <a:srgbClr val="587081"/>
                </a:solidFill>
              </a:defRPr>
            </a:lvl3pPr>
            <a:lvl4pPr>
              <a:defRPr sz="1500" b="0">
                <a:solidFill>
                  <a:srgbClr val="587081"/>
                </a:solidFill>
              </a:defRPr>
            </a:lvl4pPr>
            <a:lvl5pPr>
              <a:defRPr sz="1500" b="0">
                <a:solidFill>
                  <a:srgbClr val="587081"/>
                </a:solidFill>
              </a:defRPr>
            </a:lvl5pPr>
            <a:lvl6pPr>
              <a:defRPr sz="1500" b="0">
                <a:solidFill>
                  <a:srgbClr val="587081"/>
                </a:solidFill>
              </a:defRPr>
            </a:lvl6pPr>
            <a:lvl7pPr>
              <a:defRPr sz="1500" b="0">
                <a:solidFill>
                  <a:srgbClr val="587081"/>
                </a:solidFill>
              </a:defRPr>
            </a:lvl7pPr>
            <a:lvl8pPr>
              <a:defRPr sz="1500" b="0">
                <a:solidFill>
                  <a:srgbClr val="587081"/>
                </a:solidFill>
              </a:defRPr>
            </a:lvl8pPr>
            <a:lvl9pPr>
              <a:defRPr sz="1500" b="0">
                <a:solidFill>
                  <a:srgbClr val="587081"/>
                </a:solidFill>
              </a:defRPr>
            </a:lvl9pPr>
          </a:lstStyle>
          <a:p>
            <a:pPr>
              <a:defRPr sz="1500" b="0">
                <a:solidFill>
                  <a:srgbClr val="587081"/>
                </a:solidFill>
              </a:defRPr>
            </a:pPr>
            <a:r>
              <a:rPr sz="1500" b="0">
                <a:solidFill>
                  <a:srgbClr val="587081"/>
                </a:solidFill>
              </a:rPr>
              <a:t>24-state baseline shown. The telecom extension has 28 states. Source-derived native connection map.</a:t>
            </a:r>
          </a:p>
        </p:txBody>
      </p:sp>
    </p:spTree>
    <p:extLst>
      <p:ext uri="{BB962C8B-B14F-4D97-AF65-F5344CB8AC3E}">
        <p14:creationId xmlns:p14="http://schemas.microsoft.com/office/powerpoint/2010/main" val="21451416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Mission results connect temperatures and energy">
            <a:extLst>
              <a:ext uri="{FF2B5EF4-FFF2-40B4-BE49-F238E27FC236}">
                <a16:creationId xmlns:a16="http://schemas.microsoft.com/office/drawing/2014/main" id="{FFC43ECE-FF21-477F-9CDE-D885952D95B1}"/>
              </a:ext>
            </a:extLst>
          </p:cNvPr>
          <p:cNvSpPr>
            <a:spLocks noGrp="1"/>
          </p:cNvSpPr>
          <p:nvPr/>
        </p:nvSpPr>
        <p:spPr>
          <a:xfrm>
            <a:off x="533400" y="361950"/>
            <a:ext cx="11125200" cy="1028700"/>
          </a:xfrm>
          <a:prstGeom prst="rect">
            <a:avLst/>
          </a:prstGeom>
          <a:noFill/>
          <a:ln w="0">
            <a:noFill/>
          </a:ln>
        </p:spPr>
        <p:txBody>
          <a:bodyPr lIns="0" tIns="0" rIns="0" bIns="0" anchor="t"/>
          <a:lstStyle>
            <a:defPPr>
              <a:defRPr sz="3150" b="1">
                <a:solidFill>
                  <a:srgbClr val="142B3D"/>
                </a:solidFill>
              </a:defRPr>
            </a:defPPr>
            <a:lvl1pPr>
              <a:defRPr sz="3150" b="1">
                <a:solidFill>
                  <a:srgbClr val="142B3D"/>
                </a:solidFill>
              </a:defRPr>
            </a:lvl1pPr>
            <a:lvl2pPr>
              <a:defRPr sz="3150" b="1">
                <a:solidFill>
                  <a:srgbClr val="142B3D"/>
                </a:solidFill>
              </a:defRPr>
            </a:lvl2pPr>
            <a:lvl3pPr>
              <a:defRPr sz="3150" b="1">
                <a:solidFill>
                  <a:srgbClr val="142B3D"/>
                </a:solidFill>
              </a:defRPr>
            </a:lvl3pPr>
            <a:lvl4pPr>
              <a:defRPr sz="3150" b="1">
                <a:solidFill>
                  <a:srgbClr val="142B3D"/>
                </a:solidFill>
              </a:defRPr>
            </a:lvl4pPr>
            <a:lvl5pPr>
              <a:defRPr sz="3150" b="1">
                <a:solidFill>
                  <a:srgbClr val="142B3D"/>
                </a:solidFill>
              </a:defRPr>
            </a:lvl5pPr>
            <a:lvl6pPr>
              <a:defRPr sz="3150" b="1">
                <a:solidFill>
                  <a:srgbClr val="142B3D"/>
                </a:solidFill>
              </a:defRPr>
            </a:lvl6pPr>
            <a:lvl7pPr>
              <a:defRPr sz="3150" b="1">
                <a:solidFill>
                  <a:srgbClr val="142B3D"/>
                </a:solidFill>
              </a:defRPr>
            </a:lvl7pPr>
            <a:lvl8pPr>
              <a:defRPr sz="3150" b="1">
                <a:solidFill>
                  <a:srgbClr val="142B3D"/>
                </a:solidFill>
              </a:defRPr>
            </a:lvl8pPr>
            <a:lvl9pPr>
              <a:defRPr sz="3150" b="1">
                <a:solidFill>
                  <a:srgbClr val="142B3D"/>
                </a:solidFill>
              </a:defRPr>
            </a:lvl9pPr>
          </a:lstStyle>
          <a:p>
            <a:pPr>
              <a:defRPr sz="3150" b="1">
                <a:solidFill>
                  <a:srgbClr val="142B3D"/>
                </a:solidFill>
              </a:defRPr>
            </a:pPr>
            <a:r>
              <a:rPr sz="3150" b="1">
                <a:solidFill>
                  <a:srgbClr val="142B3D"/>
                </a:solidFill>
              </a:rPr>
              <a:t>Mission results connect temperatures and energy</a:t>
            </a:r>
          </a:p>
        </p:txBody>
      </p:sp>
      <p:sp>
        <p:nvSpPr>
          <p:cNvPr id="2" name="Khani Solutions">
            <a:extLst>
              <a:ext uri="{FF2B5EF4-FFF2-40B4-BE49-F238E27FC236}">
                <a16:creationId xmlns:a16="http://schemas.microsoft.com/office/drawing/2014/main" id="{4AC1804E-EC53-41D7-AA7A-87881EB65281}"/>
              </a:ext>
            </a:extLst>
          </p:cNvPr>
          <p:cNvSpPr>
            <a:spLocks noGrp="1"/>
          </p:cNvSpPr>
          <p:nvPr/>
        </p:nvSpPr>
        <p:spPr>
          <a:xfrm>
            <a:off x="533400" y="6448425"/>
            <a:ext cx="2190750" cy="238125"/>
          </a:xfrm>
          <a:prstGeom prst="rect">
            <a:avLst/>
          </a:prstGeom>
          <a:noFill/>
          <a:ln w="0">
            <a:noFill/>
          </a:ln>
        </p:spPr>
        <p:txBody>
          <a:bodyPr lIns="0" tIns="0" rIns="0" bIns="0" anchor="t"/>
          <a:lstStyle>
            <a:defPPr>
              <a:defRPr sz="1350" b="0">
                <a:solidFill>
                  <a:srgbClr val="587081"/>
                </a:solidFill>
              </a:defRPr>
            </a:defPPr>
            <a:lvl1pPr>
              <a:defRPr sz="1350" b="0">
                <a:solidFill>
                  <a:srgbClr val="587081"/>
                </a:solidFill>
              </a:defRPr>
            </a:lvl1pPr>
            <a:lvl2pPr>
              <a:defRPr sz="1350" b="0">
                <a:solidFill>
                  <a:srgbClr val="587081"/>
                </a:solidFill>
              </a:defRPr>
            </a:lvl2pPr>
            <a:lvl3pPr>
              <a:defRPr sz="1350" b="0">
                <a:solidFill>
                  <a:srgbClr val="587081"/>
                </a:solidFill>
              </a:defRPr>
            </a:lvl3pPr>
            <a:lvl4pPr>
              <a:defRPr sz="1350" b="0">
                <a:solidFill>
                  <a:srgbClr val="587081"/>
                </a:solidFill>
              </a:defRPr>
            </a:lvl4pPr>
            <a:lvl5pPr>
              <a:defRPr sz="1350" b="0">
                <a:solidFill>
                  <a:srgbClr val="587081"/>
                </a:solidFill>
              </a:defRPr>
            </a:lvl5pPr>
            <a:lvl6pPr>
              <a:defRPr sz="1350" b="0">
                <a:solidFill>
                  <a:srgbClr val="587081"/>
                </a:solidFill>
              </a:defRPr>
            </a:lvl6pPr>
            <a:lvl7pPr>
              <a:defRPr sz="1350" b="0">
                <a:solidFill>
                  <a:srgbClr val="587081"/>
                </a:solidFill>
              </a:defRPr>
            </a:lvl7pPr>
            <a:lvl8pPr>
              <a:defRPr sz="1350" b="0">
                <a:solidFill>
                  <a:srgbClr val="587081"/>
                </a:solidFill>
              </a:defRPr>
            </a:lvl8pPr>
            <a:lvl9pPr>
              <a:defRPr sz="1350" b="0">
                <a:solidFill>
                  <a:srgbClr val="587081"/>
                </a:solidFill>
              </a:defRPr>
            </a:lvl9pPr>
          </a:lstStyle>
          <a:p>
            <a:pPr>
              <a:defRPr sz="1350" b="0">
                <a:solidFill>
                  <a:srgbClr val="587081"/>
                </a:solidFill>
              </a:defRPr>
            </a:pPr>
            <a:r>
              <a:rPr sz="1350" b="0">
                <a:solidFill>
                  <a:srgbClr val="587081"/>
                </a:solidFill>
              </a:rPr>
              <a:t>Khani Solutions</a:t>
            </a:r>
          </a:p>
        </p:txBody>
      </p:sp>
      <p:sp>
        <p:nvSpPr>
          <p:cNvPr id="3" name="06 / 20">
            <a:extLst>
              <a:ext uri="{FF2B5EF4-FFF2-40B4-BE49-F238E27FC236}">
                <a16:creationId xmlns:a16="http://schemas.microsoft.com/office/drawing/2014/main" id="{80EB592E-C674-44B6-85FC-6D15F33016F6}"/>
              </a:ext>
            </a:extLst>
          </p:cNvPr>
          <p:cNvSpPr>
            <a:spLocks noGrp="1"/>
          </p:cNvSpPr>
          <p:nvPr/>
        </p:nvSpPr>
        <p:spPr>
          <a:xfrm>
            <a:off x="10896600" y="6448425"/>
            <a:ext cx="857250" cy="238125"/>
          </a:xfrm>
          <a:prstGeom prst="rect">
            <a:avLst/>
          </a:prstGeom>
          <a:noFill/>
          <a:ln w="0">
            <a:noFill/>
          </a:ln>
        </p:spPr>
        <p:txBody>
          <a:bodyPr lIns="0" tIns="0" rIns="0" bIns="0" anchor="t"/>
          <a:lstStyle>
            <a:defPPr>
              <a:defRPr sz="1350" b="0">
                <a:solidFill>
                  <a:srgbClr val="587081"/>
                </a:solidFill>
              </a:defRPr>
            </a:defPPr>
            <a:lvl1pPr>
              <a:defRPr sz="1350" b="0">
                <a:solidFill>
                  <a:srgbClr val="587081"/>
                </a:solidFill>
              </a:defRPr>
            </a:lvl1pPr>
            <a:lvl2pPr>
              <a:defRPr sz="1350" b="0">
                <a:solidFill>
                  <a:srgbClr val="587081"/>
                </a:solidFill>
              </a:defRPr>
            </a:lvl2pPr>
            <a:lvl3pPr>
              <a:defRPr sz="1350" b="0">
                <a:solidFill>
                  <a:srgbClr val="587081"/>
                </a:solidFill>
              </a:defRPr>
            </a:lvl3pPr>
            <a:lvl4pPr>
              <a:defRPr sz="1350" b="0">
                <a:solidFill>
                  <a:srgbClr val="587081"/>
                </a:solidFill>
              </a:defRPr>
            </a:lvl4pPr>
            <a:lvl5pPr>
              <a:defRPr sz="1350" b="0">
                <a:solidFill>
                  <a:srgbClr val="587081"/>
                </a:solidFill>
              </a:defRPr>
            </a:lvl5pPr>
            <a:lvl6pPr>
              <a:defRPr sz="1350" b="0">
                <a:solidFill>
                  <a:srgbClr val="587081"/>
                </a:solidFill>
              </a:defRPr>
            </a:lvl6pPr>
            <a:lvl7pPr>
              <a:defRPr sz="1350" b="0">
                <a:solidFill>
                  <a:srgbClr val="587081"/>
                </a:solidFill>
              </a:defRPr>
            </a:lvl7pPr>
            <a:lvl8pPr>
              <a:defRPr sz="1350" b="0">
                <a:solidFill>
                  <a:srgbClr val="587081"/>
                </a:solidFill>
              </a:defRPr>
            </a:lvl8pPr>
            <a:lvl9pPr>
              <a:defRPr sz="1350" b="0">
                <a:solidFill>
                  <a:srgbClr val="587081"/>
                </a:solidFill>
              </a:defRPr>
            </a:lvl9pPr>
          </a:lstStyle>
          <a:p>
            <a:pPr>
              <a:defRPr sz="1350" b="0">
                <a:solidFill>
                  <a:srgbClr val="587081"/>
                </a:solidFill>
              </a:defRPr>
            </a:pPr>
            <a:r>
              <a:rPr sz="1350" b="0">
                <a:solidFill>
                  <a:srgbClr val="587081"/>
                </a:solidFill>
              </a:rPr>
              <a:t>06 / 20</a:t>
            </a:r>
          </a:p>
        </p:txBody>
      </p:sp>
      <p:sp>
        <p:nvSpPr>
          <p:cNvPr id="4" name="Detailed evidence on the website">
            <a:extLst>
              <a:ext uri="{FF2B5EF4-FFF2-40B4-BE49-F238E27FC236}">
                <a16:creationId xmlns:a16="http://schemas.microsoft.com/office/drawing/2014/main" id="{73B4E98A-07F4-4F46-B727-F09B401F91C9}"/>
              </a:ext>
            </a:extLst>
          </p:cNvPr>
          <p:cNvSpPr>
            <a:spLocks noGrp="1"/>
          </p:cNvSpPr>
          <p:nvPr/>
        </p:nvSpPr>
        <p:spPr>
          <a:xfrm>
            <a:off x="7000875" y="6448425"/>
            <a:ext cx="3476625" cy="238125"/>
          </a:xfrm>
          <a:prstGeom prst="rect">
            <a:avLst/>
          </a:prstGeom>
          <a:noFill/>
          <a:ln w="0">
            <a:noFill/>
          </a:ln>
        </p:spPr>
        <p:txBody>
          <a:bodyPr lIns="0" tIns="0" rIns="0" bIns="0" anchor="t"/>
          <a:lstStyle>
            <a:defPPr>
              <a:defRPr sz="1350" b="0">
                <a:solidFill>
                  <a:srgbClr val="087F95"/>
                </a:solidFill>
              </a:defRPr>
            </a:defPPr>
            <a:lvl1pPr>
              <a:defRPr sz="1350" b="0">
                <a:solidFill>
                  <a:srgbClr val="087F95"/>
                </a:solidFill>
              </a:defRPr>
            </a:lvl1pPr>
            <a:lvl2pPr>
              <a:defRPr sz="1350" b="0">
                <a:solidFill>
                  <a:srgbClr val="087F95"/>
                </a:solidFill>
              </a:defRPr>
            </a:lvl2pPr>
            <a:lvl3pPr>
              <a:defRPr sz="1350" b="0">
                <a:solidFill>
                  <a:srgbClr val="087F95"/>
                </a:solidFill>
              </a:defRPr>
            </a:lvl3pPr>
            <a:lvl4pPr>
              <a:defRPr sz="1350" b="0">
                <a:solidFill>
                  <a:srgbClr val="087F95"/>
                </a:solidFill>
              </a:defRPr>
            </a:lvl4pPr>
            <a:lvl5pPr>
              <a:defRPr sz="1350" b="0">
                <a:solidFill>
                  <a:srgbClr val="087F95"/>
                </a:solidFill>
              </a:defRPr>
            </a:lvl5pPr>
            <a:lvl6pPr>
              <a:defRPr sz="1350" b="0">
                <a:solidFill>
                  <a:srgbClr val="087F95"/>
                </a:solidFill>
              </a:defRPr>
            </a:lvl6pPr>
            <a:lvl7pPr>
              <a:defRPr sz="1350" b="0">
                <a:solidFill>
                  <a:srgbClr val="087F95"/>
                </a:solidFill>
              </a:defRPr>
            </a:lvl7pPr>
            <a:lvl8pPr>
              <a:defRPr sz="1350" b="0">
                <a:solidFill>
                  <a:srgbClr val="087F95"/>
                </a:solidFill>
              </a:defRPr>
            </a:lvl8pPr>
            <a:lvl9pPr>
              <a:defRPr sz="1350" b="0">
                <a:solidFill>
                  <a:srgbClr val="087F95"/>
                </a:solidFill>
              </a:defRPr>
            </a:lvl9pPr>
          </a:lstStyle>
          <a:p>
            <a:pPr>
              <a:defRPr sz="1350" b="0">
                <a:solidFill>
                  <a:srgbClr val="087F95"/>
                </a:solidFill>
              </a:defRPr>
            </a:pPr>
            <a:r>
              <a:rPr sz="1350" b="0">
                <a:solidFill>
                  <a:srgbClr val="087F95"/>
                </a:solidFill>
                <a:hlinkClick r:id="rId3"/>
              </a:rPr>
              <a:t>Detailed evidence on the website</a:t>
            </a:r>
          </a:p>
        </p:txBody>
      </p:sp>
      <p:graphicFrame>
        <p:nvGraphicFramePr>
          <p:cNvPr id="5" name="Chart">
            <a:extLst>
              <a:ext uri="{FF2B5EF4-FFF2-40B4-BE49-F238E27FC236}">
                <a16:creationId xmlns:a16="http://schemas.microsoft.com/office/drawing/2014/main" id="{334812F2-AC63-45FE-A111-816699ACC135}"/>
              </a:ext>
            </a:extLst>
          </p:cNvPr>
          <p:cNvGraphicFramePr/>
          <p:nvPr/>
        </p:nvGraphicFramePr>
        <p:xfrm>
          <a:off x="457200" y="1638300"/>
          <a:ext cx="8096250" cy="4095750"/>
        </p:xfrm>
        <a:graphic>
          <a:graphicData uri="http://schemas.openxmlformats.org/drawingml/2006/chart">
            <c:chart xmlns:c="http://schemas.openxmlformats.org/drawingml/2006/chart" xmlns:r="http://schemas.openxmlformats.org/officeDocument/2006/relationships" r:id="rId4"/>
          </a:graphicData>
        </a:graphic>
      </p:graphicFrame>
      <p:sp>
        <p:nvSpPr>
          <p:cNvPr id="6" name="61.8 °C">
            <a:extLst>
              <a:ext uri="{FF2B5EF4-FFF2-40B4-BE49-F238E27FC236}">
                <a16:creationId xmlns:a16="http://schemas.microsoft.com/office/drawing/2014/main" id="{8580DCDA-33F5-47FD-9A5F-7C18423A418F}"/>
              </a:ext>
            </a:extLst>
          </p:cNvPr>
          <p:cNvSpPr>
            <a:spLocks noGrp="1"/>
          </p:cNvSpPr>
          <p:nvPr/>
        </p:nvSpPr>
        <p:spPr>
          <a:xfrm>
            <a:off x="8963025" y="1676400"/>
            <a:ext cx="2667000" cy="609600"/>
          </a:xfrm>
          <a:prstGeom prst="rect">
            <a:avLst/>
          </a:prstGeom>
          <a:noFill/>
          <a:ln w="0">
            <a:noFill/>
          </a:ln>
        </p:spPr>
        <p:txBody>
          <a:bodyPr lIns="0" tIns="0" rIns="0" bIns="0" anchor="t"/>
          <a:lstStyle>
            <a:defPPr>
              <a:defRPr sz="3900" b="1">
                <a:solidFill>
                  <a:srgbClr val="087F95"/>
                </a:solidFill>
              </a:defRPr>
            </a:defPPr>
            <a:lvl1pPr>
              <a:defRPr sz="3900" b="1">
                <a:solidFill>
                  <a:srgbClr val="087F95"/>
                </a:solidFill>
              </a:defRPr>
            </a:lvl1pPr>
            <a:lvl2pPr>
              <a:defRPr sz="3900" b="1">
                <a:solidFill>
                  <a:srgbClr val="087F95"/>
                </a:solidFill>
              </a:defRPr>
            </a:lvl2pPr>
            <a:lvl3pPr>
              <a:defRPr sz="3900" b="1">
                <a:solidFill>
                  <a:srgbClr val="087F95"/>
                </a:solidFill>
              </a:defRPr>
            </a:lvl3pPr>
            <a:lvl4pPr>
              <a:defRPr sz="3900" b="1">
                <a:solidFill>
                  <a:srgbClr val="087F95"/>
                </a:solidFill>
              </a:defRPr>
            </a:lvl4pPr>
            <a:lvl5pPr>
              <a:defRPr sz="3900" b="1">
                <a:solidFill>
                  <a:srgbClr val="087F95"/>
                </a:solidFill>
              </a:defRPr>
            </a:lvl5pPr>
            <a:lvl6pPr>
              <a:defRPr sz="3900" b="1">
                <a:solidFill>
                  <a:srgbClr val="087F95"/>
                </a:solidFill>
              </a:defRPr>
            </a:lvl6pPr>
            <a:lvl7pPr>
              <a:defRPr sz="3900" b="1">
                <a:solidFill>
                  <a:srgbClr val="087F95"/>
                </a:solidFill>
              </a:defRPr>
            </a:lvl7pPr>
            <a:lvl8pPr>
              <a:defRPr sz="3900" b="1">
                <a:solidFill>
                  <a:srgbClr val="087F95"/>
                </a:solidFill>
              </a:defRPr>
            </a:lvl8pPr>
            <a:lvl9pPr>
              <a:defRPr sz="3900" b="1">
                <a:solidFill>
                  <a:srgbClr val="087F95"/>
                </a:solidFill>
              </a:defRPr>
            </a:lvl9pPr>
          </a:lstStyle>
          <a:p>
            <a:pPr>
              <a:defRPr sz="3900" b="1">
                <a:solidFill>
                  <a:srgbClr val="087F95"/>
                </a:solidFill>
              </a:defRPr>
            </a:pPr>
            <a:r>
              <a:rPr sz="3900" b="1">
                <a:solidFill>
                  <a:srgbClr val="087F95"/>
                </a:solidFill>
              </a:rPr>
              <a:t>61.8 °C</a:t>
            </a:r>
          </a:p>
        </p:txBody>
      </p:sp>
      <p:sp>
        <p:nvSpPr>
          <p:cNvPr id="7" name="Peak telecom case temperature">
            <a:extLst>
              <a:ext uri="{FF2B5EF4-FFF2-40B4-BE49-F238E27FC236}">
                <a16:creationId xmlns:a16="http://schemas.microsoft.com/office/drawing/2014/main" id="{A98DB342-06C5-44B7-934B-82AB0B633E4A}"/>
              </a:ext>
            </a:extLst>
          </p:cNvPr>
          <p:cNvSpPr>
            <a:spLocks noGrp="1"/>
          </p:cNvSpPr>
          <p:nvPr/>
        </p:nvSpPr>
        <p:spPr>
          <a:xfrm>
            <a:off x="8963025" y="2314575"/>
            <a:ext cx="2667000" cy="742950"/>
          </a:xfrm>
          <a:prstGeom prst="rect">
            <a:avLst/>
          </a:prstGeom>
          <a:noFill/>
          <a:ln w="0">
            <a:noFill/>
          </a:ln>
        </p:spPr>
        <p:txBody>
          <a:bodyPr lIns="0" tIns="0" rIns="0" bIns="0" anchor="t"/>
          <a:lstStyle>
            <a:defPPr>
              <a:defRPr sz="1725" b="0">
                <a:solidFill>
                  <a:srgbClr val="587081"/>
                </a:solidFill>
              </a:defRPr>
            </a:defPPr>
            <a:lvl1pPr>
              <a:defRPr sz="1725" b="0">
                <a:solidFill>
                  <a:srgbClr val="587081"/>
                </a:solidFill>
              </a:defRPr>
            </a:lvl1pPr>
            <a:lvl2pPr>
              <a:defRPr sz="1725" b="0">
                <a:solidFill>
                  <a:srgbClr val="587081"/>
                </a:solidFill>
              </a:defRPr>
            </a:lvl2pPr>
            <a:lvl3pPr>
              <a:defRPr sz="1725" b="0">
                <a:solidFill>
                  <a:srgbClr val="587081"/>
                </a:solidFill>
              </a:defRPr>
            </a:lvl3pPr>
            <a:lvl4pPr>
              <a:defRPr sz="1725" b="0">
                <a:solidFill>
                  <a:srgbClr val="587081"/>
                </a:solidFill>
              </a:defRPr>
            </a:lvl4pPr>
            <a:lvl5pPr>
              <a:defRPr sz="1725" b="0">
                <a:solidFill>
                  <a:srgbClr val="587081"/>
                </a:solidFill>
              </a:defRPr>
            </a:lvl5pPr>
            <a:lvl6pPr>
              <a:defRPr sz="1725" b="0">
                <a:solidFill>
                  <a:srgbClr val="587081"/>
                </a:solidFill>
              </a:defRPr>
            </a:lvl6pPr>
            <a:lvl7pPr>
              <a:defRPr sz="1725" b="0">
                <a:solidFill>
                  <a:srgbClr val="587081"/>
                </a:solidFill>
              </a:defRPr>
            </a:lvl7pPr>
            <a:lvl8pPr>
              <a:defRPr sz="1725" b="0">
                <a:solidFill>
                  <a:srgbClr val="587081"/>
                </a:solidFill>
              </a:defRPr>
            </a:lvl8pPr>
            <a:lvl9pPr>
              <a:defRPr sz="1725" b="0">
                <a:solidFill>
                  <a:srgbClr val="587081"/>
                </a:solidFill>
              </a:defRPr>
            </a:lvl9pPr>
          </a:lstStyle>
          <a:p>
            <a:pPr>
              <a:defRPr sz="1725" b="0">
                <a:solidFill>
                  <a:srgbClr val="587081"/>
                </a:solidFill>
              </a:defRPr>
            </a:pPr>
            <a:r>
              <a:rPr sz="1725" b="0" dirty="0">
                <a:solidFill>
                  <a:srgbClr val="587081"/>
                </a:solidFill>
              </a:rPr>
              <a:t>Peak telecom case temperature</a:t>
            </a:r>
          </a:p>
        </p:txBody>
      </p:sp>
      <p:sp>
        <p:nvSpPr>
          <p:cNvPr id="8" name="53.0%">
            <a:extLst>
              <a:ext uri="{FF2B5EF4-FFF2-40B4-BE49-F238E27FC236}">
                <a16:creationId xmlns:a16="http://schemas.microsoft.com/office/drawing/2014/main" id="{55519EA1-76E2-4F1B-8B9C-8891D4EE7E11}"/>
              </a:ext>
            </a:extLst>
          </p:cNvPr>
          <p:cNvSpPr>
            <a:spLocks noGrp="1"/>
          </p:cNvSpPr>
          <p:nvPr/>
        </p:nvSpPr>
        <p:spPr>
          <a:xfrm>
            <a:off x="8963025" y="3219450"/>
            <a:ext cx="2667000" cy="609600"/>
          </a:xfrm>
          <a:prstGeom prst="rect">
            <a:avLst/>
          </a:prstGeom>
          <a:noFill/>
          <a:ln w="0">
            <a:noFill/>
          </a:ln>
        </p:spPr>
        <p:txBody>
          <a:bodyPr lIns="0" tIns="0" rIns="0" bIns="0" anchor="t"/>
          <a:lstStyle>
            <a:defPPr>
              <a:defRPr sz="3900" b="1">
                <a:solidFill>
                  <a:srgbClr val="087F95"/>
                </a:solidFill>
              </a:defRPr>
            </a:defPPr>
            <a:lvl1pPr>
              <a:defRPr sz="3900" b="1">
                <a:solidFill>
                  <a:srgbClr val="087F95"/>
                </a:solidFill>
              </a:defRPr>
            </a:lvl1pPr>
            <a:lvl2pPr>
              <a:defRPr sz="3900" b="1">
                <a:solidFill>
                  <a:srgbClr val="087F95"/>
                </a:solidFill>
              </a:defRPr>
            </a:lvl2pPr>
            <a:lvl3pPr>
              <a:defRPr sz="3900" b="1">
                <a:solidFill>
                  <a:srgbClr val="087F95"/>
                </a:solidFill>
              </a:defRPr>
            </a:lvl3pPr>
            <a:lvl4pPr>
              <a:defRPr sz="3900" b="1">
                <a:solidFill>
                  <a:srgbClr val="087F95"/>
                </a:solidFill>
              </a:defRPr>
            </a:lvl4pPr>
            <a:lvl5pPr>
              <a:defRPr sz="3900" b="1">
                <a:solidFill>
                  <a:srgbClr val="087F95"/>
                </a:solidFill>
              </a:defRPr>
            </a:lvl5pPr>
            <a:lvl6pPr>
              <a:defRPr sz="3900" b="1">
                <a:solidFill>
                  <a:srgbClr val="087F95"/>
                </a:solidFill>
              </a:defRPr>
            </a:lvl6pPr>
            <a:lvl7pPr>
              <a:defRPr sz="3900" b="1">
                <a:solidFill>
                  <a:srgbClr val="087F95"/>
                </a:solidFill>
              </a:defRPr>
            </a:lvl7pPr>
            <a:lvl8pPr>
              <a:defRPr sz="3900" b="1">
                <a:solidFill>
                  <a:srgbClr val="087F95"/>
                </a:solidFill>
              </a:defRPr>
            </a:lvl8pPr>
            <a:lvl9pPr>
              <a:defRPr sz="3900" b="1">
                <a:solidFill>
                  <a:srgbClr val="087F95"/>
                </a:solidFill>
              </a:defRPr>
            </a:lvl9pPr>
          </a:lstStyle>
          <a:p>
            <a:pPr>
              <a:defRPr sz="3900" b="1">
                <a:solidFill>
                  <a:srgbClr val="087F95"/>
                </a:solidFill>
              </a:defRPr>
            </a:pPr>
            <a:r>
              <a:rPr sz="3900" b="1">
                <a:solidFill>
                  <a:srgbClr val="087F95"/>
                </a:solidFill>
              </a:rPr>
              <a:t>53.0%</a:t>
            </a:r>
          </a:p>
        </p:txBody>
      </p:sp>
      <p:sp>
        <p:nvSpPr>
          <p:cNvPr id="9" name="Minimum modeled battery SOC">
            <a:extLst>
              <a:ext uri="{FF2B5EF4-FFF2-40B4-BE49-F238E27FC236}">
                <a16:creationId xmlns:a16="http://schemas.microsoft.com/office/drawing/2014/main" id="{006C071E-5C8C-4FC1-8C81-016C934BC01B}"/>
              </a:ext>
            </a:extLst>
          </p:cNvPr>
          <p:cNvSpPr>
            <a:spLocks noGrp="1"/>
          </p:cNvSpPr>
          <p:nvPr/>
        </p:nvSpPr>
        <p:spPr>
          <a:xfrm>
            <a:off x="8963025" y="3857625"/>
            <a:ext cx="2667000" cy="742950"/>
          </a:xfrm>
          <a:prstGeom prst="rect">
            <a:avLst/>
          </a:prstGeom>
          <a:noFill/>
          <a:ln w="0">
            <a:noFill/>
          </a:ln>
        </p:spPr>
        <p:txBody>
          <a:bodyPr lIns="0" tIns="0" rIns="0" bIns="0" anchor="t"/>
          <a:lstStyle>
            <a:defPPr>
              <a:defRPr sz="1725" b="0">
                <a:solidFill>
                  <a:srgbClr val="587081"/>
                </a:solidFill>
              </a:defRPr>
            </a:defPPr>
            <a:lvl1pPr>
              <a:defRPr sz="1725" b="0">
                <a:solidFill>
                  <a:srgbClr val="587081"/>
                </a:solidFill>
              </a:defRPr>
            </a:lvl1pPr>
            <a:lvl2pPr>
              <a:defRPr sz="1725" b="0">
                <a:solidFill>
                  <a:srgbClr val="587081"/>
                </a:solidFill>
              </a:defRPr>
            </a:lvl2pPr>
            <a:lvl3pPr>
              <a:defRPr sz="1725" b="0">
                <a:solidFill>
                  <a:srgbClr val="587081"/>
                </a:solidFill>
              </a:defRPr>
            </a:lvl3pPr>
            <a:lvl4pPr>
              <a:defRPr sz="1725" b="0">
                <a:solidFill>
                  <a:srgbClr val="587081"/>
                </a:solidFill>
              </a:defRPr>
            </a:lvl4pPr>
            <a:lvl5pPr>
              <a:defRPr sz="1725" b="0">
                <a:solidFill>
                  <a:srgbClr val="587081"/>
                </a:solidFill>
              </a:defRPr>
            </a:lvl5pPr>
            <a:lvl6pPr>
              <a:defRPr sz="1725" b="0">
                <a:solidFill>
                  <a:srgbClr val="587081"/>
                </a:solidFill>
              </a:defRPr>
            </a:lvl6pPr>
            <a:lvl7pPr>
              <a:defRPr sz="1725" b="0">
                <a:solidFill>
                  <a:srgbClr val="587081"/>
                </a:solidFill>
              </a:defRPr>
            </a:lvl7pPr>
            <a:lvl8pPr>
              <a:defRPr sz="1725" b="0">
                <a:solidFill>
                  <a:srgbClr val="587081"/>
                </a:solidFill>
              </a:defRPr>
            </a:lvl8pPr>
            <a:lvl9pPr>
              <a:defRPr sz="1725" b="0">
                <a:solidFill>
                  <a:srgbClr val="587081"/>
                </a:solidFill>
              </a:defRPr>
            </a:lvl9pPr>
          </a:lstStyle>
          <a:p>
            <a:pPr>
              <a:defRPr sz="1725" b="0">
                <a:solidFill>
                  <a:srgbClr val="587081"/>
                </a:solidFill>
              </a:defRPr>
            </a:pPr>
            <a:r>
              <a:rPr sz="1725" b="0">
                <a:solidFill>
                  <a:srgbClr val="587081"/>
                </a:solidFill>
              </a:rPr>
              <a:t>Minimum modeled battery SOC</a:t>
            </a:r>
          </a:p>
        </p:txBody>
      </p:sp>
      <p:sp>
        <p:nvSpPr>
          <p:cNvPr id="10" name="2.63 kWh">
            <a:extLst>
              <a:ext uri="{FF2B5EF4-FFF2-40B4-BE49-F238E27FC236}">
                <a16:creationId xmlns:a16="http://schemas.microsoft.com/office/drawing/2014/main" id="{AFA796E7-F327-46D0-B592-0C7E4373612D}"/>
              </a:ext>
            </a:extLst>
          </p:cNvPr>
          <p:cNvSpPr>
            <a:spLocks noGrp="1"/>
          </p:cNvSpPr>
          <p:nvPr/>
        </p:nvSpPr>
        <p:spPr>
          <a:xfrm>
            <a:off x="8963025" y="4714875"/>
            <a:ext cx="2667000" cy="609600"/>
          </a:xfrm>
          <a:prstGeom prst="rect">
            <a:avLst/>
          </a:prstGeom>
          <a:noFill/>
          <a:ln w="0">
            <a:noFill/>
          </a:ln>
        </p:spPr>
        <p:txBody>
          <a:bodyPr lIns="0" tIns="0" rIns="0" bIns="0" anchor="t"/>
          <a:lstStyle>
            <a:defPPr>
              <a:defRPr sz="3900" b="1">
                <a:solidFill>
                  <a:srgbClr val="087F95"/>
                </a:solidFill>
              </a:defRPr>
            </a:defPPr>
            <a:lvl1pPr>
              <a:defRPr sz="3900" b="1">
                <a:solidFill>
                  <a:srgbClr val="087F95"/>
                </a:solidFill>
              </a:defRPr>
            </a:lvl1pPr>
            <a:lvl2pPr>
              <a:defRPr sz="3900" b="1">
                <a:solidFill>
                  <a:srgbClr val="087F95"/>
                </a:solidFill>
              </a:defRPr>
            </a:lvl2pPr>
            <a:lvl3pPr>
              <a:defRPr sz="3900" b="1">
                <a:solidFill>
                  <a:srgbClr val="087F95"/>
                </a:solidFill>
              </a:defRPr>
            </a:lvl3pPr>
            <a:lvl4pPr>
              <a:defRPr sz="3900" b="1">
                <a:solidFill>
                  <a:srgbClr val="087F95"/>
                </a:solidFill>
              </a:defRPr>
            </a:lvl4pPr>
            <a:lvl5pPr>
              <a:defRPr sz="3900" b="1">
                <a:solidFill>
                  <a:srgbClr val="087F95"/>
                </a:solidFill>
              </a:defRPr>
            </a:lvl5pPr>
            <a:lvl6pPr>
              <a:defRPr sz="3900" b="1">
                <a:solidFill>
                  <a:srgbClr val="087F95"/>
                </a:solidFill>
              </a:defRPr>
            </a:lvl6pPr>
            <a:lvl7pPr>
              <a:defRPr sz="3900" b="1">
                <a:solidFill>
                  <a:srgbClr val="087F95"/>
                </a:solidFill>
              </a:defRPr>
            </a:lvl7pPr>
            <a:lvl8pPr>
              <a:defRPr sz="3900" b="1">
                <a:solidFill>
                  <a:srgbClr val="087F95"/>
                </a:solidFill>
              </a:defRPr>
            </a:lvl8pPr>
            <a:lvl9pPr>
              <a:defRPr sz="3900" b="1">
                <a:solidFill>
                  <a:srgbClr val="087F95"/>
                </a:solidFill>
              </a:defRPr>
            </a:lvl9pPr>
          </a:lstStyle>
          <a:p>
            <a:pPr>
              <a:defRPr sz="3900" b="1">
                <a:solidFill>
                  <a:srgbClr val="087F95"/>
                </a:solidFill>
              </a:defRPr>
            </a:pPr>
            <a:r>
              <a:rPr sz="3900" b="1">
                <a:solidFill>
                  <a:srgbClr val="087F95"/>
                </a:solidFill>
              </a:rPr>
              <a:t>2.63 kWh</a:t>
            </a:r>
          </a:p>
        </p:txBody>
      </p:sp>
      <p:sp>
        <p:nvSpPr>
          <p:cNvPr id="11" name="Daily heater energy">
            <a:extLst>
              <a:ext uri="{FF2B5EF4-FFF2-40B4-BE49-F238E27FC236}">
                <a16:creationId xmlns:a16="http://schemas.microsoft.com/office/drawing/2014/main" id="{3E47F5CA-70D8-493B-B06A-6965A88AFA13}"/>
              </a:ext>
            </a:extLst>
          </p:cNvPr>
          <p:cNvSpPr>
            <a:spLocks noGrp="1"/>
          </p:cNvSpPr>
          <p:nvPr/>
        </p:nvSpPr>
        <p:spPr>
          <a:xfrm>
            <a:off x="8963025" y="5353050"/>
            <a:ext cx="2667000" cy="742950"/>
          </a:xfrm>
          <a:prstGeom prst="rect">
            <a:avLst/>
          </a:prstGeom>
          <a:noFill/>
          <a:ln w="0">
            <a:noFill/>
          </a:ln>
        </p:spPr>
        <p:txBody>
          <a:bodyPr lIns="0" tIns="0" rIns="0" bIns="0" anchor="t"/>
          <a:lstStyle>
            <a:defPPr>
              <a:defRPr sz="1725" b="0">
                <a:solidFill>
                  <a:srgbClr val="587081"/>
                </a:solidFill>
              </a:defRPr>
            </a:defPPr>
            <a:lvl1pPr>
              <a:defRPr sz="1725" b="0">
                <a:solidFill>
                  <a:srgbClr val="587081"/>
                </a:solidFill>
              </a:defRPr>
            </a:lvl1pPr>
            <a:lvl2pPr>
              <a:defRPr sz="1725" b="0">
                <a:solidFill>
                  <a:srgbClr val="587081"/>
                </a:solidFill>
              </a:defRPr>
            </a:lvl2pPr>
            <a:lvl3pPr>
              <a:defRPr sz="1725" b="0">
                <a:solidFill>
                  <a:srgbClr val="587081"/>
                </a:solidFill>
              </a:defRPr>
            </a:lvl3pPr>
            <a:lvl4pPr>
              <a:defRPr sz="1725" b="0">
                <a:solidFill>
                  <a:srgbClr val="587081"/>
                </a:solidFill>
              </a:defRPr>
            </a:lvl4pPr>
            <a:lvl5pPr>
              <a:defRPr sz="1725" b="0">
                <a:solidFill>
                  <a:srgbClr val="587081"/>
                </a:solidFill>
              </a:defRPr>
            </a:lvl5pPr>
            <a:lvl6pPr>
              <a:defRPr sz="1725" b="0">
                <a:solidFill>
                  <a:srgbClr val="587081"/>
                </a:solidFill>
              </a:defRPr>
            </a:lvl6pPr>
            <a:lvl7pPr>
              <a:defRPr sz="1725" b="0">
                <a:solidFill>
                  <a:srgbClr val="587081"/>
                </a:solidFill>
              </a:defRPr>
            </a:lvl7pPr>
            <a:lvl8pPr>
              <a:defRPr sz="1725" b="0">
                <a:solidFill>
                  <a:srgbClr val="587081"/>
                </a:solidFill>
              </a:defRPr>
            </a:lvl8pPr>
            <a:lvl9pPr>
              <a:defRPr sz="1725" b="0">
                <a:solidFill>
                  <a:srgbClr val="587081"/>
                </a:solidFill>
              </a:defRPr>
            </a:lvl9pPr>
          </a:lstStyle>
          <a:p>
            <a:pPr>
              <a:defRPr sz="1725" b="0">
                <a:solidFill>
                  <a:srgbClr val="587081"/>
                </a:solidFill>
              </a:defRPr>
            </a:pPr>
            <a:r>
              <a:rPr sz="1725" b="0">
                <a:solidFill>
                  <a:srgbClr val="587081"/>
                </a:solidFill>
              </a:rPr>
              <a:t>Daily heater energy</a:t>
            </a:r>
          </a:p>
        </p:txBody>
      </p:sp>
      <p:sp>
        <p:nvSpPr>
          <p:cNvPr id="12" name="Selected representative design. Thermal and service constraints p">
            <a:extLst>
              <a:ext uri="{FF2B5EF4-FFF2-40B4-BE49-F238E27FC236}">
                <a16:creationId xmlns:a16="http://schemas.microsoft.com/office/drawing/2014/main" id="{FF96ED63-8FE9-45BA-A9ED-9749D58EB092}"/>
              </a:ext>
            </a:extLst>
          </p:cNvPr>
          <p:cNvSpPr>
            <a:spLocks noGrp="1"/>
          </p:cNvSpPr>
          <p:nvPr/>
        </p:nvSpPr>
        <p:spPr>
          <a:xfrm>
            <a:off x="533400" y="5876925"/>
            <a:ext cx="10858500" cy="419100"/>
          </a:xfrm>
          <a:prstGeom prst="rect">
            <a:avLst/>
          </a:prstGeom>
          <a:noFill/>
          <a:ln w="0">
            <a:noFill/>
          </a:ln>
        </p:spPr>
        <p:txBody>
          <a:bodyPr lIns="0" tIns="0" rIns="0" bIns="0" anchor="t"/>
          <a:lstStyle>
            <a:defPPr>
              <a:defRPr sz="1725" b="0">
                <a:solidFill>
                  <a:srgbClr val="587081"/>
                </a:solidFill>
              </a:defRPr>
            </a:defPPr>
            <a:lvl1pPr>
              <a:defRPr sz="1725" b="0">
                <a:solidFill>
                  <a:srgbClr val="587081"/>
                </a:solidFill>
              </a:defRPr>
            </a:lvl1pPr>
            <a:lvl2pPr>
              <a:defRPr sz="1725" b="0">
                <a:solidFill>
                  <a:srgbClr val="587081"/>
                </a:solidFill>
              </a:defRPr>
            </a:lvl2pPr>
            <a:lvl3pPr>
              <a:defRPr sz="1725" b="0">
                <a:solidFill>
                  <a:srgbClr val="587081"/>
                </a:solidFill>
              </a:defRPr>
            </a:lvl3pPr>
            <a:lvl4pPr>
              <a:defRPr sz="1725" b="0">
                <a:solidFill>
                  <a:srgbClr val="587081"/>
                </a:solidFill>
              </a:defRPr>
            </a:lvl4pPr>
            <a:lvl5pPr>
              <a:defRPr sz="1725" b="0">
                <a:solidFill>
                  <a:srgbClr val="587081"/>
                </a:solidFill>
              </a:defRPr>
            </a:lvl5pPr>
            <a:lvl6pPr>
              <a:defRPr sz="1725" b="0">
                <a:solidFill>
                  <a:srgbClr val="587081"/>
                </a:solidFill>
              </a:defRPr>
            </a:lvl6pPr>
            <a:lvl7pPr>
              <a:defRPr sz="1725" b="0">
                <a:solidFill>
                  <a:srgbClr val="587081"/>
                </a:solidFill>
              </a:defRPr>
            </a:lvl7pPr>
            <a:lvl8pPr>
              <a:defRPr sz="1725" b="0">
                <a:solidFill>
                  <a:srgbClr val="587081"/>
                </a:solidFill>
              </a:defRPr>
            </a:lvl8pPr>
            <a:lvl9pPr>
              <a:defRPr sz="1725" b="0">
                <a:solidFill>
                  <a:srgbClr val="587081"/>
                </a:solidFill>
              </a:defRPr>
            </a:lvl9pPr>
          </a:lstStyle>
          <a:p>
            <a:pPr>
              <a:defRPr sz="1725" b="0">
                <a:solidFill>
                  <a:srgbClr val="587081"/>
                </a:solidFill>
              </a:defRPr>
            </a:pPr>
            <a:r>
              <a:rPr sz="1725" b="0">
                <a:solidFill>
                  <a:srgbClr val="587081"/>
                </a:solidFill>
              </a:rPr>
              <a:t>Selected representative design. Thermal and service constraints pass this nominal simulated mission.</a:t>
            </a:r>
          </a:p>
        </p:txBody>
      </p:sp>
    </p:spTree>
    <p:extLst>
      <p:ext uri="{BB962C8B-B14F-4D97-AF65-F5344CB8AC3E}">
        <p14:creationId xmlns:p14="http://schemas.microsoft.com/office/powerpoint/2010/main" val="17067984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Active and passive thermal-control design">
            <a:extLst>
              <a:ext uri="{FF2B5EF4-FFF2-40B4-BE49-F238E27FC236}">
                <a16:creationId xmlns:a16="http://schemas.microsoft.com/office/drawing/2014/main" id="{CD008978-A15F-46CA-B2DC-9D19838F67BB}"/>
              </a:ext>
            </a:extLst>
          </p:cNvPr>
          <p:cNvSpPr>
            <a:spLocks noGrp="1"/>
          </p:cNvSpPr>
          <p:nvPr/>
        </p:nvSpPr>
        <p:spPr>
          <a:xfrm>
            <a:off x="533400" y="361950"/>
            <a:ext cx="11125200" cy="1028700"/>
          </a:xfrm>
          <a:prstGeom prst="rect">
            <a:avLst/>
          </a:prstGeom>
          <a:noFill/>
          <a:ln w="0">
            <a:noFill/>
          </a:ln>
        </p:spPr>
        <p:txBody>
          <a:bodyPr lIns="0" tIns="0" rIns="0" bIns="0" anchor="t"/>
          <a:lstStyle>
            <a:defPPr>
              <a:defRPr sz="3150" b="1">
                <a:solidFill>
                  <a:srgbClr val="142B3D"/>
                </a:solidFill>
              </a:defRPr>
            </a:defPPr>
            <a:lvl1pPr>
              <a:defRPr sz="3150" b="1">
                <a:solidFill>
                  <a:srgbClr val="142B3D"/>
                </a:solidFill>
              </a:defRPr>
            </a:lvl1pPr>
            <a:lvl2pPr>
              <a:defRPr sz="3150" b="1">
                <a:solidFill>
                  <a:srgbClr val="142B3D"/>
                </a:solidFill>
              </a:defRPr>
            </a:lvl2pPr>
            <a:lvl3pPr>
              <a:defRPr sz="3150" b="1">
                <a:solidFill>
                  <a:srgbClr val="142B3D"/>
                </a:solidFill>
              </a:defRPr>
            </a:lvl3pPr>
            <a:lvl4pPr>
              <a:defRPr sz="3150" b="1">
                <a:solidFill>
                  <a:srgbClr val="142B3D"/>
                </a:solidFill>
              </a:defRPr>
            </a:lvl4pPr>
            <a:lvl5pPr>
              <a:defRPr sz="3150" b="1">
                <a:solidFill>
                  <a:srgbClr val="142B3D"/>
                </a:solidFill>
              </a:defRPr>
            </a:lvl5pPr>
            <a:lvl6pPr>
              <a:defRPr sz="3150" b="1">
                <a:solidFill>
                  <a:srgbClr val="142B3D"/>
                </a:solidFill>
              </a:defRPr>
            </a:lvl6pPr>
            <a:lvl7pPr>
              <a:defRPr sz="3150" b="1">
                <a:solidFill>
                  <a:srgbClr val="142B3D"/>
                </a:solidFill>
              </a:defRPr>
            </a:lvl7pPr>
            <a:lvl8pPr>
              <a:defRPr sz="3150" b="1">
                <a:solidFill>
                  <a:srgbClr val="142B3D"/>
                </a:solidFill>
              </a:defRPr>
            </a:lvl8pPr>
            <a:lvl9pPr>
              <a:defRPr sz="3150" b="1">
                <a:solidFill>
                  <a:srgbClr val="142B3D"/>
                </a:solidFill>
              </a:defRPr>
            </a:lvl9pPr>
          </a:lstStyle>
          <a:p>
            <a:pPr>
              <a:defRPr sz="3150" b="1">
                <a:solidFill>
                  <a:srgbClr val="142B3D"/>
                </a:solidFill>
              </a:defRPr>
            </a:pPr>
            <a:r>
              <a:rPr sz="3150" b="1">
                <a:solidFill>
                  <a:srgbClr val="142B3D"/>
                </a:solidFill>
              </a:rPr>
              <a:t>Active and passive thermal-control design</a:t>
            </a:r>
          </a:p>
        </p:txBody>
      </p:sp>
      <p:sp>
        <p:nvSpPr>
          <p:cNvPr id="2" name="Khani Solutions">
            <a:extLst>
              <a:ext uri="{FF2B5EF4-FFF2-40B4-BE49-F238E27FC236}">
                <a16:creationId xmlns:a16="http://schemas.microsoft.com/office/drawing/2014/main" id="{DD97B4D6-BB45-4528-A506-8CAEDE125C25}"/>
              </a:ext>
            </a:extLst>
          </p:cNvPr>
          <p:cNvSpPr>
            <a:spLocks noGrp="1"/>
          </p:cNvSpPr>
          <p:nvPr/>
        </p:nvSpPr>
        <p:spPr>
          <a:xfrm>
            <a:off x="533400" y="6448425"/>
            <a:ext cx="2190750" cy="238125"/>
          </a:xfrm>
          <a:prstGeom prst="rect">
            <a:avLst/>
          </a:prstGeom>
          <a:noFill/>
          <a:ln w="0">
            <a:noFill/>
          </a:ln>
        </p:spPr>
        <p:txBody>
          <a:bodyPr lIns="0" tIns="0" rIns="0" bIns="0" anchor="t"/>
          <a:lstStyle>
            <a:defPPr>
              <a:defRPr sz="1350" b="0">
                <a:solidFill>
                  <a:srgbClr val="587081"/>
                </a:solidFill>
              </a:defRPr>
            </a:defPPr>
            <a:lvl1pPr>
              <a:defRPr sz="1350" b="0">
                <a:solidFill>
                  <a:srgbClr val="587081"/>
                </a:solidFill>
              </a:defRPr>
            </a:lvl1pPr>
            <a:lvl2pPr>
              <a:defRPr sz="1350" b="0">
                <a:solidFill>
                  <a:srgbClr val="587081"/>
                </a:solidFill>
              </a:defRPr>
            </a:lvl2pPr>
            <a:lvl3pPr>
              <a:defRPr sz="1350" b="0">
                <a:solidFill>
                  <a:srgbClr val="587081"/>
                </a:solidFill>
              </a:defRPr>
            </a:lvl3pPr>
            <a:lvl4pPr>
              <a:defRPr sz="1350" b="0">
                <a:solidFill>
                  <a:srgbClr val="587081"/>
                </a:solidFill>
              </a:defRPr>
            </a:lvl4pPr>
            <a:lvl5pPr>
              <a:defRPr sz="1350" b="0">
                <a:solidFill>
                  <a:srgbClr val="587081"/>
                </a:solidFill>
              </a:defRPr>
            </a:lvl5pPr>
            <a:lvl6pPr>
              <a:defRPr sz="1350" b="0">
                <a:solidFill>
                  <a:srgbClr val="587081"/>
                </a:solidFill>
              </a:defRPr>
            </a:lvl6pPr>
            <a:lvl7pPr>
              <a:defRPr sz="1350" b="0">
                <a:solidFill>
                  <a:srgbClr val="587081"/>
                </a:solidFill>
              </a:defRPr>
            </a:lvl7pPr>
            <a:lvl8pPr>
              <a:defRPr sz="1350" b="0">
                <a:solidFill>
                  <a:srgbClr val="587081"/>
                </a:solidFill>
              </a:defRPr>
            </a:lvl8pPr>
            <a:lvl9pPr>
              <a:defRPr sz="1350" b="0">
                <a:solidFill>
                  <a:srgbClr val="587081"/>
                </a:solidFill>
              </a:defRPr>
            </a:lvl9pPr>
          </a:lstStyle>
          <a:p>
            <a:pPr>
              <a:defRPr sz="1350" b="0">
                <a:solidFill>
                  <a:srgbClr val="587081"/>
                </a:solidFill>
              </a:defRPr>
            </a:pPr>
            <a:r>
              <a:rPr sz="1350" b="0">
                <a:solidFill>
                  <a:srgbClr val="587081"/>
                </a:solidFill>
              </a:rPr>
              <a:t>Khani Solutions</a:t>
            </a:r>
          </a:p>
        </p:txBody>
      </p:sp>
      <p:sp>
        <p:nvSpPr>
          <p:cNvPr id="3" name="07 / 20">
            <a:extLst>
              <a:ext uri="{FF2B5EF4-FFF2-40B4-BE49-F238E27FC236}">
                <a16:creationId xmlns:a16="http://schemas.microsoft.com/office/drawing/2014/main" id="{AEDBAAC0-0182-44A4-A33D-EA1D0E9333CF}"/>
              </a:ext>
            </a:extLst>
          </p:cNvPr>
          <p:cNvSpPr>
            <a:spLocks noGrp="1"/>
          </p:cNvSpPr>
          <p:nvPr/>
        </p:nvSpPr>
        <p:spPr>
          <a:xfrm>
            <a:off x="10896600" y="6448425"/>
            <a:ext cx="857250" cy="238125"/>
          </a:xfrm>
          <a:prstGeom prst="rect">
            <a:avLst/>
          </a:prstGeom>
          <a:noFill/>
          <a:ln w="0">
            <a:noFill/>
          </a:ln>
        </p:spPr>
        <p:txBody>
          <a:bodyPr lIns="0" tIns="0" rIns="0" bIns="0" anchor="t"/>
          <a:lstStyle>
            <a:defPPr>
              <a:defRPr sz="1350" b="0">
                <a:solidFill>
                  <a:srgbClr val="587081"/>
                </a:solidFill>
              </a:defRPr>
            </a:defPPr>
            <a:lvl1pPr>
              <a:defRPr sz="1350" b="0">
                <a:solidFill>
                  <a:srgbClr val="587081"/>
                </a:solidFill>
              </a:defRPr>
            </a:lvl1pPr>
            <a:lvl2pPr>
              <a:defRPr sz="1350" b="0">
                <a:solidFill>
                  <a:srgbClr val="587081"/>
                </a:solidFill>
              </a:defRPr>
            </a:lvl2pPr>
            <a:lvl3pPr>
              <a:defRPr sz="1350" b="0">
                <a:solidFill>
                  <a:srgbClr val="587081"/>
                </a:solidFill>
              </a:defRPr>
            </a:lvl3pPr>
            <a:lvl4pPr>
              <a:defRPr sz="1350" b="0">
                <a:solidFill>
                  <a:srgbClr val="587081"/>
                </a:solidFill>
              </a:defRPr>
            </a:lvl4pPr>
            <a:lvl5pPr>
              <a:defRPr sz="1350" b="0">
                <a:solidFill>
                  <a:srgbClr val="587081"/>
                </a:solidFill>
              </a:defRPr>
            </a:lvl5pPr>
            <a:lvl6pPr>
              <a:defRPr sz="1350" b="0">
                <a:solidFill>
                  <a:srgbClr val="587081"/>
                </a:solidFill>
              </a:defRPr>
            </a:lvl6pPr>
            <a:lvl7pPr>
              <a:defRPr sz="1350" b="0">
                <a:solidFill>
                  <a:srgbClr val="587081"/>
                </a:solidFill>
              </a:defRPr>
            </a:lvl7pPr>
            <a:lvl8pPr>
              <a:defRPr sz="1350" b="0">
                <a:solidFill>
                  <a:srgbClr val="587081"/>
                </a:solidFill>
              </a:defRPr>
            </a:lvl8pPr>
            <a:lvl9pPr>
              <a:defRPr sz="1350" b="0">
                <a:solidFill>
                  <a:srgbClr val="587081"/>
                </a:solidFill>
              </a:defRPr>
            </a:lvl9pPr>
          </a:lstStyle>
          <a:p>
            <a:pPr>
              <a:defRPr sz="1350" b="0">
                <a:solidFill>
                  <a:srgbClr val="587081"/>
                </a:solidFill>
              </a:defRPr>
            </a:pPr>
            <a:r>
              <a:rPr sz="1350" b="0">
                <a:solidFill>
                  <a:srgbClr val="587081"/>
                </a:solidFill>
              </a:rPr>
              <a:t>07 / 20</a:t>
            </a:r>
          </a:p>
        </p:txBody>
      </p:sp>
      <p:sp>
        <p:nvSpPr>
          <p:cNvPr id="4" name="Detailed evidence on the website">
            <a:extLst>
              <a:ext uri="{FF2B5EF4-FFF2-40B4-BE49-F238E27FC236}">
                <a16:creationId xmlns:a16="http://schemas.microsoft.com/office/drawing/2014/main" id="{468E5FF5-EE69-49DB-8EFD-F56792967937}"/>
              </a:ext>
            </a:extLst>
          </p:cNvPr>
          <p:cNvSpPr>
            <a:spLocks noGrp="1"/>
          </p:cNvSpPr>
          <p:nvPr/>
        </p:nvSpPr>
        <p:spPr>
          <a:xfrm>
            <a:off x="7000875" y="6448425"/>
            <a:ext cx="3476625" cy="238125"/>
          </a:xfrm>
          <a:prstGeom prst="rect">
            <a:avLst/>
          </a:prstGeom>
          <a:noFill/>
          <a:ln w="0">
            <a:noFill/>
          </a:ln>
        </p:spPr>
        <p:txBody>
          <a:bodyPr lIns="0" tIns="0" rIns="0" bIns="0" anchor="t"/>
          <a:lstStyle>
            <a:defPPr>
              <a:defRPr sz="1350" b="0">
                <a:solidFill>
                  <a:srgbClr val="087F95"/>
                </a:solidFill>
              </a:defRPr>
            </a:defPPr>
            <a:lvl1pPr>
              <a:defRPr sz="1350" b="0">
                <a:solidFill>
                  <a:srgbClr val="087F95"/>
                </a:solidFill>
              </a:defRPr>
            </a:lvl1pPr>
            <a:lvl2pPr>
              <a:defRPr sz="1350" b="0">
                <a:solidFill>
                  <a:srgbClr val="087F95"/>
                </a:solidFill>
              </a:defRPr>
            </a:lvl2pPr>
            <a:lvl3pPr>
              <a:defRPr sz="1350" b="0">
                <a:solidFill>
                  <a:srgbClr val="087F95"/>
                </a:solidFill>
              </a:defRPr>
            </a:lvl3pPr>
            <a:lvl4pPr>
              <a:defRPr sz="1350" b="0">
                <a:solidFill>
                  <a:srgbClr val="087F95"/>
                </a:solidFill>
              </a:defRPr>
            </a:lvl4pPr>
            <a:lvl5pPr>
              <a:defRPr sz="1350" b="0">
                <a:solidFill>
                  <a:srgbClr val="087F95"/>
                </a:solidFill>
              </a:defRPr>
            </a:lvl5pPr>
            <a:lvl6pPr>
              <a:defRPr sz="1350" b="0">
                <a:solidFill>
                  <a:srgbClr val="087F95"/>
                </a:solidFill>
              </a:defRPr>
            </a:lvl6pPr>
            <a:lvl7pPr>
              <a:defRPr sz="1350" b="0">
                <a:solidFill>
                  <a:srgbClr val="087F95"/>
                </a:solidFill>
              </a:defRPr>
            </a:lvl7pPr>
            <a:lvl8pPr>
              <a:defRPr sz="1350" b="0">
                <a:solidFill>
                  <a:srgbClr val="087F95"/>
                </a:solidFill>
              </a:defRPr>
            </a:lvl8pPr>
            <a:lvl9pPr>
              <a:defRPr sz="1350" b="0">
                <a:solidFill>
                  <a:srgbClr val="087F95"/>
                </a:solidFill>
              </a:defRPr>
            </a:lvl9pPr>
          </a:lstStyle>
          <a:p>
            <a:pPr>
              <a:defRPr sz="1350" b="0">
                <a:solidFill>
                  <a:srgbClr val="087F95"/>
                </a:solidFill>
              </a:defRPr>
            </a:pPr>
            <a:r>
              <a:rPr sz="1350" b="0">
                <a:solidFill>
                  <a:srgbClr val="087F95"/>
                </a:solidFill>
                <a:hlinkClick r:id="rId3"/>
              </a:rPr>
              <a:t>Detailed evidence on the website</a:t>
            </a:r>
          </a:p>
        </p:txBody>
      </p:sp>
      <p:sp>
        <p:nvSpPr>
          <p:cNvPr id="5" name="JD-01: Simulation evidence">
            <a:extLst>
              <a:ext uri="{FF2B5EF4-FFF2-40B4-BE49-F238E27FC236}">
                <a16:creationId xmlns:a16="http://schemas.microsoft.com/office/drawing/2014/main" id="{2C39B826-8533-45A7-9A9C-F417BB52AD80}"/>
              </a:ext>
            </a:extLst>
          </p:cNvPr>
          <p:cNvSpPr>
            <a:spLocks noGrp="1"/>
          </p:cNvSpPr>
          <p:nvPr/>
        </p:nvSpPr>
        <p:spPr>
          <a:xfrm>
            <a:off x="533400" y="1371600"/>
            <a:ext cx="10477500" cy="276225"/>
          </a:xfrm>
          <a:prstGeom prst="rect">
            <a:avLst/>
          </a:prstGeom>
          <a:noFill/>
          <a:ln w="0">
            <a:noFill/>
          </a:ln>
        </p:spPr>
        <p:txBody>
          <a:bodyPr lIns="0" tIns="0" rIns="0" bIns="0" anchor="t"/>
          <a:lstStyle>
            <a:defPPr>
              <a:defRPr sz="1650" b="1">
                <a:solidFill>
                  <a:srgbClr val="087F95"/>
                </a:solidFill>
              </a:defRPr>
            </a:defPPr>
            <a:lvl1pPr>
              <a:defRPr sz="1650" b="1">
                <a:solidFill>
                  <a:srgbClr val="087F95"/>
                </a:solidFill>
              </a:defRPr>
            </a:lvl1pPr>
            <a:lvl2pPr>
              <a:defRPr sz="1650" b="1">
                <a:solidFill>
                  <a:srgbClr val="087F95"/>
                </a:solidFill>
              </a:defRPr>
            </a:lvl2pPr>
            <a:lvl3pPr>
              <a:defRPr sz="1650" b="1">
                <a:solidFill>
                  <a:srgbClr val="087F95"/>
                </a:solidFill>
              </a:defRPr>
            </a:lvl3pPr>
            <a:lvl4pPr>
              <a:defRPr sz="1650" b="1">
                <a:solidFill>
                  <a:srgbClr val="087F95"/>
                </a:solidFill>
              </a:defRPr>
            </a:lvl4pPr>
            <a:lvl5pPr>
              <a:defRPr sz="1650" b="1">
                <a:solidFill>
                  <a:srgbClr val="087F95"/>
                </a:solidFill>
              </a:defRPr>
            </a:lvl5pPr>
            <a:lvl6pPr>
              <a:defRPr sz="1650" b="1">
                <a:solidFill>
                  <a:srgbClr val="087F95"/>
                </a:solidFill>
              </a:defRPr>
            </a:lvl6pPr>
            <a:lvl7pPr>
              <a:defRPr sz="1650" b="1">
                <a:solidFill>
                  <a:srgbClr val="087F95"/>
                </a:solidFill>
              </a:defRPr>
            </a:lvl7pPr>
            <a:lvl8pPr>
              <a:defRPr sz="1650" b="1">
                <a:solidFill>
                  <a:srgbClr val="087F95"/>
                </a:solidFill>
              </a:defRPr>
            </a:lvl8pPr>
            <a:lvl9pPr>
              <a:defRPr sz="1650" b="1">
                <a:solidFill>
                  <a:srgbClr val="087F95"/>
                </a:solidFill>
              </a:defRPr>
            </a:lvl9pPr>
          </a:lstStyle>
          <a:p>
            <a:pPr>
              <a:defRPr sz="1650" b="1">
                <a:solidFill>
                  <a:srgbClr val="087F95"/>
                </a:solidFill>
              </a:defRPr>
            </a:pPr>
            <a:r>
              <a:rPr sz="1650" b="1">
                <a:solidFill>
                  <a:srgbClr val="087F95"/>
                </a:solidFill>
              </a:rPr>
              <a:t>JD-01: Simulation evidence</a:t>
            </a:r>
          </a:p>
        </p:txBody>
      </p:sp>
      <p:graphicFrame>
        <p:nvGraphicFramePr>
          <p:cNvPr id="6" name="Chart">
            <a:extLst>
              <a:ext uri="{FF2B5EF4-FFF2-40B4-BE49-F238E27FC236}">
                <a16:creationId xmlns:a16="http://schemas.microsoft.com/office/drawing/2014/main" id="{584CDF1B-7CE3-4BAE-941A-8925EB2B8454}"/>
              </a:ext>
            </a:extLst>
          </p:cNvPr>
          <p:cNvGraphicFramePr/>
          <p:nvPr/>
        </p:nvGraphicFramePr>
        <p:xfrm>
          <a:off x="428625" y="1981200"/>
          <a:ext cx="7953375" cy="3657600"/>
        </p:xfrm>
        <a:graphic>
          <a:graphicData uri="http://schemas.openxmlformats.org/drawingml/2006/chart">
            <c:chart xmlns:c="http://schemas.openxmlformats.org/drawingml/2006/chart" xmlns:r="http://schemas.openxmlformats.org/officeDocument/2006/relationships" r:id="rId4"/>
          </a:graphicData>
        </a:graphic>
      </p:graphicFrame>
      <p:sp>
        <p:nvSpPr>
          <p:cNvPr id="7" name="54.0%">
            <a:extLst>
              <a:ext uri="{FF2B5EF4-FFF2-40B4-BE49-F238E27FC236}">
                <a16:creationId xmlns:a16="http://schemas.microsoft.com/office/drawing/2014/main" id="{FD434B64-B5D3-46A9-BA2A-467E17CFDB0E}"/>
              </a:ext>
            </a:extLst>
          </p:cNvPr>
          <p:cNvSpPr>
            <a:spLocks noGrp="1"/>
          </p:cNvSpPr>
          <p:nvPr/>
        </p:nvSpPr>
        <p:spPr>
          <a:xfrm>
            <a:off x="8953500" y="2257425"/>
            <a:ext cx="2571750" cy="609600"/>
          </a:xfrm>
          <a:prstGeom prst="rect">
            <a:avLst/>
          </a:prstGeom>
          <a:noFill/>
          <a:ln w="0">
            <a:noFill/>
          </a:ln>
        </p:spPr>
        <p:txBody>
          <a:bodyPr lIns="0" tIns="0" rIns="0" bIns="0" anchor="t"/>
          <a:lstStyle>
            <a:defPPr>
              <a:defRPr sz="3900" b="1">
                <a:solidFill>
                  <a:srgbClr val="087F95"/>
                </a:solidFill>
              </a:defRPr>
            </a:defPPr>
            <a:lvl1pPr>
              <a:defRPr sz="3900" b="1">
                <a:solidFill>
                  <a:srgbClr val="087F95"/>
                </a:solidFill>
              </a:defRPr>
            </a:lvl1pPr>
            <a:lvl2pPr>
              <a:defRPr sz="3900" b="1">
                <a:solidFill>
                  <a:srgbClr val="087F95"/>
                </a:solidFill>
              </a:defRPr>
            </a:lvl2pPr>
            <a:lvl3pPr>
              <a:defRPr sz="3900" b="1">
                <a:solidFill>
                  <a:srgbClr val="087F95"/>
                </a:solidFill>
              </a:defRPr>
            </a:lvl3pPr>
            <a:lvl4pPr>
              <a:defRPr sz="3900" b="1">
                <a:solidFill>
                  <a:srgbClr val="087F95"/>
                </a:solidFill>
              </a:defRPr>
            </a:lvl4pPr>
            <a:lvl5pPr>
              <a:defRPr sz="3900" b="1">
                <a:solidFill>
                  <a:srgbClr val="087F95"/>
                </a:solidFill>
              </a:defRPr>
            </a:lvl5pPr>
            <a:lvl6pPr>
              <a:defRPr sz="3900" b="1">
                <a:solidFill>
                  <a:srgbClr val="087F95"/>
                </a:solidFill>
              </a:defRPr>
            </a:lvl6pPr>
            <a:lvl7pPr>
              <a:defRPr sz="3900" b="1">
                <a:solidFill>
                  <a:srgbClr val="087F95"/>
                </a:solidFill>
              </a:defRPr>
            </a:lvl7pPr>
            <a:lvl8pPr>
              <a:defRPr sz="3900" b="1">
                <a:solidFill>
                  <a:srgbClr val="087F95"/>
                </a:solidFill>
              </a:defRPr>
            </a:lvl8pPr>
            <a:lvl9pPr>
              <a:defRPr sz="3900" b="1">
                <a:solidFill>
                  <a:srgbClr val="087F95"/>
                </a:solidFill>
              </a:defRPr>
            </a:lvl9pPr>
          </a:lstStyle>
          <a:p>
            <a:pPr>
              <a:defRPr sz="3900" b="1">
                <a:solidFill>
                  <a:srgbClr val="087F95"/>
                </a:solidFill>
              </a:defRPr>
            </a:pPr>
            <a:r>
              <a:rPr sz="3900" b="1">
                <a:solidFill>
                  <a:srgbClr val="087F95"/>
                </a:solidFill>
              </a:rPr>
              <a:t>54.0%</a:t>
            </a:r>
          </a:p>
        </p:txBody>
      </p:sp>
      <p:sp>
        <p:nvSpPr>
          <p:cNvPr id="8" name="Less heater energy in the matched combined case">
            <a:extLst>
              <a:ext uri="{FF2B5EF4-FFF2-40B4-BE49-F238E27FC236}">
                <a16:creationId xmlns:a16="http://schemas.microsoft.com/office/drawing/2014/main" id="{0451292B-F138-468D-B55D-A573402B0721}"/>
              </a:ext>
            </a:extLst>
          </p:cNvPr>
          <p:cNvSpPr>
            <a:spLocks noGrp="1"/>
          </p:cNvSpPr>
          <p:nvPr/>
        </p:nvSpPr>
        <p:spPr>
          <a:xfrm>
            <a:off x="8953500" y="2895600"/>
            <a:ext cx="2571750" cy="742950"/>
          </a:xfrm>
          <a:prstGeom prst="rect">
            <a:avLst/>
          </a:prstGeom>
          <a:noFill/>
          <a:ln w="0">
            <a:noFill/>
          </a:ln>
        </p:spPr>
        <p:txBody>
          <a:bodyPr lIns="0" tIns="0" rIns="0" bIns="0" anchor="t"/>
          <a:lstStyle>
            <a:defPPr>
              <a:defRPr sz="1725" b="0">
                <a:solidFill>
                  <a:srgbClr val="587081"/>
                </a:solidFill>
              </a:defRPr>
            </a:defPPr>
            <a:lvl1pPr>
              <a:defRPr sz="1725" b="0">
                <a:solidFill>
                  <a:srgbClr val="587081"/>
                </a:solidFill>
              </a:defRPr>
            </a:lvl1pPr>
            <a:lvl2pPr>
              <a:defRPr sz="1725" b="0">
                <a:solidFill>
                  <a:srgbClr val="587081"/>
                </a:solidFill>
              </a:defRPr>
            </a:lvl2pPr>
            <a:lvl3pPr>
              <a:defRPr sz="1725" b="0">
                <a:solidFill>
                  <a:srgbClr val="587081"/>
                </a:solidFill>
              </a:defRPr>
            </a:lvl3pPr>
            <a:lvl4pPr>
              <a:defRPr sz="1725" b="0">
                <a:solidFill>
                  <a:srgbClr val="587081"/>
                </a:solidFill>
              </a:defRPr>
            </a:lvl4pPr>
            <a:lvl5pPr>
              <a:defRPr sz="1725" b="0">
                <a:solidFill>
                  <a:srgbClr val="587081"/>
                </a:solidFill>
              </a:defRPr>
            </a:lvl5pPr>
            <a:lvl6pPr>
              <a:defRPr sz="1725" b="0">
                <a:solidFill>
                  <a:srgbClr val="587081"/>
                </a:solidFill>
              </a:defRPr>
            </a:lvl6pPr>
            <a:lvl7pPr>
              <a:defRPr sz="1725" b="0">
                <a:solidFill>
                  <a:srgbClr val="587081"/>
                </a:solidFill>
              </a:defRPr>
            </a:lvl7pPr>
            <a:lvl8pPr>
              <a:defRPr sz="1725" b="0">
                <a:solidFill>
                  <a:srgbClr val="587081"/>
                </a:solidFill>
              </a:defRPr>
            </a:lvl8pPr>
            <a:lvl9pPr>
              <a:defRPr sz="1725" b="0">
                <a:solidFill>
                  <a:srgbClr val="587081"/>
                </a:solidFill>
              </a:defRPr>
            </a:lvl9pPr>
          </a:lstStyle>
          <a:p>
            <a:pPr>
              <a:defRPr sz="1725" b="0">
                <a:solidFill>
                  <a:srgbClr val="587081"/>
                </a:solidFill>
              </a:defRPr>
            </a:pPr>
            <a:r>
              <a:rPr sz="1725" b="0">
                <a:solidFill>
                  <a:srgbClr val="587081"/>
                </a:solidFill>
              </a:rPr>
              <a:t>Less heater energy in the matched combined case</a:t>
            </a:r>
          </a:p>
        </p:txBody>
      </p:sp>
      <p:sp>
        <p:nvSpPr>
          <p:cNvPr id="9" name="Reducing night heat loss outperformed heater capacity alone in th">
            <a:extLst>
              <a:ext uri="{FF2B5EF4-FFF2-40B4-BE49-F238E27FC236}">
                <a16:creationId xmlns:a16="http://schemas.microsoft.com/office/drawing/2014/main" id="{4CF527A4-1DD8-4265-A275-60FE65537881}"/>
              </a:ext>
            </a:extLst>
          </p:cNvPr>
          <p:cNvSpPr>
            <a:spLocks noGrp="1"/>
          </p:cNvSpPr>
          <p:nvPr/>
        </p:nvSpPr>
        <p:spPr>
          <a:xfrm>
            <a:off x="533400" y="5857875"/>
            <a:ext cx="10858500" cy="428625"/>
          </a:xfrm>
          <a:prstGeom prst="rect">
            <a:avLst/>
          </a:prstGeom>
          <a:noFill/>
          <a:ln w="0">
            <a:noFill/>
          </a:ln>
        </p:spPr>
        <p:txBody>
          <a:bodyPr lIns="0" tIns="0" rIns="0" bIns="0" anchor="t"/>
          <a:lstStyle>
            <a:defPPr>
              <a:defRPr sz="1950" b="0">
                <a:solidFill>
                  <a:srgbClr val="142B3D"/>
                </a:solidFill>
              </a:defRPr>
            </a:defPPr>
            <a:lvl1pPr>
              <a:defRPr sz="1950" b="0">
                <a:solidFill>
                  <a:srgbClr val="142B3D"/>
                </a:solidFill>
              </a:defRPr>
            </a:lvl1pPr>
            <a:lvl2pPr>
              <a:defRPr sz="1950" b="0">
                <a:solidFill>
                  <a:srgbClr val="142B3D"/>
                </a:solidFill>
              </a:defRPr>
            </a:lvl2pPr>
            <a:lvl3pPr>
              <a:defRPr sz="1950" b="0">
                <a:solidFill>
                  <a:srgbClr val="142B3D"/>
                </a:solidFill>
              </a:defRPr>
            </a:lvl3pPr>
            <a:lvl4pPr>
              <a:defRPr sz="1950" b="0">
                <a:solidFill>
                  <a:srgbClr val="142B3D"/>
                </a:solidFill>
              </a:defRPr>
            </a:lvl4pPr>
            <a:lvl5pPr>
              <a:defRPr sz="1950" b="0">
                <a:solidFill>
                  <a:srgbClr val="142B3D"/>
                </a:solidFill>
              </a:defRPr>
            </a:lvl5pPr>
            <a:lvl6pPr>
              <a:defRPr sz="1950" b="0">
                <a:solidFill>
                  <a:srgbClr val="142B3D"/>
                </a:solidFill>
              </a:defRPr>
            </a:lvl6pPr>
            <a:lvl7pPr>
              <a:defRPr sz="1950" b="0">
                <a:solidFill>
                  <a:srgbClr val="142B3D"/>
                </a:solidFill>
              </a:defRPr>
            </a:lvl7pPr>
            <a:lvl8pPr>
              <a:defRPr sz="1950" b="0">
                <a:solidFill>
                  <a:srgbClr val="142B3D"/>
                </a:solidFill>
              </a:defRPr>
            </a:lvl8pPr>
            <a:lvl9pPr>
              <a:defRPr sz="1950" b="0">
                <a:solidFill>
                  <a:srgbClr val="142B3D"/>
                </a:solidFill>
              </a:defRPr>
            </a:lvl9pPr>
          </a:lstStyle>
          <a:p>
            <a:pPr>
              <a:defRPr sz="1950" b="0">
                <a:solidFill>
                  <a:srgbClr val="142B3D"/>
                </a:solidFill>
              </a:defRPr>
            </a:pPr>
            <a:r>
              <a:rPr sz="1950" b="0">
                <a:solidFill>
                  <a:srgbClr val="142B3D"/>
                </a:solidFill>
              </a:rPr>
              <a:t>Reducing night heat loss outperformed heater capacity alone in this comparison.</a:t>
            </a:r>
          </a:p>
        </p:txBody>
      </p:sp>
    </p:spTree>
    <p:extLst>
      <p:ext uri="{BB962C8B-B14F-4D97-AF65-F5344CB8AC3E}">
        <p14:creationId xmlns:p14="http://schemas.microsoft.com/office/powerpoint/2010/main" val="2509901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Steady-state and transient thermal analysis">
            <a:extLst>
              <a:ext uri="{FF2B5EF4-FFF2-40B4-BE49-F238E27FC236}">
                <a16:creationId xmlns:a16="http://schemas.microsoft.com/office/drawing/2014/main" id="{20ECD90C-473F-4C52-A70E-D5ABF98E9B8D}"/>
              </a:ext>
            </a:extLst>
          </p:cNvPr>
          <p:cNvSpPr>
            <a:spLocks noGrp="1"/>
          </p:cNvSpPr>
          <p:nvPr/>
        </p:nvSpPr>
        <p:spPr>
          <a:xfrm>
            <a:off x="533400" y="361950"/>
            <a:ext cx="11125200" cy="1028700"/>
          </a:xfrm>
          <a:prstGeom prst="rect">
            <a:avLst/>
          </a:prstGeom>
          <a:noFill/>
          <a:ln w="0">
            <a:noFill/>
          </a:ln>
        </p:spPr>
        <p:txBody>
          <a:bodyPr lIns="0" tIns="0" rIns="0" bIns="0" anchor="t"/>
          <a:lstStyle>
            <a:defPPr>
              <a:defRPr sz="3150" b="1">
                <a:solidFill>
                  <a:srgbClr val="142B3D"/>
                </a:solidFill>
              </a:defRPr>
            </a:defPPr>
            <a:lvl1pPr>
              <a:defRPr sz="3150" b="1">
                <a:solidFill>
                  <a:srgbClr val="142B3D"/>
                </a:solidFill>
              </a:defRPr>
            </a:lvl1pPr>
            <a:lvl2pPr>
              <a:defRPr sz="3150" b="1">
                <a:solidFill>
                  <a:srgbClr val="142B3D"/>
                </a:solidFill>
              </a:defRPr>
            </a:lvl2pPr>
            <a:lvl3pPr>
              <a:defRPr sz="3150" b="1">
                <a:solidFill>
                  <a:srgbClr val="142B3D"/>
                </a:solidFill>
              </a:defRPr>
            </a:lvl3pPr>
            <a:lvl4pPr>
              <a:defRPr sz="3150" b="1">
                <a:solidFill>
                  <a:srgbClr val="142B3D"/>
                </a:solidFill>
              </a:defRPr>
            </a:lvl4pPr>
            <a:lvl5pPr>
              <a:defRPr sz="3150" b="1">
                <a:solidFill>
                  <a:srgbClr val="142B3D"/>
                </a:solidFill>
              </a:defRPr>
            </a:lvl5pPr>
            <a:lvl6pPr>
              <a:defRPr sz="3150" b="1">
                <a:solidFill>
                  <a:srgbClr val="142B3D"/>
                </a:solidFill>
              </a:defRPr>
            </a:lvl6pPr>
            <a:lvl7pPr>
              <a:defRPr sz="3150" b="1">
                <a:solidFill>
                  <a:srgbClr val="142B3D"/>
                </a:solidFill>
              </a:defRPr>
            </a:lvl7pPr>
            <a:lvl8pPr>
              <a:defRPr sz="3150" b="1">
                <a:solidFill>
                  <a:srgbClr val="142B3D"/>
                </a:solidFill>
              </a:defRPr>
            </a:lvl8pPr>
            <a:lvl9pPr>
              <a:defRPr sz="3150" b="1">
                <a:solidFill>
                  <a:srgbClr val="142B3D"/>
                </a:solidFill>
              </a:defRPr>
            </a:lvl9pPr>
          </a:lstStyle>
          <a:p>
            <a:pPr>
              <a:defRPr sz="3150" b="1">
                <a:solidFill>
                  <a:srgbClr val="142B3D"/>
                </a:solidFill>
              </a:defRPr>
            </a:pPr>
            <a:r>
              <a:rPr sz="3150" b="1">
                <a:solidFill>
                  <a:srgbClr val="142B3D"/>
                </a:solidFill>
              </a:rPr>
              <a:t>Steady-state and transient thermal analysis</a:t>
            </a:r>
          </a:p>
        </p:txBody>
      </p:sp>
      <p:sp>
        <p:nvSpPr>
          <p:cNvPr id="2" name="Khani Solutions">
            <a:extLst>
              <a:ext uri="{FF2B5EF4-FFF2-40B4-BE49-F238E27FC236}">
                <a16:creationId xmlns:a16="http://schemas.microsoft.com/office/drawing/2014/main" id="{420C88AE-250F-4B1F-8397-774BC5CCCEAF}"/>
              </a:ext>
            </a:extLst>
          </p:cNvPr>
          <p:cNvSpPr>
            <a:spLocks noGrp="1"/>
          </p:cNvSpPr>
          <p:nvPr/>
        </p:nvSpPr>
        <p:spPr>
          <a:xfrm>
            <a:off x="533400" y="6448425"/>
            <a:ext cx="2190750" cy="238125"/>
          </a:xfrm>
          <a:prstGeom prst="rect">
            <a:avLst/>
          </a:prstGeom>
          <a:noFill/>
          <a:ln w="0">
            <a:noFill/>
          </a:ln>
        </p:spPr>
        <p:txBody>
          <a:bodyPr lIns="0" tIns="0" rIns="0" bIns="0" anchor="t"/>
          <a:lstStyle>
            <a:defPPr>
              <a:defRPr sz="1350" b="0">
                <a:solidFill>
                  <a:srgbClr val="587081"/>
                </a:solidFill>
              </a:defRPr>
            </a:defPPr>
            <a:lvl1pPr>
              <a:defRPr sz="1350" b="0">
                <a:solidFill>
                  <a:srgbClr val="587081"/>
                </a:solidFill>
              </a:defRPr>
            </a:lvl1pPr>
            <a:lvl2pPr>
              <a:defRPr sz="1350" b="0">
                <a:solidFill>
                  <a:srgbClr val="587081"/>
                </a:solidFill>
              </a:defRPr>
            </a:lvl2pPr>
            <a:lvl3pPr>
              <a:defRPr sz="1350" b="0">
                <a:solidFill>
                  <a:srgbClr val="587081"/>
                </a:solidFill>
              </a:defRPr>
            </a:lvl3pPr>
            <a:lvl4pPr>
              <a:defRPr sz="1350" b="0">
                <a:solidFill>
                  <a:srgbClr val="587081"/>
                </a:solidFill>
              </a:defRPr>
            </a:lvl4pPr>
            <a:lvl5pPr>
              <a:defRPr sz="1350" b="0">
                <a:solidFill>
                  <a:srgbClr val="587081"/>
                </a:solidFill>
              </a:defRPr>
            </a:lvl5pPr>
            <a:lvl6pPr>
              <a:defRPr sz="1350" b="0">
                <a:solidFill>
                  <a:srgbClr val="587081"/>
                </a:solidFill>
              </a:defRPr>
            </a:lvl6pPr>
            <a:lvl7pPr>
              <a:defRPr sz="1350" b="0">
                <a:solidFill>
                  <a:srgbClr val="587081"/>
                </a:solidFill>
              </a:defRPr>
            </a:lvl7pPr>
            <a:lvl8pPr>
              <a:defRPr sz="1350" b="0">
                <a:solidFill>
                  <a:srgbClr val="587081"/>
                </a:solidFill>
              </a:defRPr>
            </a:lvl8pPr>
            <a:lvl9pPr>
              <a:defRPr sz="1350" b="0">
                <a:solidFill>
                  <a:srgbClr val="587081"/>
                </a:solidFill>
              </a:defRPr>
            </a:lvl9pPr>
          </a:lstStyle>
          <a:p>
            <a:pPr>
              <a:defRPr sz="1350" b="0">
                <a:solidFill>
                  <a:srgbClr val="587081"/>
                </a:solidFill>
              </a:defRPr>
            </a:pPr>
            <a:r>
              <a:rPr sz="1350" b="0">
                <a:solidFill>
                  <a:srgbClr val="587081"/>
                </a:solidFill>
              </a:rPr>
              <a:t>Khani Solutions</a:t>
            </a:r>
          </a:p>
        </p:txBody>
      </p:sp>
      <p:sp>
        <p:nvSpPr>
          <p:cNvPr id="3" name="08 / 20">
            <a:extLst>
              <a:ext uri="{FF2B5EF4-FFF2-40B4-BE49-F238E27FC236}">
                <a16:creationId xmlns:a16="http://schemas.microsoft.com/office/drawing/2014/main" id="{3F22D583-0325-4E95-AB2A-615522AE8AB5}"/>
              </a:ext>
            </a:extLst>
          </p:cNvPr>
          <p:cNvSpPr>
            <a:spLocks noGrp="1"/>
          </p:cNvSpPr>
          <p:nvPr/>
        </p:nvSpPr>
        <p:spPr>
          <a:xfrm>
            <a:off x="10896600" y="6448425"/>
            <a:ext cx="857250" cy="238125"/>
          </a:xfrm>
          <a:prstGeom prst="rect">
            <a:avLst/>
          </a:prstGeom>
          <a:noFill/>
          <a:ln w="0">
            <a:noFill/>
          </a:ln>
        </p:spPr>
        <p:txBody>
          <a:bodyPr lIns="0" tIns="0" rIns="0" bIns="0" anchor="t"/>
          <a:lstStyle>
            <a:defPPr>
              <a:defRPr sz="1350" b="0">
                <a:solidFill>
                  <a:srgbClr val="587081"/>
                </a:solidFill>
              </a:defRPr>
            </a:defPPr>
            <a:lvl1pPr>
              <a:defRPr sz="1350" b="0">
                <a:solidFill>
                  <a:srgbClr val="587081"/>
                </a:solidFill>
              </a:defRPr>
            </a:lvl1pPr>
            <a:lvl2pPr>
              <a:defRPr sz="1350" b="0">
                <a:solidFill>
                  <a:srgbClr val="587081"/>
                </a:solidFill>
              </a:defRPr>
            </a:lvl2pPr>
            <a:lvl3pPr>
              <a:defRPr sz="1350" b="0">
                <a:solidFill>
                  <a:srgbClr val="587081"/>
                </a:solidFill>
              </a:defRPr>
            </a:lvl3pPr>
            <a:lvl4pPr>
              <a:defRPr sz="1350" b="0">
                <a:solidFill>
                  <a:srgbClr val="587081"/>
                </a:solidFill>
              </a:defRPr>
            </a:lvl4pPr>
            <a:lvl5pPr>
              <a:defRPr sz="1350" b="0">
                <a:solidFill>
                  <a:srgbClr val="587081"/>
                </a:solidFill>
              </a:defRPr>
            </a:lvl5pPr>
            <a:lvl6pPr>
              <a:defRPr sz="1350" b="0">
                <a:solidFill>
                  <a:srgbClr val="587081"/>
                </a:solidFill>
              </a:defRPr>
            </a:lvl6pPr>
            <a:lvl7pPr>
              <a:defRPr sz="1350" b="0">
                <a:solidFill>
                  <a:srgbClr val="587081"/>
                </a:solidFill>
              </a:defRPr>
            </a:lvl7pPr>
            <a:lvl8pPr>
              <a:defRPr sz="1350" b="0">
                <a:solidFill>
                  <a:srgbClr val="587081"/>
                </a:solidFill>
              </a:defRPr>
            </a:lvl8pPr>
            <a:lvl9pPr>
              <a:defRPr sz="1350" b="0">
                <a:solidFill>
                  <a:srgbClr val="587081"/>
                </a:solidFill>
              </a:defRPr>
            </a:lvl9pPr>
          </a:lstStyle>
          <a:p>
            <a:pPr>
              <a:defRPr sz="1350" b="0">
                <a:solidFill>
                  <a:srgbClr val="587081"/>
                </a:solidFill>
              </a:defRPr>
            </a:pPr>
            <a:r>
              <a:rPr sz="1350" b="0">
                <a:solidFill>
                  <a:srgbClr val="587081"/>
                </a:solidFill>
              </a:rPr>
              <a:t>08 / 20</a:t>
            </a:r>
          </a:p>
        </p:txBody>
      </p:sp>
      <p:sp>
        <p:nvSpPr>
          <p:cNvPr id="4" name="Detailed evidence on the website">
            <a:extLst>
              <a:ext uri="{FF2B5EF4-FFF2-40B4-BE49-F238E27FC236}">
                <a16:creationId xmlns:a16="http://schemas.microsoft.com/office/drawing/2014/main" id="{50662EF9-8BA6-4962-875B-360CBF339ED3}"/>
              </a:ext>
            </a:extLst>
          </p:cNvPr>
          <p:cNvSpPr>
            <a:spLocks noGrp="1"/>
          </p:cNvSpPr>
          <p:nvPr/>
        </p:nvSpPr>
        <p:spPr>
          <a:xfrm>
            <a:off x="7000875" y="6448425"/>
            <a:ext cx="3476625" cy="238125"/>
          </a:xfrm>
          <a:prstGeom prst="rect">
            <a:avLst/>
          </a:prstGeom>
          <a:noFill/>
          <a:ln w="0">
            <a:noFill/>
          </a:ln>
        </p:spPr>
        <p:txBody>
          <a:bodyPr lIns="0" tIns="0" rIns="0" bIns="0" anchor="t"/>
          <a:lstStyle>
            <a:defPPr>
              <a:defRPr sz="1350" b="0">
                <a:solidFill>
                  <a:srgbClr val="087F95"/>
                </a:solidFill>
              </a:defRPr>
            </a:defPPr>
            <a:lvl1pPr>
              <a:defRPr sz="1350" b="0">
                <a:solidFill>
                  <a:srgbClr val="087F95"/>
                </a:solidFill>
              </a:defRPr>
            </a:lvl1pPr>
            <a:lvl2pPr>
              <a:defRPr sz="1350" b="0">
                <a:solidFill>
                  <a:srgbClr val="087F95"/>
                </a:solidFill>
              </a:defRPr>
            </a:lvl2pPr>
            <a:lvl3pPr>
              <a:defRPr sz="1350" b="0">
                <a:solidFill>
                  <a:srgbClr val="087F95"/>
                </a:solidFill>
              </a:defRPr>
            </a:lvl3pPr>
            <a:lvl4pPr>
              <a:defRPr sz="1350" b="0">
                <a:solidFill>
                  <a:srgbClr val="087F95"/>
                </a:solidFill>
              </a:defRPr>
            </a:lvl4pPr>
            <a:lvl5pPr>
              <a:defRPr sz="1350" b="0">
                <a:solidFill>
                  <a:srgbClr val="087F95"/>
                </a:solidFill>
              </a:defRPr>
            </a:lvl5pPr>
            <a:lvl6pPr>
              <a:defRPr sz="1350" b="0">
                <a:solidFill>
                  <a:srgbClr val="087F95"/>
                </a:solidFill>
              </a:defRPr>
            </a:lvl6pPr>
            <a:lvl7pPr>
              <a:defRPr sz="1350" b="0">
                <a:solidFill>
                  <a:srgbClr val="087F95"/>
                </a:solidFill>
              </a:defRPr>
            </a:lvl7pPr>
            <a:lvl8pPr>
              <a:defRPr sz="1350" b="0">
                <a:solidFill>
                  <a:srgbClr val="087F95"/>
                </a:solidFill>
              </a:defRPr>
            </a:lvl8pPr>
            <a:lvl9pPr>
              <a:defRPr sz="1350" b="0">
                <a:solidFill>
                  <a:srgbClr val="087F95"/>
                </a:solidFill>
              </a:defRPr>
            </a:lvl9pPr>
          </a:lstStyle>
          <a:p>
            <a:pPr>
              <a:defRPr sz="1350" b="0">
                <a:solidFill>
                  <a:srgbClr val="087F95"/>
                </a:solidFill>
              </a:defRPr>
            </a:pPr>
            <a:r>
              <a:rPr sz="1350" b="0">
                <a:solidFill>
                  <a:srgbClr val="087F95"/>
                </a:solidFill>
                <a:hlinkClick r:id="rId3"/>
              </a:rPr>
              <a:t>Detailed evidence on the website</a:t>
            </a:r>
          </a:p>
        </p:txBody>
      </p:sp>
      <p:sp>
        <p:nvSpPr>
          <p:cNvPr id="5" name="JD-02: Simulation evidence">
            <a:extLst>
              <a:ext uri="{FF2B5EF4-FFF2-40B4-BE49-F238E27FC236}">
                <a16:creationId xmlns:a16="http://schemas.microsoft.com/office/drawing/2014/main" id="{C027554E-0176-409A-AD2C-96EF286D6E54}"/>
              </a:ext>
            </a:extLst>
          </p:cNvPr>
          <p:cNvSpPr>
            <a:spLocks noGrp="1"/>
          </p:cNvSpPr>
          <p:nvPr/>
        </p:nvSpPr>
        <p:spPr>
          <a:xfrm>
            <a:off x="533400" y="1371600"/>
            <a:ext cx="10477500" cy="276225"/>
          </a:xfrm>
          <a:prstGeom prst="rect">
            <a:avLst/>
          </a:prstGeom>
          <a:noFill/>
          <a:ln w="0">
            <a:noFill/>
          </a:ln>
        </p:spPr>
        <p:txBody>
          <a:bodyPr lIns="0" tIns="0" rIns="0" bIns="0" anchor="t"/>
          <a:lstStyle>
            <a:defPPr>
              <a:defRPr sz="1650" b="1">
                <a:solidFill>
                  <a:srgbClr val="087F95"/>
                </a:solidFill>
              </a:defRPr>
            </a:defPPr>
            <a:lvl1pPr>
              <a:defRPr sz="1650" b="1">
                <a:solidFill>
                  <a:srgbClr val="087F95"/>
                </a:solidFill>
              </a:defRPr>
            </a:lvl1pPr>
            <a:lvl2pPr>
              <a:defRPr sz="1650" b="1">
                <a:solidFill>
                  <a:srgbClr val="087F95"/>
                </a:solidFill>
              </a:defRPr>
            </a:lvl2pPr>
            <a:lvl3pPr>
              <a:defRPr sz="1650" b="1">
                <a:solidFill>
                  <a:srgbClr val="087F95"/>
                </a:solidFill>
              </a:defRPr>
            </a:lvl3pPr>
            <a:lvl4pPr>
              <a:defRPr sz="1650" b="1">
                <a:solidFill>
                  <a:srgbClr val="087F95"/>
                </a:solidFill>
              </a:defRPr>
            </a:lvl4pPr>
            <a:lvl5pPr>
              <a:defRPr sz="1650" b="1">
                <a:solidFill>
                  <a:srgbClr val="087F95"/>
                </a:solidFill>
              </a:defRPr>
            </a:lvl5pPr>
            <a:lvl6pPr>
              <a:defRPr sz="1650" b="1">
                <a:solidFill>
                  <a:srgbClr val="087F95"/>
                </a:solidFill>
              </a:defRPr>
            </a:lvl6pPr>
            <a:lvl7pPr>
              <a:defRPr sz="1650" b="1">
                <a:solidFill>
                  <a:srgbClr val="087F95"/>
                </a:solidFill>
              </a:defRPr>
            </a:lvl7pPr>
            <a:lvl8pPr>
              <a:defRPr sz="1650" b="1">
                <a:solidFill>
                  <a:srgbClr val="087F95"/>
                </a:solidFill>
              </a:defRPr>
            </a:lvl8pPr>
            <a:lvl9pPr>
              <a:defRPr sz="1650" b="1">
                <a:solidFill>
                  <a:srgbClr val="087F95"/>
                </a:solidFill>
              </a:defRPr>
            </a:lvl9pPr>
          </a:lstStyle>
          <a:p>
            <a:pPr>
              <a:defRPr sz="1650" b="1">
                <a:solidFill>
                  <a:srgbClr val="087F95"/>
                </a:solidFill>
              </a:defRPr>
            </a:pPr>
            <a:r>
              <a:rPr sz="1650" b="1">
                <a:solidFill>
                  <a:srgbClr val="087F95"/>
                </a:solidFill>
              </a:rPr>
              <a:t>JD-02: Simulation evidence</a:t>
            </a:r>
          </a:p>
        </p:txBody>
      </p:sp>
      <p:graphicFrame>
        <p:nvGraphicFramePr>
          <p:cNvPr id="6" name="Chart">
            <a:extLst>
              <a:ext uri="{FF2B5EF4-FFF2-40B4-BE49-F238E27FC236}">
                <a16:creationId xmlns:a16="http://schemas.microsoft.com/office/drawing/2014/main" id="{C38D9000-D6DD-43FA-9CC2-6CAEC5A19E3D}"/>
              </a:ext>
            </a:extLst>
          </p:cNvPr>
          <p:cNvGraphicFramePr/>
          <p:nvPr/>
        </p:nvGraphicFramePr>
        <p:xfrm>
          <a:off x="381000" y="1962150"/>
          <a:ext cx="7791450" cy="3800475"/>
        </p:xfrm>
        <a:graphic>
          <a:graphicData uri="http://schemas.openxmlformats.org/drawingml/2006/chart">
            <c:chart xmlns:c="http://schemas.openxmlformats.org/drawingml/2006/chart" xmlns:r="http://schemas.openxmlformats.org/officeDocument/2006/relationships" r:id="rId4"/>
          </a:graphicData>
        </a:graphic>
      </p:graphicFrame>
      <p:sp>
        <p:nvSpPr>
          <p:cNvPr id="7" name="153.7 min">
            <a:extLst>
              <a:ext uri="{FF2B5EF4-FFF2-40B4-BE49-F238E27FC236}">
                <a16:creationId xmlns:a16="http://schemas.microsoft.com/office/drawing/2014/main" id="{B33C140D-C0B3-4898-93A6-B2C08A620A94}"/>
              </a:ext>
            </a:extLst>
          </p:cNvPr>
          <p:cNvSpPr>
            <a:spLocks noGrp="1"/>
          </p:cNvSpPr>
          <p:nvPr/>
        </p:nvSpPr>
        <p:spPr>
          <a:xfrm>
            <a:off x="8791575" y="2105025"/>
            <a:ext cx="2857500" cy="609600"/>
          </a:xfrm>
          <a:prstGeom prst="rect">
            <a:avLst/>
          </a:prstGeom>
          <a:noFill/>
          <a:ln w="0">
            <a:noFill/>
          </a:ln>
        </p:spPr>
        <p:txBody>
          <a:bodyPr lIns="0" tIns="0" rIns="0" bIns="0" anchor="t"/>
          <a:lstStyle>
            <a:defPPr>
              <a:defRPr sz="3900" b="1">
                <a:solidFill>
                  <a:srgbClr val="087F95"/>
                </a:solidFill>
              </a:defRPr>
            </a:defPPr>
            <a:lvl1pPr>
              <a:defRPr sz="3900" b="1">
                <a:solidFill>
                  <a:srgbClr val="087F95"/>
                </a:solidFill>
              </a:defRPr>
            </a:lvl1pPr>
            <a:lvl2pPr>
              <a:defRPr sz="3900" b="1">
                <a:solidFill>
                  <a:srgbClr val="087F95"/>
                </a:solidFill>
              </a:defRPr>
            </a:lvl2pPr>
            <a:lvl3pPr>
              <a:defRPr sz="3900" b="1">
                <a:solidFill>
                  <a:srgbClr val="087F95"/>
                </a:solidFill>
              </a:defRPr>
            </a:lvl3pPr>
            <a:lvl4pPr>
              <a:defRPr sz="3900" b="1">
                <a:solidFill>
                  <a:srgbClr val="087F95"/>
                </a:solidFill>
              </a:defRPr>
            </a:lvl4pPr>
            <a:lvl5pPr>
              <a:defRPr sz="3900" b="1">
                <a:solidFill>
                  <a:srgbClr val="087F95"/>
                </a:solidFill>
              </a:defRPr>
            </a:lvl5pPr>
            <a:lvl6pPr>
              <a:defRPr sz="3900" b="1">
                <a:solidFill>
                  <a:srgbClr val="087F95"/>
                </a:solidFill>
              </a:defRPr>
            </a:lvl6pPr>
            <a:lvl7pPr>
              <a:defRPr sz="3900" b="1">
                <a:solidFill>
                  <a:srgbClr val="087F95"/>
                </a:solidFill>
              </a:defRPr>
            </a:lvl7pPr>
            <a:lvl8pPr>
              <a:defRPr sz="3900" b="1">
                <a:solidFill>
                  <a:srgbClr val="087F95"/>
                </a:solidFill>
              </a:defRPr>
            </a:lvl8pPr>
            <a:lvl9pPr>
              <a:defRPr sz="3900" b="1">
                <a:solidFill>
                  <a:srgbClr val="087F95"/>
                </a:solidFill>
              </a:defRPr>
            </a:lvl9pPr>
          </a:lstStyle>
          <a:p>
            <a:pPr>
              <a:defRPr sz="3900" b="1">
                <a:solidFill>
                  <a:srgbClr val="087F95"/>
                </a:solidFill>
              </a:defRPr>
            </a:pPr>
            <a:r>
              <a:rPr sz="3900" b="1">
                <a:solidFill>
                  <a:srgbClr val="087F95"/>
                </a:solidFill>
              </a:rPr>
              <a:t>153.7 min</a:t>
            </a:r>
          </a:p>
        </p:txBody>
      </p:sp>
      <p:sp>
        <p:nvSpPr>
          <p:cNvPr id="8" name="Cold-start band acquisition at 300 W">
            <a:extLst>
              <a:ext uri="{FF2B5EF4-FFF2-40B4-BE49-F238E27FC236}">
                <a16:creationId xmlns:a16="http://schemas.microsoft.com/office/drawing/2014/main" id="{1D548A7E-488C-48B0-AAAE-0E992F6A303D}"/>
              </a:ext>
            </a:extLst>
          </p:cNvPr>
          <p:cNvSpPr>
            <a:spLocks noGrp="1"/>
          </p:cNvSpPr>
          <p:nvPr/>
        </p:nvSpPr>
        <p:spPr>
          <a:xfrm>
            <a:off x="8791575" y="2743200"/>
            <a:ext cx="2857500" cy="742950"/>
          </a:xfrm>
          <a:prstGeom prst="rect">
            <a:avLst/>
          </a:prstGeom>
          <a:noFill/>
          <a:ln w="0">
            <a:noFill/>
          </a:ln>
        </p:spPr>
        <p:txBody>
          <a:bodyPr lIns="0" tIns="0" rIns="0" bIns="0" anchor="t"/>
          <a:lstStyle>
            <a:defPPr>
              <a:defRPr sz="1725" b="0">
                <a:solidFill>
                  <a:srgbClr val="587081"/>
                </a:solidFill>
              </a:defRPr>
            </a:defPPr>
            <a:lvl1pPr>
              <a:defRPr sz="1725" b="0">
                <a:solidFill>
                  <a:srgbClr val="587081"/>
                </a:solidFill>
              </a:defRPr>
            </a:lvl1pPr>
            <a:lvl2pPr>
              <a:defRPr sz="1725" b="0">
                <a:solidFill>
                  <a:srgbClr val="587081"/>
                </a:solidFill>
              </a:defRPr>
            </a:lvl2pPr>
            <a:lvl3pPr>
              <a:defRPr sz="1725" b="0">
                <a:solidFill>
                  <a:srgbClr val="587081"/>
                </a:solidFill>
              </a:defRPr>
            </a:lvl3pPr>
            <a:lvl4pPr>
              <a:defRPr sz="1725" b="0">
                <a:solidFill>
                  <a:srgbClr val="587081"/>
                </a:solidFill>
              </a:defRPr>
            </a:lvl4pPr>
            <a:lvl5pPr>
              <a:defRPr sz="1725" b="0">
                <a:solidFill>
                  <a:srgbClr val="587081"/>
                </a:solidFill>
              </a:defRPr>
            </a:lvl5pPr>
            <a:lvl6pPr>
              <a:defRPr sz="1725" b="0">
                <a:solidFill>
                  <a:srgbClr val="587081"/>
                </a:solidFill>
              </a:defRPr>
            </a:lvl6pPr>
            <a:lvl7pPr>
              <a:defRPr sz="1725" b="0">
                <a:solidFill>
                  <a:srgbClr val="587081"/>
                </a:solidFill>
              </a:defRPr>
            </a:lvl7pPr>
            <a:lvl8pPr>
              <a:defRPr sz="1725" b="0">
                <a:solidFill>
                  <a:srgbClr val="587081"/>
                </a:solidFill>
              </a:defRPr>
            </a:lvl8pPr>
            <a:lvl9pPr>
              <a:defRPr sz="1725" b="0">
                <a:solidFill>
                  <a:srgbClr val="587081"/>
                </a:solidFill>
              </a:defRPr>
            </a:lvl9pPr>
          </a:lstStyle>
          <a:p>
            <a:pPr>
              <a:defRPr sz="1725" b="0">
                <a:solidFill>
                  <a:srgbClr val="587081"/>
                </a:solidFill>
              </a:defRPr>
            </a:pPr>
            <a:r>
              <a:rPr sz="1725" b="0">
                <a:solidFill>
                  <a:srgbClr val="587081"/>
                </a:solidFill>
              </a:rPr>
              <a:t>Cold-start band acquisition at 300 W</a:t>
            </a:r>
          </a:p>
        </p:txBody>
      </p:sp>
      <p:sp>
        <p:nvSpPr>
          <p:cNvPr id="9" name="180.4 min">
            <a:extLst>
              <a:ext uri="{FF2B5EF4-FFF2-40B4-BE49-F238E27FC236}">
                <a16:creationId xmlns:a16="http://schemas.microsoft.com/office/drawing/2014/main" id="{83C6364C-A3D5-417A-B762-AA1DBB771286}"/>
              </a:ext>
            </a:extLst>
          </p:cNvPr>
          <p:cNvSpPr>
            <a:spLocks noGrp="1"/>
          </p:cNvSpPr>
          <p:nvPr/>
        </p:nvSpPr>
        <p:spPr>
          <a:xfrm>
            <a:off x="8791575" y="4000500"/>
            <a:ext cx="2857500" cy="609600"/>
          </a:xfrm>
          <a:prstGeom prst="rect">
            <a:avLst/>
          </a:prstGeom>
          <a:noFill/>
          <a:ln w="0">
            <a:noFill/>
          </a:ln>
        </p:spPr>
        <p:txBody>
          <a:bodyPr lIns="0" tIns="0" rIns="0" bIns="0" anchor="t"/>
          <a:lstStyle>
            <a:defPPr>
              <a:defRPr sz="3900" b="1">
                <a:solidFill>
                  <a:srgbClr val="087F95"/>
                </a:solidFill>
              </a:defRPr>
            </a:defPPr>
            <a:lvl1pPr>
              <a:defRPr sz="3900" b="1">
                <a:solidFill>
                  <a:srgbClr val="087F95"/>
                </a:solidFill>
              </a:defRPr>
            </a:lvl1pPr>
            <a:lvl2pPr>
              <a:defRPr sz="3900" b="1">
                <a:solidFill>
                  <a:srgbClr val="087F95"/>
                </a:solidFill>
              </a:defRPr>
            </a:lvl2pPr>
            <a:lvl3pPr>
              <a:defRPr sz="3900" b="1">
                <a:solidFill>
                  <a:srgbClr val="087F95"/>
                </a:solidFill>
              </a:defRPr>
            </a:lvl3pPr>
            <a:lvl4pPr>
              <a:defRPr sz="3900" b="1">
                <a:solidFill>
                  <a:srgbClr val="087F95"/>
                </a:solidFill>
              </a:defRPr>
            </a:lvl4pPr>
            <a:lvl5pPr>
              <a:defRPr sz="3900" b="1">
                <a:solidFill>
                  <a:srgbClr val="087F95"/>
                </a:solidFill>
              </a:defRPr>
            </a:lvl5pPr>
            <a:lvl6pPr>
              <a:defRPr sz="3900" b="1">
                <a:solidFill>
                  <a:srgbClr val="087F95"/>
                </a:solidFill>
              </a:defRPr>
            </a:lvl6pPr>
            <a:lvl7pPr>
              <a:defRPr sz="3900" b="1">
                <a:solidFill>
                  <a:srgbClr val="087F95"/>
                </a:solidFill>
              </a:defRPr>
            </a:lvl7pPr>
            <a:lvl8pPr>
              <a:defRPr sz="3900" b="1">
                <a:solidFill>
                  <a:srgbClr val="087F95"/>
                </a:solidFill>
              </a:defRPr>
            </a:lvl8pPr>
            <a:lvl9pPr>
              <a:defRPr sz="3900" b="1">
                <a:solidFill>
                  <a:srgbClr val="087F95"/>
                </a:solidFill>
              </a:defRPr>
            </a:lvl9pPr>
          </a:lstStyle>
          <a:p>
            <a:pPr>
              <a:defRPr sz="3900" b="1">
                <a:solidFill>
                  <a:srgbClr val="087F95"/>
                </a:solidFill>
              </a:defRPr>
            </a:pPr>
            <a:r>
              <a:rPr sz="3900" b="1">
                <a:solidFill>
                  <a:srgbClr val="087F95"/>
                </a:solidFill>
              </a:rPr>
              <a:t>180.4 min</a:t>
            </a:r>
          </a:p>
        </p:txBody>
      </p:sp>
      <p:sp>
        <p:nvSpPr>
          <p:cNvPr id="10" name="Acquisition with a 30 W reserve">
            <a:extLst>
              <a:ext uri="{FF2B5EF4-FFF2-40B4-BE49-F238E27FC236}">
                <a16:creationId xmlns:a16="http://schemas.microsoft.com/office/drawing/2014/main" id="{F392E3C4-2F16-4408-A9F5-5D1C58CBA39C}"/>
              </a:ext>
            </a:extLst>
          </p:cNvPr>
          <p:cNvSpPr>
            <a:spLocks noGrp="1"/>
          </p:cNvSpPr>
          <p:nvPr/>
        </p:nvSpPr>
        <p:spPr>
          <a:xfrm>
            <a:off x="8791575" y="4638675"/>
            <a:ext cx="2857500" cy="742950"/>
          </a:xfrm>
          <a:prstGeom prst="rect">
            <a:avLst/>
          </a:prstGeom>
          <a:noFill/>
          <a:ln w="0">
            <a:noFill/>
          </a:ln>
        </p:spPr>
        <p:txBody>
          <a:bodyPr lIns="0" tIns="0" rIns="0" bIns="0" anchor="t"/>
          <a:lstStyle>
            <a:defPPr>
              <a:defRPr sz="1725" b="0">
                <a:solidFill>
                  <a:srgbClr val="587081"/>
                </a:solidFill>
              </a:defRPr>
            </a:defPPr>
            <a:lvl1pPr>
              <a:defRPr sz="1725" b="0">
                <a:solidFill>
                  <a:srgbClr val="587081"/>
                </a:solidFill>
              </a:defRPr>
            </a:lvl1pPr>
            <a:lvl2pPr>
              <a:defRPr sz="1725" b="0">
                <a:solidFill>
                  <a:srgbClr val="587081"/>
                </a:solidFill>
              </a:defRPr>
            </a:lvl2pPr>
            <a:lvl3pPr>
              <a:defRPr sz="1725" b="0">
                <a:solidFill>
                  <a:srgbClr val="587081"/>
                </a:solidFill>
              </a:defRPr>
            </a:lvl3pPr>
            <a:lvl4pPr>
              <a:defRPr sz="1725" b="0">
                <a:solidFill>
                  <a:srgbClr val="587081"/>
                </a:solidFill>
              </a:defRPr>
            </a:lvl4pPr>
            <a:lvl5pPr>
              <a:defRPr sz="1725" b="0">
                <a:solidFill>
                  <a:srgbClr val="587081"/>
                </a:solidFill>
              </a:defRPr>
            </a:lvl5pPr>
            <a:lvl6pPr>
              <a:defRPr sz="1725" b="0">
                <a:solidFill>
                  <a:srgbClr val="587081"/>
                </a:solidFill>
              </a:defRPr>
            </a:lvl6pPr>
            <a:lvl7pPr>
              <a:defRPr sz="1725" b="0">
                <a:solidFill>
                  <a:srgbClr val="587081"/>
                </a:solidFill>
              </a:defRPr>
            </a:lvl7pPr>
            <a:lvl8pPr>
              <a:defRPr sz="1725" b="0">
                <a:solidFill>
                  <a:srgbClr val="587081"/>
                </a:solidFill>
              </a:defRPr>
            </a:lvl8pPr>
            <a:lvl9pPr>
              <a:defRPr sz="1725" b="0">
                <a:solidFill>
                  <a:srgbClr val="587081"/>
                </a:solidFill>
              </a:defRPr>
            </a:lvl9pPr>
          </a:lstStyle>
          <a:p>
            <a:pPr>
              <a:defRPr sz="1725" b="0">
                <a:solidFill>
                  <a:srgbClr val="587081"/>
                </a:solidFill>
              </a:defRPr>
            </a:pPr>
            <a:r>
              <a:rPr sz="1725" b="0">
                <a:solidFill>
                  <a:srgbClr val="587081"/>
                </a:solidFill>
              </a:rPr>
              <a:t>Acquisition with a 30 W reserve</a:t>
            </a:r>
          </a:p>
        </p:txBody>
      </p:sp>
      <p:sp>
        <p:nvSpPr>
          <p:cNvPr id="11" name="Separate fixed-boundary hot/cold equilibria complement the full m">
            <a:extLst>
              <a:ext uri="{FF2B5EF4-FFF2-40B4-BE49-F238E27FC236}">
                <a16:creationId xmlns:a16="http://schemas.microsoft.com/office/drawing/2014/main" id="{14F8D0B6-E7D1-4A35-A219-3F5DEBDFE6C0}"/>
              </a:ext>
            </a:extLst>
          </p:cNvPr>
          <p:cNvSpPr>
            <a:spLocks noGrp="1"/>
          </p:cNvSpPr>
          <p:nvPr/>
        </p:nvSpPr>
        <p:spPr>
          <a:xfrm>
            <a:off x="533400" y="5886450"/>
            <a:ext cx="10763250" cy="428625"/>
          </a:xfrm>
          <a:prstGeom prst="rect">
            <a:avLst/>
          </a:prstGeom>
          <a:noFill/>
          <a:ln w="0">
            <a:noFill/>
          </a:ln>
        </p:spPr>
        <p:txBody>
          <a:bodyPr lIns="0" tIns="0" rIns="0" bIns="0" anchor="t"/>
          <a:lstStyle>
            <a:defPPr>
              <a:defRPr sz="1800" b="0">
                <a:solidFill>
                  <a:srgbClr val="587081"/>
                </a:solidFill>
              </a:defRPr>
            </a:defPPr>
            <a:lvl1pPr>
              <a:defRPr sz="1800" b="0">
                <a:solidFill>
                  <a:srgbClr val="587081"/>
                </a:solidFill>
              </a:defRPr>
            </a:lvl1pPr>
            <a:lvl2pPr>
              <a:defRPr sz="1800" b="0">
                <a:solidFill>
                  <a:srgbClr val="587081"/>
                </a:solidFill>
              </a:defRPr>
            </a:lvl2pPr>
            <a:lvl3pPr>
              <a:defRPr sz="1800" b="0">
                <a:solidFill>
                  <a:srgbClr val="587081"/>
                </a:solidFill>
              </a:defRPr>
            </a:lvl3pPr>
            <a:lvl4pPr>
              <a:defRPr sz="1800" b="0">
                <a:solidFill>
                  <a:srgbClr val="587081"/>
                </a:solidFill>
              </a:defRPr>
            </a:lvl4pPr>
            <a:lvl5pPr>
              <a:defRPr sz="1800" b="0">
                <a:solidFill>
                  <a:srgbClr val="587081"/>
                </a:solidFill>
              </a:defRPr>
            </a:lvl5pPr>
            <a:lvl6pPr>
              <a:defRPr sz="1800" b="0">
                <a:solidFill>
                  <a:srgbClr val="587081"/>
                </a:solidFill>
              </a:defRPr>
            </a:lvl6pPr>
            <a:lvl7pPr>
              <a:defRPr sz="1800" b="0">
                <a:solidFill>
                  <a:srgbClr val="587081"/>
                </a:solidFill>
              </a:defRPr>
            </a:lvl7pPr>
            <a:lvl8pPr>
              <a:defRPr sz="1800" b="0">
                <a:solidFill>
                  <a:srgbClr val="587081"/>
                </a:solidFill>
              </a:defRPr>
            </a:lvl8pPr>
            <a:lvl9pPr>
              <a:defRPr sz="1800" b="0">
                <a:solidFill>
                  <a:srgbClr val="587081"/>
                </a:solidFill>
              </a:defRPr>
            </a:lvl9pPr>
          </a:lstStyle>
          <a:p>
            <a:pPr>
              <a:defRPr sz="1800" b="0">
                <a:solidFill>
                  <a:srgbClr val="587081"/>
                </a:solidFill>
              </a:defRPr>
            </a:pPr>
            <a:r>
              <a:rPr sz="1800" b="0">
                <a:solidFill>
                  <a:srgbClr val="587081"/>
                </a:solidFill>
              </a:rPr>
              <a:t>Separate fixed-boundary hot/cold equilibria complement the full mission transients.</a:t>
            </a:r>
          </a:p>
        </p:txBody>
      </p:sp>
    </p:spTree>
    <p:extLst>
      <p:ext uri="{BB962C8B-B14F-4D97-AF65-F5344CB8AC3E}">
        <p14:creationId xmlns:p14="http://schemas.microsoft.com/office/powerpoint/2010/main" val="20246694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Mission model development and maintenance">
            <a:extLst>
              <a:ext uri="{FF2B5EF4-FFF2-40B4-BE49-F238E27FC236}">
                <a16:creationId xmlns:a16="http://schemas.microsoft.com/office/drawing/2014/main" id="{3519C82A-EF90-438C-9B15-ED7404887175}"/>
              </a:ext>
            </a:extLst>
          </p:cNvPr>
          <p:cNvSpPr>
            <a:spLocks noGrp="1"/>
          </p:cNvSpPr>
          <p:nvPr/>
        </p:nvSpPr>
        <p:spPr>
          <a:xfrm>
            <a:off x="533400" y="361950"/>
            <a:ext cx="11125200" cy="1028700"/>
          </a:xfrm>
          <a:prstGeom prst="rect">
            <a:avLst/>
          </a:prstGeom>
          <a:noFill/>
          <a:ln w="0">
            <a:noFill/>
          </a:ln>
        </p:spPr>
        <p:txBody>
          <a:bodyPr lIns="0" tIns="0" rIns="0" bIns="0" anchor="t"/>
          <a:lstStyle>
            <a:defPPr>
              <a:defRPr sz="3150" b="1">
                <a:solidFill>
                  <a:srgbClr val="142B3D"/>
                </a:solidFill>
              </a:defRPr>
            </a:defPPr>
            <a:lvl1pPr>
              <a:defRPr sz="3150" b="1">
                <a:solidFill>
                  <a:srgbClr val="142B3D"/>
                </a:solidFill>
              </a:defRPr>
            </a:lvl1pPr>
            <a:lvl2pPr>
              <a:defRPr sz="3150" b="1">
                <a:solidFill>
                  <a:srgbClr val="142B3D"/>
                </a:solidFill>
              </a:defRPr>
            </a:lvl2pPr>
            <a:lvl3pPr>
              <a:defRPr sz="3150" b="1">
                <a:solidFill>
                  <a:srgbClr val="142B3D"/>
                </a:solidFill>
              </a:defRPr>
            </a:lvl3pPr>
            <a:lvl4pPr>
              <a:defRPr sz="3150" b="1">
                <a:solidFill>
                  <a:srgbClr val="142B3D"/>
                </a:solidFill>
              </a:defRPr>
            </a:lvl4pPr>
            <a:lvl5pPr>
              <a:defRPr sz="3150" b="1">
                <a:solidFill>
                  <a:srgbClr val="142B3D"/>
                </a:solidFill>
              </a:defRPr>
            </a:lvl5pPr>
            <a:lvl6pPr>
              <a:defRPr sz="3150" b="1">
                <a:solidFill>
                  <a:srgbClr val="142B3D"/>
                </a:solidFill>
              </a:defRPr>
            </a:lvl6pPr>
            <a:lvl7pPr>
              <a:defRPr sz="3150" b="1">
                <a:solidFill>
                  <a:srgbClr val="142B3D"/>
                </a:solidFill>
              </a:defRPr>
            </a:lvl7pPr>
            <a:lvl8pPr>
              <a:defRPr sz="3150" b="1">
                <a:solidFill>
                  <a:srgbClr val="142B3D"/>
                </a:solidFill>
              </a:defRPr>
            </a:lvl8pPr>
            <a:lvl9pPr>
              <a:defRPr sz="3150" b="1">
                <a:solidFill>
                  <a:srgbClr val="142B3D"/>
                </a:solidFill>
              </a:defRPr>
            </a:lvl9pPr>
          </a:lstStyle>
          <a:p>
            <a:pPr>
              <a:defRPr sz="3150" b="1">
                <a:solidFill>
                  <a:srgbClr val="142B3D"/>
                </a:solidFill>
              </a:defRPr>
            </a:pPr>
            <a:r>
              <a:rPr sz="3150" b="1">
                <a:solidFill>
                  <a:srgbClr val="142B3D"/>
                </a:solidFill>
              </a:rPr>
              <a:t>Mission model development and maintenance</a:t>
            </a:r>
          </a:p>
        </p:txBody>
      </p:sp>
      <p:sp>
        <p:nvSpPr>
          <p:cNvPr id="2" name="Khani Solutions">
            <a:extLst>
              <a:ext uri="{FF2B5EF4-FFF2-40B4-BE49-F238E27FC236}">
                <a16:creationId xmlns:a16="http://schemas.microsoft.com/office/drawing/2014/main" id="{E55F3235-069A-4D32-85E7-4FEED43EFC13}"/>
              </a:ext>
            </a:extLst>
          </p:cNvPr>
          <p:cNvSpPr>
            <a:spLocks noGrp="1"/>
          </p:cNvSpPr>
          <p:nvPr/>
        </p:nvSpPr>
        <p:spPr>
          <a:xfrm>
            <a:off x="533400" y="6448425"/>
            <a:ext cx="2190750" cy="238125"/>
          </a:xfrm>
          <a:prstGeom prst="rect">
            <a:avLst/>
          </a:prstGeom>
          <a:noFill/>
          <a:ln w="0">
            <a:noFill/>
          </a:ln>
        </p:spPr>
        <p:txBody>
          <a:bodyPr lIns="0" tIns="0" rIns="0" bIns="0" anchor="t"/>
          <a:lstStyle>
            <a:defPPr>
              <a:defRPr sz="1350" b="0">
                <a:solidFill>
                  <a:srgbClr val="587081"/>
                </a:solidFill>
              </a:defRPr>
            </a:defPPr>
            <a:lvl1pPr>
              <a:defRPr sz="1350" b="0">
                <a:solidFill>
                  <a:srgbClr val="587081"/>
                </a:solidFill>
              </a:defRPr>
            </a:lvl1pPr>
            <a:lvl2pPr>
              <a:defRPr sz="1350" b="0">
                <a:solidFill>
                  <a:srgbClr val="587081"/>
                </a:solidFill>
              </a:defRPr>
            </a:lvl2pPr>
            <a:lvl3pPr>
              <a:defRPr sz="1350" b="0">
                <a:solidFill>
                  <a:srgbClr val="587081"/>
                </a:solidFill>
              </a:defRPr>
            </a:lvl3pPr>
            <a:lvl4pPr>
              <a:defRPr sz="1350" b="0">
                <a:solidFill>
                  <a:srgbClr val="587081"/>
                </a:solidFill>
              </a:defRPr>
            </a:lvl4pPr>
            <a:lvl5pPr>
              <a:defRPr sz="1350" b="0">
                <a:solidFill>
                  <a:srgbClr val="587081"/>
                </a:solidFill>
              </a:defRPr>
            </a:lvl5pPr>
            <a:lvl6pPr>
              <a:defRPr sz="1350" b="0">
                <a:solidFill>
                  <a:srgbClr val="587081"/>
                </a:solidFill>
              </a:defRPr>
            </a:lvl6pPr>
            <a:lvl7pPr>
              <a:defRPr sz="1350" b="0">
                <a:solidFill>
                  <a:srgbClr val="587081"/>
                </a:solidFill>
              </a:defRPr>
            </a:lvl7pPr>
            <a:lvl8pPr>
              <a:defRPr sz="1350" b="0">
                <a:solidFill>
                  <a:srgbClr val="587081"/>
                </a:solidFill>
              </a:defRPr>
            </a:lvl8pPr>
            <a:lvl9pPr>
              <a:defRPr sz="1350" b="0">
                <a:solidFill>
                  <a:srgbClr val="587081"/>
                </a:solidFill>
              </a:defRPr>
            </a:lvl9pPr>
          </a:lstStyle>
          <a:p>
            <a:pPr>
              <a:defRPr sz="1350" b="0">
                <a:solidFill>
                  <a:srgbClr val="587081"/>
                </a:solidFill>
              </a:defRPr>
            </a:pPr>
            <a:r>
              <a:rPr sz="1350" b="0">
                <a:solidFill>
                  <a:srgbClr val="587081"/>
                </a:solidFill>
              </a:rPr>
              <a:t>Khani Solutions</a:t>
            </a:r>
          </a:p>
        </p:txBody>
      </p:sp>
      <p:sp>
        <p:nvSpPr>
          <p:cNvPr id="3" name="09 / 20">
            <a:extLst>
              <a:ext uri="{FF2B5EF4-FFF2-40B4-BE49-F238E27FC236}">
                <a16:creationId xmlns:a16="http://schemas.microsoft.com/office/drawing/2014/main" id="{B46933CE-CC95-49D0-8773-380A35FFF0B8}"/>
              </a:ext>
            </a:extLst>
          </p:cNvPr>
          <p:cNvSpPr>
            <a:spLocks noGrp="1"/>
          </p:cNvSpPr>
          <p:nvPr/>
        </p:nvSpPr>
        <p:spPr>
          <a:xfrm>
            <a:off x="10896600" y="6448425"/>
            <a:ext cx="857250" cy="238125"/>
          </a:xfrm>
          <a:prstGeom prst="rect">
            <a:avLst/>
          </a:prstGeom>
          <a:noFill/>
          <a:ln w="0">
            <a:noFill/>
          </a:ln>
        </p:spPr>
        <p:txBody>
          <a:bodyPr lIns="0" tIns="0" rIns="0" bIns="0" anchor="t"/>
          <a:lstStyle>
            <a:defPPr>
              <a:defRPr sz="1350" b="0">
                <a:solidFill>
                  <a:srgbClr val="587081"/>
                </a:solidFill>
              </a:defRPr>
            </a:defPPr>
            <a:lvl1pPr>
              <a:defRPr sz="1350" b="0">
                <a:solidFill>
                  <a:srgbClr val="587081"/>
                </a:solidFill>
              </a:defRPr>
            </a:lvl1pPr>
            <a:lvl2pPr>
              <a:defRPr sz="1350" b="0">
                <a:solidFill>
                  <a:srgbClr val="587081"/>
                </a:solidFill>
              </a:defRPr>
            </a:lvl2pPr>
            <a:lvl3pPr>
              <a:defRPr sz="1350" b="0">
                <a:solidFill>
                  <a:srgbClr val="587081"/>
                </a:solidFill>
              </a:defRPr>
            </a:lvl3pPr>
            <a:lvl4pPr>
              <a:defRPr sz="1350" b="0">
                <a:solidFill>
                  <a:srgbClr val="587081"/>
                </a:solidFill>
              </a:defRPr>
            </a:lvl4pPr>
            <a:lvl5pPr>
              <a:defRPr sz="1350" b="0">
                <a:solidFill>
                  <a:srgbClr val="587081"/>
                </a:solidFill>
              </a:defRPr>
            </a:lvl5pPr>
            <a:lvl6pPr>
              <a:defRPr sz="1350" b="0">
                <a:solidFill>
                  <a:srgbClr val="587081"/>
                </a:solidFill>
              </a:defRPr>
            </a:lvl6pPr>
            <a:lvl7pPr>
              <a:defRPr sz="1350" b="0">
                <a:solidFill>
                  <a:srgbClr val="587081"/>
                </a:solidFill>
              </a:defRPr>
            </a:lvl7pPr>
            <a:lvl8pPr>
              <a:defRPr sz="1350" b="0">
                <a:solidFill>
                  <a:srgbClr val="587081"/>
                </a:solidFill>
              </a:defRPr>
            </a:lvl8pPr>
            <a:lvl9pPr>
              <a:defRPr sz="1350" b="0">
                <a:solidFill>
                  <a:srgbClr val="587081"/>
                </a:solidFill>
              </a:defRPr>
            </a:lvl9pPr>
          </a:lstStyle>
          <a:p>
            <a:pPr>
              <a:defRPr sz="1350" b="0">
                <a:solidFill>
                  <a:srgbClr val="587081"/>
                </a:solidFill>
              </a:defRPr>
            </a:pPr>
            <a:r>
              <a:rPr sz="1350" b="0">
                <a:solidFill>
                  <a:srgbClr val="587081"/>
                </a:solidFill>
              </a:rPr>
              <a:t>09 / 20</a:t>
            </a:r>
          </a:p>
        </p:txBody>
      </p:sp>
      <p:sp>
        <p:nvSpPr>
          <p:cNvPr id="4" name="Detailed evidence on the website">
            <a:extLst>
              <a:ext uri="{FF2B5EF4-FFF2-40B4-BE49-F238E27FC236}">
                <a16:creationId xmlns:a16="http://schemas.microsoft.com/office/drawing/2014/main" id="{BA3527E9-BD3F-48D6-BA0A-CE7B782F0F09}"/>
              </a:ext>
            </a:extLst>
          </p:cNvPr>
          <p:cNvSpPr>
            <a:spLocks noGrp="1"/>
          </p:cNvSpPr>
          <p:nvPr/>
        </p:nvSpPr>
        <p:spPr>
          <a:xfrm>
            <a:off x="7000875" y="6448425"/>
            <a:ext cx="3476625" cy="238125"/>
          </a:xfrm>
          <a:prstGeom prst="rect">
            <a:avLst/>
          </a:prstGeom>
          <a:noFill/>
          <a:ln w="0">
            <a:noFill/>
          </a:ln>
        </p:spPr>
        <p:txBody>
          <a:bodyPr lIns="0" tIns="0" rIns="0" bIns="0" anchor="t"/>
          <a:lstStyle>
            <a:defPPr>
              <a:defRPr sz="1350" b="0">
                <a:solidFill>
                  <a:srgbClr val="087F95"/>
                </a:solidFill>
              </a:defRPr>
            </a:defPPr>
            <a:lvl1pPr>
              <a:defRPr sz="1350" b="0">
                <a:solidFill>
                  <a:srgbClr val="087F95"/>
                </a:solidFill>
              </a:defRPr>
            </a:lvl1pPr>
            <a:lvl2pPr>
              <a:defRPr sz="1350" b="0">
                <a:solidFill>
                  <a:srgbClr val="087F95"/>
                </a:solidFill>
              </a:defRPr>
            </a:lvl2pPr>
            <a:lvl3pPr>
              <a:defRPr sz="1350" b="0">
                <a:solidFill>
                  <a:srgbClr val="087F95"/>
                </a:solidFill>
              </a:defRPr>
            </a:lvl3pPr>
            <a:lvl4pPr>
              <a:defRPr sz="1350" b="0">
                <a:solidFill>
                  <a:srgbClr val="087F95"/>
                </a:solidFill>
              </a:defRPr>
            </a:lvl4pPr>
            <a:lvl5pPr>
              <a:defRPr sz="1350" b="0">
                <a:solidFill>
                  <a:srgbClr val="087F95"/>
                </a:solidFill>
              </a:defRPr>
            </a:lvl5pPr>
            <a:lvl6pPr>
              <a:defRPr sz="1350" b="0">
                <a:solidFill>
                  <a:srgbClr val="087F95"/>
                </a:solidFill>
              </a:defRPr>
            </a:lvl6pPr>
            <a:lvl7pPr>
              <a:defRPr sz="1350" b="0">
                <a:solidFill>
                  <a:srgbClr val="087F95"/>
                </a:solidFill>
              </a:defRPr>
            </a:lvl7pPr>
            <a:lvl8pPr>
              <a:defRPr sz="1350" b="0">
                <a:solidFill>
                  <a:srgbClr val="087F95"/>
                </a:solidFill>
              </a:defRPr>
            </a:lvl8pPr>
            <a:lvl9pPr>
              <a:defRPr sz="1350" b="0">
                <a:solidFill>
                  <a:srgbClr val="087F95"/>
                </a:solidFill>
              </a:defRPr>
            </a:lvl9pPr>
          </a:lstStyle>
          <a:p>
            <a:pPr>
              <a:defRPr sz="1350" b="0">
                <a:solidFill>
                  <a:srgbClr val="087F95"/>
                </a:solidFill>
              </a:defRPr>
            </a:pPr>
            <a:r>
              <a:rPr sz="1350" b="0">
                <a:solidFill>
                  <a:srgbClr val="087F95"/>
                </a:solidFill>
                <a:hlinkClick r:id="rId3"/>
              </a:rPr>
              <a:t>Detailed evidence on the website</a:t>
            </a:r>
          </a:p>
        </p:txBody>
      </p:sp>
      <p:sp>
        <p:nvSpPr>
          <p:cNvPr id="5" name="JD-03: Simulation evidence">
            <a:extLst>
              <a:ext uri="{FF2B5EF4-FFF2-40B4-BE49-F238E27FC236}">
                <a16:creationId xmlns:a16="http://schemas.microsoft.com/office/drawing/2014/main" id="{E1241802-79F0-427D-B794-9A1766D85A34}"/>
              </a:ext>
            </a:extLst>
          </p:cNvPr>
          <p:cNvSpPr>
            <a:spLocks noGrp="1"/>
          </p:cNvSpPr>
          <p:nvPr/>
        </p:nvSpPr>
        <p:spPr>
          <a:xfrm>
            <a:off x="533400" y="1371600"/>
            <a:ext cx="10477500" cy="276225"/>
          </a:xfrm>
          <a:prstGeom prst="rect">
            <a:avLst/>
          </a:prstGeom>
          <a:noFill/>
          <a:ln w="0">
            <a:noFill/>
          </a:ln>
        </p:spPr>
        <p:txBody>
          <a:bodyPr lIns="0" tIns="0" rIns="0" bIns="0" anchor="t"/>
          <a:lstStyle>
            <a:defPPr>
              <a:defRPr sz="1650" b="1">
                <a:solidFill>
                  <a:srgbClr val="087F95"/>
                </a:solidFill>
              </a:defRPr>
            </a:defPPr>
            <a:lvl1pPr>
              <a:defRPr sz="1650" b="1">
                <a:solidFill>
                  <a:srgbClr val="087F95"/>
                </a:solidFill>
              </a:defRPr>
            </a:lvl1pPr>
            <a:lvl2pPr>
              <a:defRPr sz="1650" b="1">
                <a:solidFill>
                  <a:srgbClr val="087F95"/>
                </a:solidFill>
              </a:defRPr>
            </a:lvl2pPr>
            <a:lvl3pPr>
              <a:defRPr sz="1650" b="1">
                <a:solidFill>
                  <a:srgbClr val="087F95"/>
                </a:solidFill>
              </a:defRPr>
            </a:lvl3pPr>
            <a:lvl4pPr>
              <a:defRPr sz="1650" b="1">
                <a:solidFill>
                  <a:srgbClr val="087F95"/>
                </a:solidFill>
              </a:defRPr>
            </a:lvl4pPr>
            <a:lvl5pPr>
              <a:defRPr sz="1650" b="1">
                <a:solidFill>
                  <a:srgbClr val="087F95"/>
                </a:solidFill>
              </a:defRPr>
            </a:lvl5pPr>
            <a:lvl6pPr>
              <a:defRPr sz="1650" b="1">
                <a:solidFill>
                  <a:srgbClr val="087F95"/>
                </a:solidFill>
              </a:defRPr>
            </a:lvl6pPr>
            <a:lvl7pPr>
              <a:defRPr sz="1650" b="1">
                <a:solidFill>
                  <a:srgbClr val="087F95"/>
                </a:solidFill>
              </a:defRPr>
            </a:lvl7pPr>
            <a:lvl8pPr>
              <a:defRPr sz="1650" b="1">
                <a:solidFill>
                  <a:srgbClr val="087F95"/>
                </a:solidFill>
              </a:defRPr>
            </a:lvl8pPr>
            <a:lvl9pPr>
              <a:defRPr sz="1650" b="1">
                <a:solidFill>
                  <a:srgbClr val="087F95"/>
                </a:solidFill>
              </a:defRPr>
            </a:lvl9pPr>
          </a:lstStyle>
          <a:p>
            <a:pPr>
              <a:defRPr sz="1650" b="1">
                <a:solidFill>
                  <a:srgbClr val="087F95"/>
                </a:solidFill>
              </a:defRPr>
            </a:pPr>
            <a:r>
              <a:rPr sz="1650" b="1">
                <a:solidFill>
                  <a:srgbClr val="087F95"/>
                </a:solidFill>
              </a:rPr>
              <a:t>JD-03: Simulation evidence</a:t>
            </a:r>
          </a:p>
        </p:txBody>
      </p:sp>
      <p:pic>
        <p:nvPicPr>
          <p:cNvPr id="6" name="Picture 5">
            <a:extLst>
              <a:ext uri="{FF2B5EF4-FFF2-40B4-BE49-F238E27FC236}">
                <a16:creationId xmlns:a16="http://schemas.microsoft.com/office/drawing/2014/main" id="{EAE934D9-6A78-48C0-9591-F3E9C661693B}"/>
              </a:ext>
            </a:extLst>
          </p:cNvPr>
          <p:cNvPicPr>
            <a:picLocks noChangeAspect="1"/>
          </p:cNvPicPr>
          <p:nvPr/>
        </p:nvPicPr>
        <p:blipFill>
          <a:blip r:embed="rId4"/>
          <a:stretch/>
        </p:blipFill>
        <p:spPr>
          <a:xfrm>
            <a:off x="533400" y="2666613"/>
            <a:ext cx="6667500" cy="2229623"/>
          </a:xfrm>
          <a:prstGeom prst="rect">
            <a:avLst/>
          </a:prstGeom>
        </p:spPr>
      </p:pic>
      <p:graphicFrame>
        <p:nvGraphicFramePr>
          <p:cNvPr id="7" name="Table 6">
            <a:extLst>
              <a:ext uri="{FF2B5EF4-FFF2-40B4-BE49-F238E27FC236}">
                <a16:creationId xmlns:a16="http://schemas.microsoft.com/office/drawing/2014/main" id="{958C5D8D-904E-4C3A-BD50-C043789A3F24}"/>
              </a:ext>
            </a:extLst>
          </p:cNvPr>
          <p:cNvGraphicFramePr/>
          <p:nvPr/>
        </p:nvGraphicFramePr>
        <p:xfrm>
          <a:off x="7610475" y="2038350"/>
          <a:ext cx="4095750" cy="3095624"/>
        </p:xfrm>
        <a:graphic>
          <a:graphicData uri="http://schemas.openxmlformats.org/drawingml/2006/table">
            <a:tbl>
              <a:tblPr firstRow="1"/>
              <a:tblGrid>
                <a:gridCol w="1524000">
                  <a:extLst>
                    <a:ext uri="{9D8B030D-6E8A-4147-A177-3AD203B41FA5}">
                      <a16:colId xmlns:a16="http://schemas.microsoft.com/office/drawing/2014/main" val="20000"/>
                    </a:ext>
                  </a:extLst>
                </a:gridCol>
                <a:gridCol w="2571750">
                  <a:extLst>
                    <a:ext uri="{9D8B030D-6E8A-4147-A177-3AD203B41FA5}">
                      <a16:colId xmlns:a16="http://schemas.microsoft.com/office/drawing/2014/main" val="20001"/>
                    </a:ext>
                  </a:extLst>
                </a:gridCol>
              </a:tblGrid>
              <a:tr h="773906">
                <a:tc>
                  <a:txBody>
                    <a:bodyPr/>
                    <a:lstStyle/>
                    <a:p>
                      <a:r>
                        <a:rPr sz="1650" b="1">
                          <a:solidFill>
                            <a:srgbClr val="FFFFFF"/>
                          </a:solidFill>
                        </a:rPr>
                        <a:t>Model level</a:t>
                      </a:r>
                    </a:p>
                  </a:txBody>
                  <a:tcPr marL="95250" marR="95250" marT="76200" marB="76200" anchor="ctr">
                    <a:lnL w="7620">
                      <a:solidFill>
                        <a:srgbClr val="E4EBEF"/>
                      </a:solidFill>
                      <a:prstDash val="solid"/>
                    </a:lnL>
                    <a:lnR w="7620">
                      <a:solidFill>
                        <a:srgbClr val="E4EBEF"/>
                      </a:solidFill>
                      <a:prstDash val="solid"/>
                    </a:lnR>
                    <a:lnT w="7620">
                      <a:solidFill>
                        <a:srgbClr val="E4EBEF"/>
                      </a:solidFill>
                      <a:prstDash val="solid"/>
                    </a:lnT>
                    <a:lnB w="7620">
                      <a:solidFill>
                        <a:srgbClr val="E4EBEF"/>
                      </a:solidFill>
                      <a:prstDash val="solid"/>
                    </a:lnB>
                    <a:solidFill>
                      <a:srgbClr val="142B3D"/>
                    </a:solidFill>
                  </a:tcPr>
                </a:tc>
                <a:tc>
                  <a:txBody>
                    <a:bodyPr/>
                    <a:lstStyle/>
                    <a:p>
                      <a:r>
                        <a:rPr sz="1650" b="1">
                          <a:solidFill>
                            <a:srgbClr val="FFFFFF"/>
                          </a:solidFill>
                        </a:rPr>
                        <a:t>Saved evidence</a:t>
                      </a:r>
                    </a:p>
                  </a:txBody>
                  <a:tcPr marL="95250" marR="95250" marT="76200" marB="76200" anchor="ctr">
                    <a:lnL w="7620" cap="flat" cmpd="sng" algn="ctr">
                      <a:solidFill>
                        <a:srgbClr val="E4EBEF"/>
                      </a:solidFill>
                      <a:prstDash val="solid"/>
                      <a:round/>
                      <a:headEnd type="none" w="med" len="med"/>
                      <a:tailEnd type="none" w="med" len="med"/>
                    </a:lnL>
                    <a:lnR w="7620">
                      <a:solidFill>
                        <a:srgbClr val="E4EBEF"/>
                      </a:solidFill>
                      <a:prstDash val="solid"/>
                    </a:lnR>
                    <a:lnT w="7620">
                      <a:solidFill>
                        <a:srgbClr val="E4EBEF"/>
                      </a:solidFill>
                      <a:prstDash val="solid"/>
                    </a:lnT>
                    <a:lnB w="7620">
                      <a:solidFill>
                        <a:srgbClr val="E4EBEF"/>
                      </a:solidFill>
                      <a:prstDash val="solid"/>
                    </a:lnB>
                    <a:solidFill>
                      <a:srgbClr val="142B3D"/>
                    </a:solidFill>
                  </a:tcPr>
                </a:tc>
                <a:extLst>
                  <a:ext uri="{0D108BD9-81ED-4DB2-BD59-A6C34878D82A}">
                    <a16:rowId xmlns:a16="http://schemas.microsoft.com/office/drawing/2014/main" val="10000"/>
                  </a:ext>
                </a:extLst>
              </a:tr>
              <a:tr h="773906">
                <a:tc>
                  <a:txBody>
                    <a:bodyPr/>
                    <a:lstStyle/>
                    <a:p>
                      <a:r>
                        <a:rPr sz="1650">
                          <a:solidFill>
                            <a:srgbClr val="142B3D"/>
                          </a:solidFill>
                        </a:rPr>
                        <a:t>System</a:t>
                      </a:r>
                    </a:p>
                  </a:txBody>
                  <a:tcPr marL="95250" marR="95250" marT="76200" marB="76200" anchor="ctr">
                    <a:lnL w="7620">
                      <a:solidFill>
                        <a:srgbClr val="E4EBEF"/>
                      </a:solidFill>
                      <a:prstDash val="solid"/>
                    </a:lnL>
                    <a:lnR w="7620">
                      <a:solidFill>
                        <a:srgbClr val="E4EBEF"/>
                      </a:solidFill>
                      <a:prstDash val="solid"/>
                    </a:lnR>
                    <a:lnT w="7620" cap="flat" cmpd="sng" algn="ctr">
                      <a:solidFill>
                        <a:srgbClr val="E4EBEF"/>
                      </a:solidFill>
                      <a:prstDash val="solid"/>
                      <a:round/>
                      <a:headEnd type="none" w="med" len="med"/>
                      <a:tailEnd type="none" w="med" len="med"/>
                    </a:lnT>
                    <a:lnB w="7620">
                      <a:solidFill>
                        <a:srgbClr val="E4EBEF"/>
                      </a:solidFill>
                      <a:prstDash val="solid"/>
                    </a:lnB>
                    <a:solidFill>
                      <a:srgbClr val="FFFFFF"/>
                    </a:solidFill>
                  </a:tcPr>
                </a:tc>
                <a:tc>
                  <a:txBody>
                    <a:bodyPr/>
                    <a:lstStyle/>
                    <a:p>
                      <a:r>
                        <a:rPr sz="1650">
                          <a:solidFill>
                            <a:srgbClr val="142B3D"/>
                          </a:solidFill>
                        </a:rPr>
                        <a:t>Diurnal mission and SOC</a:t>
                      </a:r>
                    </a:p>
                  </a:txBody>
                  <a:tcPr marL="95250" marR="95250" marT="76200" marB="76200" anchor="ctr">
                    <a:lnL w="7620" cap="flat" cmpd="sng" algn="ctr">
                      <a:solidFill>
                        <a:srgbClr val="E4EBEF"/>
                      </a:solidFill>
                      <a:prstDash val="solid"/>
                      <a:round/>
                      <a:headEnd type="none" w="med" len="med"/>
                      <a:tailEnd type="none" w="med" len="med"/>
                    </a:lnL>
                    <a:lnR w="7620">
                      <a:solidFill>
                        <a:srgbClr val="E4EBEF"/>
                      </a:solidFill>
                      <a:prstDash val="solid"/>
                    </a:lnR>
                    <a:lnT w="7620" cap="flat" cmpd="sng" algn="ctr">
                      <a:solidFill>
                        <a:srgbClr val="E4EBEF"/>
                      </a:solidFill>
                      <a:prstDash val="solid"/>
                      <a:round/>
                      <a:headEnd type="none" w="med" len="med"/>
                      <a:tailEnd type="none" w="med" len="med"/>
                    </a:lnT>
                    <a:lnB w="7620">
                      <a:solidFill>
                        <a:srgbClr val="E4EBEF"/>
                      </a:solidFill>
                      <a:prstDash val="solid"/>
                    </a:lnB>
                    <a:solidFill>
                      <a:srgbClr val="FFFFFF"/>
                    </a:solidFill>
                  </a:tcPr>
                </a:tc>
                <a:extLst>
                  <a:ext uri="{0D108BD9-81ED-4DB2-BD59-A6C34878D82A}">
                    <a16:rowId xmlns:a16="http://schemas.microsoft.com/office/drawing/2014/main" val="10001"/>
                  </a:ext>
                </a:extLst>
              </a:tr>
              <a:tr h="773906">
                <a:tc>
                  <a:txBody>
                    <a:bodyPr/>
                    <a:lstStyle/>
                    <a:p>
                      <a:r>
                        <a:rPr sz="1650">
                          <a:solidFill>
                            <a:srgbClr val="142B3D"/>
                          </a:solidFill>
                        </a:rPr>
                        <a:t>Subsystem</a:t>
                      </a:r>
                    </a:p>
                  </a:txBody>
                  <a:tcPr marL="95250" marR="95250" marT="76200" marB="76200" anchor="ctr">
                    <a:lnL w="7620">
                      <a:solidFill>
                        <a:srgbClr val="E4EBEF"/>
                      </a:solidFill>
                      <a:prstDash val="solid"/>
                    </a:lnL>
                    <a:lnR w="7620">
                      <a:solidFill>
                        <a:srgbClr val="E4EBEF"/>
                      </a:solidFill>
                      <a:prstDash val="solid"/>
                    </a:lnR>
                    <a:lnT w="7620" cap="flat" cmpd="sng" algn="ctr">
                      <a:solidFill>
                        <a:srgbClr val="E4EBEF"/>
                      </a:solidFill>
                      <a:prstDash val="solid"/>
                      <a:round/>
                      <a:headEnd type="none" w="med" len="med"/>
                      <a:tailEnd type="none" w="med" len="med"/>
                    </a:lnT>
                    <a:lnB w="7620">
                      <a:solidFill>
                        <a:srgbClr val="E4EBEF"/>
                      </a:solidFill>
                      <a:prstDash val="solid"/>
                    </a:lnB>
                    <a:solidFill>
                      <a:srgbClr val="FFFFFF"/>
                    </a:solidFill>
                  </a:tcPr>
                </a:tc>
                <a:tc>
                  <a:txBody>
                    <a:bodyPr/>
                    <a:lstStyle/>
                    <a:p>
                      <a:r>
                        <a:rPr sz="1650">
                          <a:solidFill>
                            <a:srgbClr val="142B3D"/>
                          </a:solidFill>
                        </a:rPr>
                        <a:t>Battery, payload, avionics, motor</a:t>
                      </a:r>
                    </a:p>
                  </a:txBody>
                  <a:tcPr marL="95250" marR="95250" marT="76200" marB="76200" anchor="ctr">
                    <a:lnL w="7620" cap="flat" cmpd="sng" algn="ctr">
                      <a:solidFill>
                        <a:srgbClr val="E4EBEF"/>
                      </a:solidFill>
                      <a:prstDash val="solid"/>
                      <a:round/>
                      <a:headEnd type="none" w="med" len="med"/>
                      <a:tailEnd type="none" w="med" len="med"/>
                    </a:lnL>
                    <a:lnR w="7620">
                      <a:solidFill>
                        <a:srgbClr val="E4EBEF"/>
                      </a:solidFill>
                      <a:prstDash val="solid"/>
                    </a:lnR>
                    <a:lnT w="7620" cap="flat" cmpd="sng" algn="ctr">
                      <a:solidFill>
                        <a:srgbClr val="E4EBEF"/>
                      </a:solidFill>
                      <a:prstDash val="solid"/>
                      <a:round/>
                      <a:headEnd type="none" w="med" len="med"/>
                      <a:tailEnd type="none" w="med" len="med"/>
                    </a:lnT>
                    <a:lnB w="7620">
                      <a:solidFill>
                        <a:srgbClr val="E4EBEF"/>
                      </a:solidFill>
                      <a:prstDash val="solid"/>
                    </a:lnB>
                    <a:solidFill>
                      <a:srgbClr val="FFFFFF"/>
                    </a:solidFill>
                  </a:tcPr>
                </a:tc>
                <a:extLst>
                  <a:ext uri="{0D108BD9-81ED-4DB2-BD59-A6C34878D82A}">
                    <a16:rowId xmlns:a16="http://schemas.microsoft.com/office/drawing/2014/main" val="10002"/>
                  </a:ext>
                </a:extLst>
              </a:tr>
              <a:tr h="773906">
                <a:tc>
                  <a:txBody>
                    <a:bodyPr/>
                    <a:lstStyle/>
                    <a:p>
                      <a:r>
                        <a:rPr sz="1650">
                          <a:solidFill>
                            <a:srgbClr val="142B3D"/>
                          </a:solidFill>
                        </a:rPr>
                        <a:t>Component</a:t>
                      </a:r>
                    </a:p>
                  </a:txBody>
                  <a:tcPr marL="95250" marR="95250" marT="76200" marB="76200" anchor="ctr">
                    <a:lnL w="7620">
                      <a:solidFill>
                        <a:srgbClr val="E4EBEF"/>
                      </a:solidFill>
                      <a:prstDash val="solid"/>
                    </a:lnL>
                    <a:lnR w="7620">
                      <a:solidFill>
                        <a:srgbClr val="E4EBEF"/>
                      </a:solidFill>
                      <a:prstDash val="solid"/>
                    </a:lnR>
                    <a:lnT w="7620" cap="flat" cmpd="sng" algn="ctr">
                      <a:solidFill>
                        <a:srgbClr val="E4EBEF"/>
                      </a:solidFill>
                      <a:prstDash val="solid"/>
                      <a:round/>
                      <a:headEnd type="none" w="med" len="med"/>
                      <a:tailEnd type="none" w="med" len="med"/>
                    </a:lnT>
                    <a:lnB w="7620">
                      <a:solidFill>
                        <a:srgbClr val="E4EBEF"/>
                      </a:solidFill>
                      <a:prstDash val="solid"/>
                    </a:lnB>
                    <a:solidFill>
                      <a:srgbClr val="FFFFFF"/>
                    </a:solidFill>
                  </a:tcPr>
                </a:tc>
                <a:tc>
                  <a:txBody>
                    <a:bodyPr/>
                    <a:lstStyle/>
                    <a:p>
                      <a:r>
                        <a:rPr sz="1650">
                          <a:solidFill>
                            <a:srgbClr val="142B3D"/>
                          </a:solidFill>
                        </a:rPr>
                        <a:t>Case, plate, pad and radiator</a:t>
                      </a:r>
                    </a:p>
                  </a:txBody>
                  <a:tcPr marL="95250" marR="95250" marT="76200" marB="76200" anchor="ctr">
                    <a:lnL w="7620" cap="flat" cmpd="sng" algn="ctr">
                      <a:solidFill>
                        <a:srgbClr val="E4EBEF"/>
                      </a:solidFill>
                      <a:prstDash val="solid"/>
                      <a:round/>
                      <a:headEnd type="none" w="med" len="med"/>
                      <a:tailEnd type="none" w="med" len="med"/>
                    </a:lnL>
                    <a:lnR w="7620">
                      <a:solidFill>
                        <a:srgbClr val="E4EBEF"/>
                      </a:solidFill>
                      <a:prstDash val="solid"/>
                    </a:lnR>
                    <a:lnT w="7620" cap="flat" cmpd="sng" algn="ctr">
                      <a:solidFill>
                        <a:srgbClr val="E4EBEF"/>
                      </a:solidFill>
                      <a:prstDash val="solid"/>
                      <a:round/>
                      <a:headEnd type="none" w="med" len="med"/>
                      <a:tailEnd type="none" w="med" len="med"/>
                    </a:lnT>
                    <a:lnB w="7620">
                      <a:solidFill>
                        <a:srgbClr val="E4EBEF"/>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8" name="Versioned inputs, controlled variants and repeatable numerical ch">
            <a:extLst>
              <a:ext uri="{FF2B5EF4-FFF2-40B4-BE49-F238E27FC236}">
                <a16:creationId xmlns:a16="http://schemas.microsoft.com/office/drawing/2014/main" id="{87FB3D5F-3D26-4363-99B7-6F7890844681}"/>
              </a:ext>
            </a:extLst>
          </p:cNvPr>
          <p:cNvSpPr>
            <a:spLocks noGrp="1"/>
          </p:cNvSpPr>
          <p:nvPr/>
        </p:nvSpPr>
        <p:spPr>
          <a:xfrm>
            <a:off x="533400" y="5876925"/>
            <a:ext cx="10668000" cy="400050"/>
          </a:xfrm>
          <a:prstGeom prst="rect">
            <a:avLst/>
          </a:prstGeom>
          <a:noFill/>
          <a:ln w="0">
            <a:noFill/>
          </a:ln>
        </p:spPr>
        <p:txBody>
          <a:bodyPr lIns="0" tIns="0" rIns="0" bIns="0" anchor="t"/>
          <a:lstStyle>
            <a:defPPr>
              <a:defRPr sz="2100" b="0">
                <a:solidFill>
                  <a:srgbClr val="142B3D"/>
                </a:solidFill>
              </a:defRPr>
            </a:defPPr>
            <a:lvl1pPr>
              <a:defRPr sz="2100" b="0">
                <a:solidFill>
                  <a:srgbClr val="142B3D"/>
                </a:solidFill>
              </a:defRPr>
            </a:lvl1pPr>
            <a:lvl2pPr>
              <a:defRPr sz="2100" b="0">
                <a:solidFill>
                  <a:srgbClr val="142B3D"/>
                </a:solidFill>
              </a:defRPr>
            </a:lvl2pPr>
            <a:lvl3pPr>
              <a:defRPr sz="2100" b="0">
                <a:solidFill>
                  <a:srgbClr val="142B3D"/>
                </a:solidFill>
              </a:defRPr>
            </a:lvl3pPr>
            <a:lvl4pPr>
              <a:defRPr sz="2100" b="0">
                <a:solidFill>
                  <a:srgbClr val="142B3D"/>
                </a:solidFill>
              </a:defRPr>
            </a:lvl4pPr>
            <a:lvl5pPr>
              <a:defRPr sz="2100" b="0">
                <a:solidFill>
                  <a:srgbClr val="142B3D"/>
                </a:solidFill>
              </a:defRPr>
            </a:lvl5pPr>
            <a:lvl6pPr>
              <a:defRPr sz="2100" b="0">
                <a:solidFill>
                  <a:srgbClr val="142B3D"/>
                </a:solidFill>
              </a:defRPr>
            </a:lvl6pPr>
            <a:lvl7pPr>
              <a:defRPr sz="2100" b="0">
                <a:solidFill>
                  <a:srgbClr val="142B3D"/>
                </a:solidFill>
              </a:defRPr>
            </a:lvl7pPr>
            <a:lvl8pPr>
              <a:defRPr sz="2100" b="0">
                <a:solidFill>
                  <a:srgbClr val="142B3D"/>
                </a:solidFill>
              </a:defRPr>
            </a:lvl8pPr>
            <a:lvl9pPr>
              <a:defRPr sz="2100" b="0">
                <a:solidFill>
                  <a:srgbClr val="142B3D"/>
                </a:solidFill>
              </a:defRPr>
            </a:lvl9pPr>
          </a:lstStyle>
          <a:p>
            <a:pPr>
              <a:defRPr sz="2100" b="0">
                <a:solidFill>
                  <a:srgbClr val="142B3D"/>
                </a:solidFill>
              </a:defRPr>
            </a:pPr>
            <a:r>
              <a:rPr sz="2100" b="0">
                <a:solidFill>
                  <a:srgbClr val="142B3D"/>
                </a:solidFill>
              </a:rPr>
              <a:t>Versioned inputs, controlled variants and repeatable numerical checks</a:t>
            </a:r>
          </a:p>
        </p:txBody>
      </p:sp>
    </p:spTree>
    <p:extLst>
      <p:ext uri="{BB962C8B-B14F-4D97-AF65-F5344CB8AC3E}">
        <p14:creationId xmlns:p14="http://schemas.microsoft.com/office/powerpoint/2010/main" val="8661978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Materials, insulation, radiators and interfaces">
            <a:extLst>
              <a:ext uri="{FF2B5EF4-FFF2-40B4-BE49-F238E27FC236}">
                <a16:creationId xmlns:a16="http://schemas.microsoft.com/office/drawing/2014/main" id="{CA231750-5F02-4912-B844-5B7A78FAE5D6}"/>
              </a:ext>
            </a:extLst>
          </p:cNvPr>
          <p:cNvSpPr>
            <a:spLocks noGrp="1"/>
          </p:cNvSpPr>
          <p:nvPr/>
        </p:nvSpPr>
        <p:spPr>
          <a:xfrm>
            <a:off x="533400" y="361950"/>
            <a:ext cx="11125200" cy="1028700"/>
          </a:xfrm>
          <a:prstGeom prst="rect">
            <a:avLst/>
          </a:prstGeom>
          <a:noFill/>
          <a:ln w="0">
            <a:noFill/>
          </a:ln>
        </p:spPr>
        <p:txBody>
          <a:bodyPr lIns="0" tIns="0" rIns="0" bIns="0" anchor="t"/>
          <a:lstStyle>
            <a:defPPr>
              <a:defRPr sz="3150" b="1">
                <a:solidFill>
                  <a:srgbClr val="142B3D"/>
                </a:solidFill>
              </a:defRPr>
            </a:defPPr>
            <a:lvl1pPr>
              <a:defRPr sz="3150" b="1">
                <a:solidFill>
                  <a:srgbClr val="142B3D"/>
                </a:solidFill>
              </a:defRPr>
            </a:lvl1pPr>
            <a:lvl2pPr>
              <a:defRPr sz="3150" b="1">
                <a:solidFill>
                  <a:srgbClr val="142B3D"/>
                </a:solidFill>
              </a:defRPr>
            </a:lvl2pPr>
            <a:lvl3pPr>
              <a:defRPr sz="3150" b="1">
                <a:solidFill>
                  <a:srgbClr val="142B3D"/>
                </a:solidFill>
              </a:defRPr>
            </a:lvl3pPr>
            <a:lvl4pPr>
              <a:defRPr sz="3150" b="1">
                <a:solidFill>
                  <a:srgbClr val="142B3D"/>
                </a:solidFill>
              </a:defRPr>
            </a:lvl4pPr>
            <a:lvl5pPr>
              <a:defRPr sz="3150" b="1">
                <a:solidFill>
                  <a:srgbClr val="142B3D"/>
                </a:solidFill>
              </a:defRPr>
            </a:lvl5pPr>
            <a:lvl6pPr>
              <a:defRPr sz="3150" b="1">
                <a:solidFill>
                  <a:srgbClr val="142B3D"/>
                </a:solidFill>
              </a:defRPr>
            </a:lvl6pPr>
            <a:lvl7pPr>
              <a:defRPr sz="3150" b="1">
                <a:solidFill>
                  <a:srgbClr val="142B3D"/>
                </a:solidFill>
              </a:defRPr>
            </a:lvl7pPr>
            <a:lvl8pPr>
              <a:defRPr sz="3150" b="1">
                <a:solidFill>
                  <a:srgbClr val="142B3D"/>
                </a:solidFill>
              </a:defRPr>
            </a:lvl8pPr>
            <a:lvl9pPr>
              <a:defRPr sz="3150" b="1">
                <a:solidFill>
                  <a:srgbClr val="142B3D"/>
                </a:solidFill>
              </a:defRPr>
            </a:lvl9pPr>
          </a:lstStyle>
          <a:p>
            <a:pPr>
              <a:defRPr sz="3150" b="1">
                <a:solidFill>
                  <a:srgbClr val="142B3D"/>
                </a:solidFill>
              </a:defRPr>
            </a:pPr>
            <a:r>
              <a:rPr sz="3150" b="1">
                <a:solidFill>
                  <a:srgbClr val="142B3D"/>
                </a:solidFill>
              </a:rPr>
              <a:t>Materials, insulation, radiators and interfaces</a:t>
            </a:r>
          </a:p>
        </p:txBody>
      </p:sp>
      <p:sp>
        <p:nvSpPr>
          <p:cNvPr id="2" name="Khani Solutions">
            <a:extLst>
              <a:ext uri="{FF2B5EF4-FFF2-40B4-BE49-F238E27FC236}">
                <a16:creationId xmlns:a16="http://schemas.microsoft.com/office/drawing/2014/main" id="{7F59AEF0-9824-47E0-AD20-782E27836EB1}"/>
              </a:ext>
            </a:extLst>
          </p:cNvPr>
          <p:cNvSpPr>
            <a:spLocks noGrp="1"/>
          </p:cNvSpPr>
          <p:nvPr/>
        </p:nvSpPr>
        <p:spPr>
          <a:xfrm>
            <a:off x="533400" y="6448425"/>
            <a:ext cx="2190750" cy="238125"/>
          </a:xfrm>
          <a:prstGeom prst="rect">
            <a:avLst/>
          </a:prstGeom>
          <a:noFill/>
          <a:ln w="0">
            <a:noFill/>
          </a:ln>
        </p:spPr>
        <p:txBody>
          <a:bodyPr lIns="0" tIns="0" rIns="0" bIns="0" anchor="t"/>
          <a:lstStyle>
            <a:defPPr>
              <a:defRPr sz="1350" b="0">
                <a:solidFill>
                  <a:srgbClr val="587081"/>
                </a:solidFill>
              </a:defRPr>
            </a:defPPr>
            <a:lvl1pPr>
              <a:defRPr sz="1350" b="0">
                <a:solidFill>
                  <a:srgbClr val="587081"/>
                </a:solidFill>
              </a:defRPr>
            </a:lvl1pPr>
            <a:lvl2pPr>
              <a:defRPr sz="1350" b="0">
                <a:solidFill>
                  <a:srgbClr val="587081"/>
                </a:solidFill>
              </a:defRPr>
            </a:lvl2pPr>
            <a:lvl3pPr>
              <a:defRPr sz="1350" b="0">
                <a:solidFill>
                  <a:srgbClr val="587081"/>
                </a:solidFill>
              </a:defRPr>
            </a:lvl3pPr>
            <a:lvl4pPr>
              <a:defRPr sz="1350" b="0">
                <a:solidFill>
                  <a:srgbClr val="587081"/>
                </a:solidFill>
              </a:defRPr>
            </a:lvl4pPr>
            <a:lvl5pPr>
              <a:defRPr sz="1350" b="0">
                <a:solidFill>
                  <a:srgbClr val="587081"/>
                </a:solidFill>
              </a:defRPr>
            </a:lvl5pPr>
            <a:lvl6pPr>
              <a:defRPr sz="1350" b="0">
                <a:solidFill>
                  <a:srgbClr val="587081"/>
                </a:solidFill>
              </a:defRPr>
            </a:lvl6pPr>
            <a:lvl7pPr>
              <a:defRPr sz="1350" b="0">
                <a:solidFill>
                  <a:srgbClr val="587081"/>
                </a:solidFill>
              </a:defRPr>
            </a:lvl7pPr>
            <a:lvl8pPr>
              <a:defRPr sz="1350" b="0">
                <a:solidFill>
                  <a:srgbClr val="587081"/>
                </a:solidFill>
              </a:defRPr>
            </a:lvl8pPr>
            <a:lvl9pPr>
              <a:defRPr sz="1350" b="0">
                <a:solidFill>
                  <a:srgbClr val="587081"/>
                </a:solidFill>
              </a:defRPr>
            </a:lvl9pPr>
          </a:lstStyle>
          <a:p>
            <a:pPr>
              <a:defRPr sz="1350" b="0">
                <a:solidFill>
                  <a:srgbClr val="587081"/>
                </a:solidFill>
              </a:defRPr>
            </a:pPr>
            <a:r>
              <a:rPr sz="1350" b="0">
                <a:solidFill>
                  <a:srgbClr val="587081"/>
                </a:solidFill>
              </a:rPr>
              <a:t>Khani Solutions</a:t>
            </a:r>
          </a:p>
        </p:txBody>
      </p:sp>
      <p:sp>
        <p:nvSpPr>
          <p:cNvPr id="3" name="10 / 20">
            <a:extLst>
              <a:ext uri="{FF2B5EF4-FFF2-40B4-BE49-F238E27FC236}">
                <a16:creationId xmlns:a16="http://schemas.microsoft.com/office/drawing/2014/main" id="{93E05011-1CB9-4CF0-A20B-3F53ADD0B82E}"/>
              </a:ext>
            </a:extLst>
          </p:cNvPr>
          <p:cNvSpPr>
            <a:spLocks noGrp="1"/>
          </p:cNvSpPr>
          <p:nvPr/>
        </p:nvSpPr>
        <p:spPr>
          <a:xfrm>
            <a:off x="10896600" y="6448425"/>
            <a:ext cx="857250" cy="238125"/>
          </a:xfrm>
          <a:prstGeom prst="rect">
            <a:avLst/>
          </a:prstGeom>
          <a:noFill/>
          <a:ln w="0">
            <a:noFill/>
          </a:ln>
        </p:spPr>
        <p:txBody>
          <a:bodyPr lIns="0" tIns="0" rIns="0" bIns="0" anchor="t"/>
          <a:lstStyle>
            <a:defPPr>
              <a:defRPr sz="1350" b="0">
                <a:solidFill>
                  <a:srgbClr val="587081"/>
                </a:solidFill>
              </a:defRPr>
            </a:defPPr>
            <a:lvl1pPr>
              <a:defRPr sz="1350" b="0">
                <a:solidFill>
                  <a:srgbClr val="587081"/>
                </a:solidFill>
              </a:defRPr>
            </a:lvl1pPr>
            <a:lvl2pPr>
              <a:defRPr sz="1350" b="0">
                <a:solidFill>
                  <a:srgbClr val="587081"/>
                </a:solidFill>
              </a:defRPr>
            </a:lvl2pPr>
            <a:lvl3pPr>
              <a:defRPr sz="1350" b="0">
                <a:solidFill>
                  <a:srgbClr val="587081"/>
                </a:solidFill>
              </a:defRPr>
            </a:lvl3pPr>
            <a:lvl4pPr>
              <a:defRPr sz="1350" b="0">
                <a:solidFill>
                  <a:srgbClr val="587081"/>
                </a:solidFill>
              </a:defRPr>
            </a:lvl4pPr>
            <a:lvl5pPr>
              <a:defRPr sz="1350" b="0">
                <a:solidFill>
                  <a:srgbClr val="587081"/>
                </a:solidFill>
              </a:defRPr>
            </a:lvl5pPr>
            <a:lvl6pPr>
              <a:defRPr sz="1350" b="0">
                <a:solidFill>
                  <a:srgbClr val="587081"/>
                </a:solidFill>
              </a:defRPr>
            </a:lvl6pPr>
            <a:lvl7pPr>
              <a:defRPr sz="1350" b="0">
                <a:solidFill>
                  <a:srgbClr val="587081"/>
                </a:solidFill>
              </a:defRPr>
            </a:lvl7pPr>
            <a:lvl8pPr>
              <a:defRPr sz="1350" b="0">
                <a:solidFill>
                  <a:srgbClr val="587081"/>
                </a:solidFill>
              </a:defRPr>
            </a:lvl8pPr>
            <a:lvl9pPr>
              <a:defRPr sz="1350" b="0">
                <a:solidFill>
                  <a:srgbClr val="587081"/>
                </a:solidFill>
              </a:defRPr>
            </a:lvl9pPr>
          </a:lstStyle>
          <a:p>
            <a:pPr>
              <a:defRPr sz="1350" b="0">
                <a:solidFill>
                  <a:srgbClr val="587081"/>
                </a:solidFill>
              </a:defRPr>
            </a:pPr>
            <a:r>
              <a:rPr sz="1350" b="0">
                <a:solidFill>
                  <a:srgbClr val="587081"/>
                </a:solidFill>
              </a:rPr>
              <a:t>10 / 20</a:t>
            </a:r>
          </a:p>
        </p:txBody>
      </p:sp>
      <p:sp>
        <p:nvSpPr>
          <p:cNvPr id="4" name="Detailed evidence on the website">
            <a:extLst>
              <a:ext uri="{FF2B5EF4-FFF2-40B4-BE49-F238E27FC236}">
                <a16:creationId xmlns:a16="http://schemas.microsoft.com/office/drawing/2014/main" id="{F6FB9D21-A381-4DE6-9AA3-A6C1DAD1BCD5}"/>
              </a:ext>
            </a:extLst>
          </p:cNvPr>
          <p:cNvSpPr>
            <a:spLocks noGrp="1"/>
          </p:cNvSpPr>
          <p:nvPr/>
        </p:nvSpPr>
        <p:spPr>
          <a:xfrm>
            <a:off x="7000875" y="6448425"/>
            <a:ext cx="3476625" cy="238125"/>
          </a:xfrm>
          <a:prstGeom prst="rect">
            <a:avLst/>
          </a:prstGeom>
          <a:noFill/>
          <a:ln w="0">
            <a:noFill/>
          </a:ln>
        </p:spPr>
        <p:txBody>
          <a:bodyPr lIns="0" tIns="0" rIns="0" bIns="0" anchor="t"/>
          <a:lstStyle>
            <a:defPPr>
              <a:defRPr sz="1350" b="0">
                <a:solidFill>
                  <a:srgbClr val="087F95"/>
                </a:solidFill>
              </a:defRPr>
            </a:defPPr>
            <a:lvl1pPr>
              <a:defRPr sz="1350" b="0">
                <a:solidFill>
                  <a:srgbClr val="087F95"/>
                </a:solidFill>
              </a:defRPr>
            </a:lvl1pPr>
            <a:lvl2pPr>
              <a:defRPr sz="1350" b="0">
                <a:solidFill>
                  <a:srgbClr val="087F95"/>
                </a:solidFill>
              </a:defRPr>
            </a:lvl2pPr>
            <a:lvl3pPr>
              <a:defRPr sz="1350" b="0">
                <a:solidFill>
                  <a:srgbClr val="087F95"/>
                </a:solidFill>
              </a:defRPr>
            </a:lvl3pPr>
            <a:lvl4pPr>
              <a:defRPr sz="1350" b="0">
                <a:solidFill>
                  <a:srgbClr val="087F95"/>
                </a:solidFill>
              </a:defRPr>
            </a:lvl4pPr>
            <a:lvl5pPr>
              <a:defRPr sz="1350" b="0">
                <a:solidFill>
                  <a:srgbClr val="087F95"/>
                </a:solidFill>
              </a:defRPr>
            </a:lvl5pPr>
            <a:lvl6pPr>
              <a:defRPr sz="1350" b="0">
                <a:solidFill>
                  <a:srgbClr val="087F95"/>
                </a:solidFill>
              </a:defRPr>
            </a:lvl6pPr>
            <a:lvl7pPr>
              <a:defRPr sz="1350" b="0">
                <a:solidFill>
                  <a:srgbClr val="087F95"/>
                </a:solidFill>
              </a:defRPr>
            </a:lvl7pPr>
            <a:lvl8pPr>
              <a:defRPr sz="1350" b="0">
                <a:solidFill>
                  <a:srgbClr val="087F95"/>
                </a:solidFill>
              </a:defRPr>
            </a:lvl8pPr>
            <a:lvl9pPr>
              <a:defRPr sz="1350" b="0">
                <a:solidFill>
                  <a:srgbClr val="087F95"/>
                </a:solidFill>
              </a:defRPr>
            </a:lvl9pPr>
          </a:lstStyle>
          <a:p>
            <a:pPr>
              <a:defRPr sz="1350" b="0">
                <a:solidFill>
                  <a:srgbClr val="087F95"/>
                </a:solidFill>
              </a:defRPr>
            </a:pPr>
            <a:r>
              <a:rPr sz="1350" b="0">
                <a:solidFill>
                  <a:srgbClr val="087F95"/>
                </a:solidFill>
                <a:hlinkClick r:id="rId3"/>
              </a:rPr>
              <a:t>Detailed evidence on the website</a:t>
            </a:r>
          </a:p>
        </p:txBody>
      </p:sp>
      <p:sp>
        <p:nvSpPr>
          <p:cNvPr id="5" name="JD-04: Simulation evidence">
            <a:extLst>
              <a:ext uri="{FF2B5EF4-FFF2-40B4-BE49-F238E27FC236}">
                <a16:creationId xmlns:a16="http://schemas.microsoft.com/office/drawing/2014/main" id="{F4EF541B-7863-4C91-A2FB-C480B77A3C7C}"/>
              </a:ext>
            </a:extLst>
          </p:cNvPr>
          <p:cNvSpPr>
            <a:spLocks noGrp="1"/>
          </p:cNvSpPr>
          <p:nvPr/>
        </p:nvSpPr>
        <p:spPr>
          <a:xfrm>
            <a:off x="533400" y="1371600"/>
            <a:ext cx="10477500" cy="276225"/>
          </a:xfrm>
          <a:prstGeom prst="rect">
            <a:avLst/>
          </a:prstGeom>
          <a:noFill/>
          <a:ln w="0">
            <a:noFill/>
          </a:ln>
        </p:spPr>
        <p:txBody>
          <a:bodyPr lIns="0" tIns="0" rIns="0" bIns="0" anchor="t"/>
          <a:lstStyle>
            <a:defPPr>
              <a:defRPr sz="1650" b="1">
                <a:solidFill>
                  <a:srgbClr val="087F95"/>
                </a:solidFill>
              </a:defRPr>
            </a:defPPr>
            <a:lvl1pPr>
              <a:defRPr sz="1650" b="1">
                <a:solidFill>
                  <a:srgbClr val="087F95"/>
                </a:solidFill>
              </a:defRPr>
            </a:lvl1pPr>
            <a:lvl2pPr>
              <a:defRPr sz="1650" b="1">
                <a:solidFill>
                  <a:srgbClr val="087F95"/>
                </a:solidFill>
              </a:defRPr>
            </a:lvl2pPr>
            <a:lvl3pPr>
              <a:defRPr sz="1650" b="1">
                <a:solidFill>
                  <a:srgbClr val="087F95"/>
                </a:solidFill>
              </a:defRPr>
            </a:lvl3pPr>
            <a:lvl4pPr>
              <a:defRPr sz="1650" b="1">
                <a:solidFill>
                  <a:srgbClr val="087F95"/>
                </a:solidFill>
              </a:defRPr>
            </a:lvl4pPr>
            <a:lvl5pPr>
              <a:defRPr sz="1650" b="1">
                <a:solidFill>
                  <a:srgbClr val="087F95"/>
                </a:solidFill>
              </a:defRPr>
            </a:lvl5pPr>
            <a:lvl6pPr>
              <a:defRPr sz="1650" b="1">
                <a:solidFill>
                  <a:srgbClr val="087F95"/>
                </a:solidFill>
              </a:defRPr>
            </a:lvl6pPr>
            <a:lvl7pPr>
              <a:defRPr sz="1650" b="1">
                <a:solidFill>
                  <a:srgbClr val="087F95"/>
                </a:solidFill>
              </a:defRPr>
            </a:lvl7pPr>
            <a:lvl8pPr>
              <a:defRPr sz="1650" b="1">
                <a:solidFill>
                  <a:srgbClr val="087F95"/>
                </a:solidFill>
              </a:defRPr>
            </a:lvl8pPr>
            <a:lvl9pPr>
              <a:defRPr sz="1650" b="1">
                <a:solidFill>
                  <a:srgbClr val="087F95"/>
                </a:solidFill>
              </a:defRPr>
            </a:lvl9pPr>
          </a:lstStyle>
          <a:p>
            <a:pPr>
              <a:defRPr sz="1650" b="1">
                <a:solidFill>
                  <a:srgbClr val="087F95"/>
                </a:solidFill>
              </a:defRPr>
            </a:pPr>
            <a:r>
              <a:rPr sz="1650" b="1">
                <a:solidFill>
                  <a:srgbClr val="087F95"/>
                </a:solidFill>
              </a:rPr>
              <a:t>JD-04: Simulation evidence</a:t>
            </a:r>
          </a:p>
        </p:txBody>
      </p:sp>
      <p:pic>
        <p:nvPicPr>
          <p:cNvPr id="6" name="Picture 5">
            <a:extLst>
              <a:ext uri="{FF2B5EF4-FFF2-40B4-BE49-F238E27FC236}">
                <a16:creationId xmlns:a16="http://schemas.microsoft.com/office/drawing/2014/main" id="{D39175E3-C605-4389-945A-DDCAAAAF35F8}"/>
              </a:ext>
            </a:extLst>
          </p:cNvPr>
          <p:cNvPicPr>
            <a:picLocks noChangeAspect="1"/>
          </p:cNvPicPr>
          <p:nvPr/>
        </p:nvPicPr>
        <p:blipFill>
          <a:blip r:embed="rId4"/>
          <a:stretch/>
        </p:blipFill>
        <p:spPr>
          <a:xfrm>
            <a:off x="770659" y="1924050"/>
            <a:ext cx="10650682" cy="3905250"/>
          </a:xfrm>
          <a:prstGeom prst="rect">
            <a:avLst/>
          </a:prstGeom>
        </p:spPr>
      </p:pic>
      <p:sp>
        <p:nvSpPr>
          <p:cNvPr id="7" name="152.1 °C nominal CPU surrogate     58.3 °C with an improved assum">
            <a:extLst>
              <a:ext uri="{FF2B5EF4-FFF2-40B4-BE49-F238E27FC236}">
                <a16:creationId xmlns:a16="http://schemas.microsoft.com/office/drawing/2014/main" id="{312A7228-00DA-4D86-9453-BC561E712E9F}"/>
              </a:ext>
            </a:extLst>
          </p:cNvPr>
          <p:cNvSpPr>
            <a:spLocks noGrp="1"/>
          </p:cNvSpPr>
          <p:nvPr/>
        </p:nvSpPr>
        <p:spPr>
          <a:xfrm>
            <a:off x="533400" y="5857875"/>
            <a:ext cx="11049000" cy="428625"/>
          </a:xfrm>
          <a:prstGeom prst="rect">
            <a:avLst/>
          </a:prstGeom>
          <a:noFill/>
          <a:ln w="0">
            <a:noFill/>
          </a:ln>
        </p:spPr>
        <p:txBody>
          <a:bodyPr lIns="0" tIns="0" rIns="0" bIns="0" anchor="t"/>
          <a:lstStyle>
            <a:defPPr>
              <a:defRPr sz="2025" b="1">
                <a:solidFill>
                  <a:srgbClr val="142B3D"/>
                </a:solidFill>
              </a:defRPr>
            </a:defPPr>
            <a:lvl1pPr>
              <a:defRPr sz="2025" b="1">
                <a:solidFill>
                  <a:srgbClr val="142B3D"/>
                </a:solidFill>
              </a:defRPr>
            </a:lvl1pPr>
            <a:lvl2pPr>
              <a:defRPr sz="2025" b="1">
                <a:solidFill>
                  <a:srgbClr val="142B3D"/>
                </a:solidFill>
              </a:defRPr>
            </a:lvl2pPr>
            <a:lvl3pPr>
              <a:defRPr sz="2025" b="1">
                <a:solidFill>
                  <a:srgbClr val="142B3D"/>
                </a:solidFill>
              </a:defRPr>
            </a:lvl3pPr>
            <a:lvl4pPr>
              <a:defRPr sz="2025" b="1">
                <a:solidFill>
                  <a:srgbClr val="142B3D"/>
                </a:solidFill>
              </a:defRPr>
            </a:lvl4pPr>
            <a:lvl5pPr>
              <a:defRPr sz="2025" b="1">
                <a:solidFill>
                  <a:srgbClr val="142B3D"/>
                </a:solidFill>
              </a:defRPr>
            </a:lvl5pPr>
            <a:lvl6pPr>
              <a:defRPr sz="2025" b="1">
                <a:solidFill>
                  <a:srgbClr val="142B3D"/>
                </a:solidFill>
              </a:defRPr>
            </a:lvl6pPr>
            <a:lvl7pPr>
              <a:defRPr sz="2025" b="1">
                <a:solidFill>
                  <a:srgbClr val="142B3D"/>
                </a:solidFill>
              </a:defRPr>
            </a:lvl7pPr>
            <a:lvl8pPr>
              <a:defRPr sz="2025" b="1">
                <a:solidFill>
                  <a:srgbClr val="142B3D"/>
                </a:solidFill>
              </a:defRPr>
            </a:lvl8pPr>
            <a:lvl9pPr>
              <a:defRPr sz="2025" b="1">
                <a:solidFill>
                  <a:srgbClr val="142B3D"/>
                </a:solidFill>
              </a:defRPr>
            </a:lvl9pPr>
          </a:lstStyle>
          <a:p>
            <a:pPr>
              <a:defRPr sz="2025" b="1">
                <a:solidFill>
                  <a:srgbClr val="142B3D"/>
                </a:solidFill>
              </a:defRPr>
            </a:pPr>
            <a:r>
              <a:rPr sz="2025" b="1">
                <a:solidFill>
                  <a:srgbClr val="142B3D"/>
                </a:solidFill>
              </a:rPr>
              <a:t>152.1 °C nominal CPU surrogate     58.3 °C with an improved assumed path</a:t>
            </a:r>
          </a:p>
        </p:txBody>
      </p:sp>
    </p:spTree>
    <p:extLst>
      <p:ext uri="{BB962C8B-B14F-4D97-AF65-F5344CB8AC3E}">
        <p14:creationId xmlns:p14="http://schemas.microsoft.com/office/powerpoint/2010/main" val="834054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Thermal requirements, margins and operating limits">
            <a:extLst>
              <a:ext uri="{FF2B5EF4-FFF2-40B4-BE49-F238E27FC236}">
                <a16:creationId xmlns:a16="http://schemas.microsoft.com/office/drawing/2014/main" id="{556946F6-EBC4-4E83-B9EE-9A359D6A88FA}"/>
              </a:ext>
            </a:extLst>
          </p:cNvPr>
          <p:cNvSpPr>
            <a:spLocks noGrp="1"/>
          </p:cNvSpPr>
          <p:nvPr/>
        </p:nvSpPr>
        <p:spPr>
          <a:xfrm>
            <a:off x="533400" y="361950"/>
            <a:ext cx="11125200" cy="1028700"/>
          </a:xfrm>
          <a:prstGeom prst="rect">
            <a:avLst/>
          </a:prstGeom>
          <a:noFill/>
          <a:ln w="0">
            <a:noFill/>
          </a:ln>
        </p:spPr>
        <p:txBody>
          <a:bodyPr lIns="0" tIns="0" rIns="0" bIns="0" anchor="t"/>
          <a:lstStyle>
            <a:defPPr>
              <a:defRPr sz="3150" b="1">
                <a:solidFill>
                  <a:srgbClr val="142B3D"/>
                </a:solidFill>
              </a:defRPr>
            </a:defPPr>
            <a:lvl1pPr>
              <a:defRPr sz="3150" b="1">
                <a:solidFill>
                  <a:srgbClr val="142B3D"/>
                </a:solidFill>
              </a:defRPr>
            </a:lvl1pPr>
            <a:lvl2pPr>
              <a:defRPr sz="3150" b="1">
                <a:solidFill>
                  <a:srgbClr val="142B3D"/>
                </a:solidFill>
              </a:defRPr>
            </a:lvl2pPr>
            <a:lvl3pPr>
              <a:defRPr sz="3150" b="1">
                <a:solidFill>
                  <a:srgbClr val="142B3D"/>
                </a:solidFill>
              </a:defRPr>
            </a:lvl3pPr>
            <a:lvl4pPr>
              <a:defRPr sz="3150" b="1">
                <a:solidFill>
                  <a:srgbClr val="142B3D"/>
                </a:solidFill>
              </a:defRPr>
            </a:lvl4pPr>
            <a:lvl5pPr>
              <a:defRPr sz="3150" b="1">
                <a:solidFill>
                  <a:srgbClr val="142B3D"/>
                </a:solidFill>
              </a:defRPr>
            </a:lvl5pPr>
            <a:lvl6pPr>
              <a:defRPr sz="3150" b="1">
                <a:solidFill>
                  <a:srgbClr val="142B3D"/>
                </a:solidFill>
              </a:defRPr>
            </a:lvl6pPr>
            <a:lvl7pPr>
              <a:defRPr sz="3150" b="1">
                <a:solidFill>
                  <a:srgbClr val="142B3D"/>
                </a:solidFill>
              </a:defRPr>
            </a:lvl7pPr>
            <a:lvl8pPr>
              <a:defRPr sz="3150" b="1">
                <a:solidFill>
                  <a:srgbClr val="142B3D"/>
                </a:solidFill>
              </a:defRPr>
            </a:lvl8pPr>
            <a:lvl9pPr>
              <a:defRPr sz="3150" b="1">
                <a:solidFill>
                  <a:srgbClr val="142B3D"/>
                </a:solidFill>
              </a:defRPr>
            </a:lvl9pPr>
          </a:lstStyle>
          <a:p>
            <a:pPr>
              <a:defRPr sz="3150" b="1">
                <a:solidFill>
                  <a:srgbClr val="142B3D"/>
                </a:solidFill>
              </a:defRPr>
            </a:pPr>
            <a:r>
              <a:rPr sz="3150" b="1">
                <a:solidFill>
                  <a:srgbClr val="142B3D"/>
                </a:solidFill>
              </a:rPr>
              <a:t>Thermal requirements, margins and operating limits</a:t>
            </a:r>
          </a:p>
        </p:txBody>
      </p:sp>
      <p:sp>
        <p:nvSpPr>
          <p:cNvPr id="2" name="Khani Solutions">
            <a:extLst>
              <a:ext uri="{FF2B5EF4-FFF2-40B4-BE49-F238E27FC236}">
                <a16:creationId xmlns:a16="http://schemas.microsoft.com/office/drawing/2014/main" id="{71A6B3AA-F814-491B-8655-B26325A7B435}"/>
              </a:ext>
            </a:extLst>
          </p:cNvPr>
          <p:cNvSpPr>
            <a:spLocks noGrp="1"/>
          </p:cNvSpPr>
          <p:nvPr/>
        </p:nvSpPr>
        <p:spPr>
          <a:xfrm>
            <a:off x="533400" y="6448425"/>
            <a:ext cx="2190750" cy="238125"/>
          </a:xfrm>
          <a:prstGeom prst="rect">
            <a:avLst/>
          </a:prstGeom>
          <a:noFill/>
          <a:ln w="0">
            <a:noFill/>
          </a:ln>
        </p:spPr>
        <p:txBody>
          <a:bodyPr lIns="0" tIns="0" rIns="0" bIns="0" anchor="t"/>
          <a:lstStyle>
            <a:defPPr>
              <a:defRPr sz="1350" b="0">
                <a:solidFill>
                  <a:srgbClr val="587081"/>
                </a:solidFill>
              </a:defRPr>
            </a:defPPr>
            <a:lvl1pPr>
              <a:defRPr sz="1350" b="0">
                <a:solidFill>
                  <a:srgbClr val="587081"/>
                </a:solidFill>
              </a:defRPr>
            </a:lvl1pPr>
            <a:lvl2pPr>
              <a:defRPr sz="1350" b="0">
                <a:solidFill>
                  <a:srgbClr val="587081"/>
                </a:solidFill>
              </a:defRPr>
            </a:lvl2pPr>
            <a:lvl3pPr>
              <a:defRPr sz="1350" b="0">
                <a:solidFill>
                  <a:srgbClr val="587081"/>
                </a:solidFill>
              </a:defRPr>
            </a:lvl3pPr>
            <a:lvl4pPr>
              <a:defRPr sz="1350" b="0">
                <a:solidFill>
                  <a:srgbClr val="587081"/>
                </a:solidFill>
              </a:defRPr>
            </a:lvl4pPr>
            <a:lvl5pPr>
              <a:defRPr sz="1350" b="0">
                <a:solidFill>
                  <a:srgbClr val="587081"/>
                </a:solidFill>
              </a:defRPr>
            </a:lvl5pPr>
            <a:lvl6pPr>
              <a:defRPr sz="1350" b="0">
                <a:solidFill>
                  <a:srgbClr val="587081"/>
                </a:solidFill>
              </a:defRPr>
            </a:lvl6pPr>
            <a:lvl7pPr>
              <a:defRPr sz="1350" b="0">
                <a:solidFill>
                  <a:srgbClr val="587081"/>
                </a:solidFill>
              </a:defRPr>
            </a:lvl7pPr>
            <a:lvl8pPr>
              <a:defRPr sz="1350" b="0">
                <a:solidFill>
                  <a:srgbClr val="587081"/>
                </a:solidFill>
              </a:defRPr>
            </a:lvl8pPr>
            <a:lvl9pPr>
              <a:defRPr sz="1350" b="0">
                <a:solidFill>
                  <a:srgbClr val="587081"/>
                </a:solidFill>
              </a:defRPr>
            </a:lvl9pPr>
          </a:lstStyle>
          <a:p>
            <a:pPr>
              <a:defRPr sz="1350" b="0">
                <a:solidFill>
                  <a:srgbClr val="587081"/>
                </a:solidFill>
              </a:defRPr>
            </a:pPr>
            <a:r>
              <a:rPr sz="1350" b="0">
                <a:solidFill>
                  <a:srgbClr val="587081"/>
                </a:solidFill>
              </a:rPr>
              <a:t>Khani Solutions</a:t>
            </a:r>
          </a:p>
        </p:txBody>
      </p:sp>
      <p:sp>
        <p:nvSpPr>
          <p:cNvPr id="3" name="11 / 20">
            <a:extLst>
              <a:ext uri="{FF2B5EF4-FFF2-40B4-BE49-F238E27FC236}">
                <a16:creationId xmlns:a16="http://schemas.microsoft.com/office/drawing/2014/main" id="{2D037EF4-6835-4AAF-B3D7-54E1FA9261A6}"/>
              </a:ext>
            </a:extLst>
          </p:cNvPr>
          <p:cNvSpPr>
            <a:spLocks noGrp="1"/>
          </p:cNvSpPr>
          <p:nvPr/>
        </p:nvSpPr>
        <p:spPr>
          <a:xfrm>
            <a:off x="10896600" y="6448425"/>
            <a:ext cx="857250" cy="238125"/>
          </a:xfrm>
          <a:prstGeom prst="rect">
            <a:avLst/>
          </a:prstGeom>
          <a:noFill/>
          <a:ln w="0">
            <a:noFill/>
          </a:ln>
        </p:spPr>
        <p:txBody>
          <a:bodyPr lIns="0" tIns="0" rIns="0" bIns="0" anchor="t"/>
          <a:lstStyle>
            <a:defPPr>
              <a:defRPr sz="1350" b="0">
                <a:solidFill>
                  <a:srgbClr val="587081"/>
                </a:solidFill>
              </a:defRPr>
            </a:defPPr>
            <a:lvl1pPr>
              <a:defRPr sz="1350" b="0">
                <a:solidFill>
                  <a:srgbClr val="587081"/>
                </a:solidFill>
              </a:defRPr>
            </a:lvl1pPr>
            <a:lvl2pPr>
              <a:defRPr sz="1350" b="0">
                <a:solidFill>
                  <a:srgbClr val="587081"/>
                </a:solidFill>
              </a:defRPr>
            </a:lvl2pPr>
            <a:lvl3pPr>
              <a:defRPr sz="1350" b="0">
                <a:solidFill>
                  <a:srgbClr val="587081"/>
                </a:solidFill>
              </a:defRPr>
            </a:lvl3pPr>
            <a:lvl4pPr>
              <a:defRPr sz="1350" b="0">
                <a:solidFill>
                  <a:srgbClr val="587081"/>
                </a:solidFill>
              </a:defRPr>
            </a:lvl4pPr>
            <a:lvl5pPr>
              <a:defRPr sz="1350" b="0">
                <a:solidFill>
                  <a:srgbClr val="587081"/>
                </a:solidFill>
              </a:defRPr>
            </a:lvl5pPr>
            <a:lvl6pPr>
              <a:defRPr sz="1350" b="0">
                <a:solidFill>
                  <a:srgbClr val="587081"/>
                </a:solidFill>
              </a:defRPr>
            </a:lvl6pPr>
            <a:lvl7pPr>
              <a:defRPr sz="1350" b="0">
                <a:solidFill>
                  <a:srgbClr val="587081"/>
                </a:solidFill>
              </a:defRPr>
            </a:lvl7pPr>
            <a:lvl8pPr>
              <a:defRPr sz="1350" b="0">
                <a:solidFill>
                  <a:srgbClr val="587081"/>
                </a:solidFill>
              </a:defRPr>
            </a:lvl8pPr>
            <a:lvl9pPr>
              <a:defRPr sz="1350" b="0">
                <a:solidFill>
                  <a:srgbClr val="587081"/>
                </a:solidFill>
              </a:defRPr>
            </a:lvl9pPr>
          </a:lstStyle>
          <a:p>
            <a:pPr>
              <a:defRPr sz="1350" b="0">
                <a:solidFill>
                  <a:srgbClr val="587081"/>
                </a:solidFill>
              </a:defRPr>
            </a:pPr>
            <a:r>
              <a:rPr sz="1350" b="0">
                <a:solidFill>
                  <a:srgbClr val="587081"/>
                </a:solidFill>
              </a:rPr>
              <a:t>11 / 20</a:t>
            </a:r>
          </a:p>
        </p:txBody>
      </p:sp>
      <p:sp>
        <p:nvSpPr>
          <p:cNvPr id="4" name="Detailed evidence on the website">
            <a:extLst>
              <a:ext uri="{FF2B5EF4-FFF2-40B4-BE49-F238E27FC236}">
                <a16:creationId xmlns:a16="http://schemas.microsoft.com/office/drawing/2014/main" id="{2C8FB505-3162-4C46-BE7C-A968374AC22F}"/>
              </a:ext>
            </a:extLst>
          </p:cNvPr>
          <p:cNvSpPr>
            <a:spLocks noGrp="1"/>
          </p:cNvSpPr>
          <p:nvPr/>
        </p:nvSpPr>
        <p:spPr>
          <a:xfrm>
            <a:off x="7000875" y="6448425"/>
            <a:ext cx="3476625" cy="238125"/>
          </a:xfrm>
          <a:prstGeom prst="rect">
            <a:avLst/>
          </a:prstGeom>
          <a:noFill/>
          <a:ln w="0">
            <a:noFill/>
          </a:ln>
        </p:spPr>
        <p:txBody>
          <a:bodyPr lIns="0" tIns="0" rIns="0" bIns="0" anchor="t"/>
          <a:lstStyle>
            <a:defPPr>
              <a:defRPr sz="1350" b="0">
                <a:solidFill>
                  <a:srgbClr val="087F95"/>
                </a:solidFill>
              </a:defRPr>
            </a:defPPr>
            <a:lvl1pPr>
              <a:defRPr sz="1350" b="0">
                <a:solidFill>
                  <a:srgbClr val="087F95"/>
                </a:solidFill>
              </a:defRPr>
            </a:lvl1pPr>
            <a:lvl2pPr>
              <a:defRPr sz="1350" b="0">
                <a:solidFill>
                  <a:srgbClr val="087F95"/>
                </a:solidFill>
              </a:defRPr>
            </a:lvl2pPr>
            <a:lvl3pPr>
              <a:defRPr sz="1350" b="0">
                <a:solidFill>
                  <a:srgbClr val="087F95"/>
                </a:solidFill>
              </a:defRPr>
            </a:lvl3pPr>
            <a:lvl4pPr>
              <a:defRPr sz="1350" b="0">
                <a:solidFill>
                  <a:srgbClr val="087F95"/>
                </a:solidFill>
              </a:defRPr>
            </a:lvl4pPr>
            <a:lvl5pPr>
              <a:defRPr sz="1350" b="0">
                <a:solidFill>
                  <a:srgbClr val="087F95"/>
                </a:solidFill>
              </a:defRPr>
            </a:lvl5pPr>
            <a:lvl6pPr>
              <a:defRPr sz="1350" b="0">
                <a:solidFill>
                  <a:srgbClr val="087F95"/>
                </a:solidFill>
              </a:defRPr>
            </a:lvl6pPr>
            <a:lvl7pPr>
              <a:defRPr sz="1350" b="0">
                <a:solidFill>
                  <a:srgbClr val="087F95"/>
                </a:solidFill>
              </a:defRPr>
            </a:lvl7pPr>
            <a:lvl8pPr>
              <a:defRPr sz="1350" b="0">
                <a:solidFill>
                  <a:srgbClr val="087F95"/>
                </a:solidFill>
              </a:defRPr>
            </a:lvl8pPr>
            <a:lvl9pPr>
              <a:defRPr sz="1350" b="0">
                <a:solidFill>
                  <a:srgbClr val="087F95"/>
                </a:solidFill>
              </a:defRPr>
            </a:lvl9pPr>
          </a:lstStyle>
          <a:p>
            <a:pPr>
              <a:defRPr sz="1350" b="0">
                <a:solidFill>
                  <a:srgbClr val="087F95"/>
                </a:solidFill>
              </a:defRPr>
            </a:pPr>
            <a:r>
              <a:rPr sz="1350" b="0">
                <a:solidFill>
                  <a:srgbClr val="087F95"/>
                </a:solidFill>
                <a:hlinkClick r:id="rId3"/>
              </a:rPr>
              <a:t>Detailed evidence on the website</a:t>
            </a:r>
          </a:p>
        </p:txBody>
      </p:sp>
      <p:sp>
        <p:nvSpPr>
          <p:cNvPr id="5" name="JD-05: Simulation evidence">
            <a:extLst>
              <a:ext uri="{FF2B5EF4-FFF2-40B4-BE49-F238E27FC236}">
                <a16:creationId xmlns:a16="http://schemas.microsoft.com/office/drawing/2014/main" id="{B203DFA5-08ED-4AAE-8AB1-055641C9042F}"/>
              </a:ext>
            </a:extLst>
          </p:cNvPr>
          <p:cNvSpPr>
            <a:spLocks noGrp="1"/>
          </p:cNvSpPr>
          <p:nvPr/>
        </p:nvSpPr>
        <p:spPr>
          <a:xfrm>
            <a:off x="533400" y="1371600"/>
            <a:ext cx="10477500" cy="276225"/>
          </a:xfrm>
          <a:prstGeom prst="rect">
            <a:avLst/>
          </a:prstGeom>
          <a:noFill/>
          <a:ln w="0">
            <a:noFill/>
          </a:ln>
        </p:spPr>
        <p:txBody>
          <a:bodyPr lIns="0" tIns="0" rIns="0" bIns="0" anchor="t"/>
          <a:lstStyle>
            <a:defPPr>
              <a:defRPr sz="1650" b="1">
                <a:solidFill>
                  <a:srgbClr val="087F95"/>
                </a:solidFill>
              </a:defRPr>
            </a:defPPr>
            <a:lvl1pPr>
              <a:defRPr sz="1650" b="1">
                <a:solidFill>
                  <a:srgbClr val="087F95"/>
                </a:solidFill>
              </a:defRPr>
            </a:lvl1pPr>
            <a:lvl2pPr>
              <a:defRPr sz="1650" b="1">
                <a:solidFill>
                  <a:srgbClr val="087F95"/>
                </a:solidFill>
              </a:defRPr>
            </a:lvl2pPr>
            <a:lvl3pPr>
              <a:defRPr sz="1650" b="1">
                <a:solidFill>
                  <a:srgbClr val="087F95"/>
                </a:solidFill>
              </a:defRPr>
            </a:lvl3pPr>
            <a:lvl4pPr>
              <a:defRPr sz="1650" b="1">
                <a:solidFill>
                  <a:srgbClr val="087F95"/>
                </a:solidFill>
              </a:defRPr>
            </a:lvl4pPr>
            <a:lvl5pPr>
              <a:defRPr sz="1650" b="1">
                <a:solidFill>
                  <a:srgbClr val="087F95"/>
                </a:solidFill>
              </a:defRPr>
            </a:lvl5pPr>
            <a:lvl6pPr>
              <a:defRPr sz="1650" b="1">
                <a:solidFill>
                  <a:srgbClr val="087F95"/>
                </a:solidFill>
              </a:defRPr>
            </a:lvl6pPr>
            <a:lvl7pPr>
              <a:defRPr sz="1650" b="1">
                <a:solidFill>
                  <a:srgbClr val="087F95"/>
                </a:solidFill>
              </a:defRPr>
            </a:lvl7pPr>
            <a:lvl8pPr>
              <a:defRPr sz="1650" b="1">
                <a:solidFill>
                  <a:srgbClr val="087F95"/>
                </a:solidFill>
              </a:defRPr>
            </a:lvl8pPr>
            <a:lvl9pPr>
              <a:defRPr sz="1650" b="1">
                <a:solidFill>
                  <a:srgbClr val="087F95"/>
                </a:solidFill>
              </a:defRPr>
            </a:lvl9pPr>
          </a:lstStyle>
          <a:p>
            <a:pPr>
              <a:defRPr sz="1650" b="1">
                <a:solidFill>
                  <a:srgbClr val="087F95"/>
                </a:solidFill>
              </a:defRPr>
            </a:pPr>
            <a:r>
              <a:rPr sz="1650" b="1">
                <a:solidFill>
                  <a:srgbClr val="087F95"/>
                </a:solidFill>
              </a:rPr>
              <a:t>JD-05: Simulation evidence</a:t>
            </a:r>
          </a:p>
        </p:txBody>
      </p:sp>
      <p:graphicFrame>
        <p:nvGraphicFramePr>
          <p:cNvPr id="6" name="Chart">
            <a:extLst>
              <a:ext uri="{FF2B5EF4-FFF2-40B4-BE49-F238E27FC236}">
                <a16:creationId xmlns:a16="http://schemas.microsoft.com/office/drawing/2014/main" id="{6E06700E-6AA4-4F53-8918-EC8C1238CC17}"/>
              </a:ext>
            </a:extLst>
          </p:cNvPr>
          <p:cNvGraphicFramePr/>
          <p:nvPr/>
        </p:nvGraphicFramePr>
        <p:xfrm>
          <a:off x="447675" y="2000250"/>
          <a:ext cx="7810500" cy="3571875"/>
        </p:xfrm>
        <a:graphic>
          <a:graphicData uri="http://schemas.openxmlformats.org/drawingml/2006/chart">
            <c:chart xmlns:c="http://schemas.openxmlformats.org/drawingml/2006/chart" xmlns:r="http://schemas.openxmlformats.org/officeDocument/2006/relationships" r:id="rId4"/>
          </a:graphicData>
        </a:graphic>
      </p:graphicFrame>
      <p:sp>
        <p:nvSpPr>
          <p:cNvPr id="7" name="8.2 K">
            <a:extLst>
              <a:ext uri="{FF2B5EF4-FFF2-40B4-BE49-F238E27FC236}">
                <a16:creationId xmlns:a16="http://schemas.microsoft.com/office/drawing/2014/main" id="{7BBF91C6-4FF7-4759-A330-9C6475FF3F63}"/>
              </a:ext>
            </a:extLst>
          </p:cNvPr>
          <p:cNvSpPr>
            <a:spLocks noGrp="1"/>
          </p:cNvSpPr>
          <p:nvPr/>
        </p:nvSpPr>
        <p:spPr>
          <a:xfrm>
            <a:off x="8782050" y="2152650"/>
            <a:ext cx="2809875" cy="609600"/>
          </a:xfrm>
          <a:prstGeom prst="rect">
            <a:avLst/>
          </a:prstGeom>
          <a:noFill/>
          <a:ln w="0">
            <a:noFill/>
          </a:ln>
        </p:spPr>
        <p:txBody>
          <a:bodyPr lIns="0" tIns="0" rIns="0" bIns="0" anchor="t"/>
          <a:lstStyle>
            <a:defPPr>
              <a:defRPr sz="3900" b="1">
                <a:solidFill>
                  <a:srgbClr val="087F95"/>
                </a:solidFill>
              </a:defRPr>
            </a:defPPr>
            <a:lvl1pPr>
              <a:defRPr sz="3900" b="1">
                <a:solidFill>
                  <a:srgbClr val="087F95"/>
                </a:solidFill>
              </a:defRPr>
            </a:lvl1pPr>
            <a:lvl2pPr>
              <a:defRPr sz="3900" b="1">
                <a:solidFill>
                  <a:srgbClr val="087F95"/>
                </a:solidFill>
              </a:defRPr>
            </a:lvl2pPr>
            <a:lvl3pPr>
              <a:defRPr sz="3900" b="1">
                <a:solidFill>
                  <a:srgbClr val="087F95"/>
                </a:solidFill>
              </a:defRPr>
            </a:lvl3pPr>
            <a:lvl4pPr>
              <a:defRPr sz="3900" b="1">
                <a:solidFill>
                  <a:srgbClr val="087F95"/>
                </a:solidFill>
              </a:defRPr>
            </a:lvl4pPr>
            <a:lvl5pPr>
              <a:defRPr sz="3900" b="1">
                <a:solidFill>
                  <a:srgbClr val="087F95"/>
                </a:solidFill>
              </a:defRPr>
            </a:lvl5pPr>
            <a:lvl6pPr>
              <a:defRPr sz="3900" b="1">
                <a:solidFill>
                  <a:srgbClr val="087F95"/>
                </a:solidFill>
              </a:defRPr>
            </a:lvl6pPr>
            <a:lvl7pPr>
              <a:defRPr sz="3900" b="1">
                <a:solidFill>
                  <a:srgbClr val="087F95"/>
                </a:solidFill>
              </a:defRPr>
            </a:lvl7pPr>
            <a:lvl8pPr>
              <a:defRPr sz="3900" b="1">
                <a:solidFill>
                  <a:srgbClr val="087F95"/>
                </a:solidFill>
              </a:defRPr>
            </a:lvl8pPr>
            <a:lvl9pPr>
              <a:defRPr sz="3900" b="1">
                <a:solidFill>
                  <a:srgbClr val="087F95"/>
                </a:solidFill>
              </a:defRPr>
            </a:lvl9pPr>
          </a:lstStyle>
          <a:p>
            <a:pPr>
              <a:defRPr sz="3900" b="1">
                <a:solidFill>
                  <a:srgbClr val="087F95"/>
                </a:solidFill>
              </a:defRPr>
            </a:pPr>
            <a:r>
              <a:rPr sz="3900" b="1">
                <a:solidFill>
                  <a:srgbClr val="087F95"/>
                </a:solidFill>
              </a:rPr>
              <a:t>8.2 K</a:t>
            </a:r>
          </a:p>
        </p:txBody>
      </p:sp>
      <p:sp>
        <p:nvSpPr>
          <p:cNvPr id="8" name="Nominal hot margin to the chosen 70°C screen">
            <a:extLst>
              <a:ext uri="{FF2B5EF4-FFF2-40B4-BE49-F238E27FC236}">
                <a16:creationId xmlns:a16="http://schemas.microsoft.com/office/drawing/2014/main" id="{CC9F2075-AD48-4E1D-81A7-9924CFF3FCE0}"/>
              </a:ext>
            </a:extLst>
          </p:cNvPr>
          <p:cNvSpPr>
            <a:spLocks noGrp="1"/>
          </p:cNvSpPr>
          <p:nvPr/>
        </p:nvSpPr>
        <p:spPr>
          <a:xfrm>
            <a:off x="8782050" y="2790825"/>
            <a:ext cx="2809875" cy="742950"/>
          </a:xfrm>
          <a:prstGeom prst="rect">
            <a:avLst/>
          </a:prstGeom>
          <a:noFill/>
          <a:ln w="0">
            <a:noFill/>
          </a:ln>
        </p:spPr>
        <p:txBody>
          <a:bodyPr lIns="0" tIns="0" rIns="0" bIns="0" anchor="t"/>
          <a:lstStyle>
            <a:defPPr>
              <a:defRPr sz="1725" b="0">
                <a:solidFill>
                  <a:srgbClr val="587081"/>
                </a:solidFill>
              </a:defRPr>
            </a:defPPr>
            <a:lvl1pPr>
              <a:defRPr sz="1725" b="0">
                <a:solidFill>
                  <a:srgbClr val="587081"/>
                </a:solidFill>
              </a:defRPr>
            </a:lvl1pPr>
            <a:lvl2pPr>
              <a:defRPr sz="1725" b="0">
                <a:solidFill>
                  <a:srgbClr val="587081"/>
                </a:solidFill>
              </a:defRPr>
            </a:lvl2pPr>
            <a:lvl3pPr>
              <a:defRPr sz="1725" b="0">
                <a:solidFill>
                  <a:srgbClr val="587081"/>
                </a:solidFill>
              </a:defRPr>
            </a:lvl3pPr>
            <a:lvl4pPr>
              <a:defRPr sz="1725" b="0">
                <a:solidFill>
                  <a:srgbClr val="587081"/>
                </a:solidFill>
              </a:defRPr>
            </a:lvl4pPr>
            <a:lvl5pPr>
              <a:defRPr sz="1725" b="0">
                <a:solidFill>
                  <a:srgbClr val="587081"/>
                </a:solidFill>
              </a:defRPr>
            </a:lvl5pPr>
            <a:lvl6pPr>
              <a:defRPr sz="1725" b="0">
                <a:solidFill>
                  <a:srgbClr val="587081"/>
                </a:solidFill>
              </a:defRPr>
            </a:lvl6pPr>
            <a:lvl7pPr>
              <a:defRPr sz="1725" b="0">
                <a:solidFill>
                  <a:srgbClr val="587081"/>
                </a:solidFill>
              </a:defRPr>
            </a:lvl7pPr>
            <a:lvl8pPr>
              <a:defRPr sz="1725" b="0">
                <a:solidFill>
                  <a:srgbClr val="587081"/>
                </a:solidFill>
              </a:defRPr>
            </a:lvl8pPr>
            <a:lvl9pPr>
              <a:defRPr sz="1725" b="0">
                <a:solidFill>
                  <a:srgbClr val="587081"/>
                </a:solidFill>
              </a:defRPr>
            </a:lvl9pPr>
          </a:lstStyle>
          <a:p>
            <a:pPr>
              <a:defRPr sz="1725" b="0">
                <a:solidFill>
                  <a:srgbClr val="587081"/>
                </a:solidFill>
              </a:defRPr>
            </a:pPr>
            <a:r>
              <a:rPr sz="1725" b="0">
                <a:solidFill>
                  <a:srgbClr val="587081"/>
                </a:solidFill>
              </a:rPr>
              <a:t>Nominal hot margin to the chosen 70°C screen</a:t>
            </a:r>
          </a:p>
        </p:txBody>
      </p:sp>
      <p:sp>
        <p:nvSpPr>
          <p:cNvPr id="9" name="2.7 K">
            <a:extLst>
              <a:ext uri="{FF2B5EF4-FFF2-40B4-BE49-F238E27FC236}">
                <a16:creationId xmlns:a16="http://schemas.microsoft.com/office/drawing/2014/main" id="{D48CC20D-D932-434F-8919-37803C748BA0}"/>
              </a:ext>
            </a:extLst>
          </p:cNvPr>
          <p:cNvSpPr>
            <a:spLocks noGrp="1"/>
          </p:cNvSpPr>
          <p:nvPr/>
        </p:nvSpPr>
        <p:spPr>
          <a:xfrm>
            <a:off x="8782050" y="3981450"/>
            <a:ext cx="2809875" cy="609600"/>
          </a:xfrm>
          <a:prstGeom prst="rect">
            <a:avLst/>
          </a:prstGeom>
          <a:noFill/>
          <a:ln w="0">
            <a:noFill/>
          </a:ln>
        </p:spPr>
        <p:txBody>
          <a:bodyPr lIns="0" tIns="0" rIns="0" bIns="0" anchor="t"/>
          <a:lstStyle>
            <a:defPPr>
              <a:defRPr sz="3900" b="1">
                <a:solidFill>
                  <a:srgbClr val="087F95"/>
                </a:solidFill>
              </a:defRPr>
            </a:defPPr>
            <a:lvl1pPr>
              <a:defRPr sz="3900" b="1">
                <a:solidFill>
                  <a:srgbClr val="087F95"/>
                </a:solidFill>
              </a:defRPr>
            </a:lvl1pPr>
            <a:lvl2pPr>
              <a:defRPr sz="3900" b="1">
                <a:solidFill>
                  <a:srgbClr val="087F95"/>
                </a:solidFill>
              </a:defRPr>
            </a:lvl2pPr>
            <a:lvl3pPr>
              <a:defRPr sz="3900" b="1">
                <a:solidFill>
                  <a:srgbClr val="087F95"/>
                </a:solidFill>
              </a:defRPr>
            </a:lvl3pPr>
            <a:lvl4pPr>
              <a:defRPr sz="3900" b="1">
                <a:solidFill>
                  <a:srgbClr val="087F95"/>
                </a:solidFill>
              </a:defRPr>
            </a:lvl4pPr>
            <a:lvl5pPr>
              <a:defRPr sz="3900" b="1">
                <a:solidFill>
                  <a:srgbClr val="087F95"/>
                </a:solidFill>
              </a:defRPr>
            </a:lvl5pPr>
            <a:lvl6pPr>
              <a:defRPr sz="3900" b="1">
                <a:solidFill>
                  <a:srgbClr val="087F95"/>
                </a:solidFill>
              </a:defRPr>
            </a:lvl6pPr>
            <a:lvl7pPr>
              <a:defRPr sz="3900" b="1">
                <a:solidFill>
                  <a:srgbClr val="087F95"/>
                </a:solidFill>
              </a:defRPr>
            </a:lvl7pPr>
            <a:lvl8pPr>
              <a:defRPr sz="3900" b="1">
                <a:solidFill>
                  <a:srgbClr val="087F95"/>
                </a:solidFill>
              </a:defRPr>
            </a:lvl8pPr>
            <a:lvl9pPr>
              <a:defRPr sz="3900" b="1">
                <a:solidFill>
                  <a:srgbClr val="087F95"/>
                </a:solidFill>
              </a:defRPr>
            </a:lvl9pPr>
          </a:lstStyle>
          <a:p>
            <a:pPr>
              <a:defRPr sz="3900" b="1">
                <a:solidFill>
                  <a:srgbClr val="087F95"/>
                </a:solidFill>
              </a:defRPr>
            </a:pPr>
            <a:r>
              <a:rPr sz="3900" b="1">
                <a:solidFill>
                  <a:srgbClr val="087F95"/>
                </a:solidFill>
              </a:rPr>
              <a:t>2.7 K</a:t>
            </a:r>
          </a:p>
        </p:txBody>
      </p:sp>
      <p:sp>
        <p:nvSpPr>
          <p:cNvPr id="10" name="Hot isolated-equilibrium margin">
            <a:extLst>
              <a:ext uri="{FF2B5EF4-FFF2-40B4-BE49-F238E27FC236}">
                <a16:creationId xmlns:a16="http://schemas.microsoft.com/office/drawing/2014/main" id="{6803F58B-3B98-49AE-B60C-3F1AE8FBEA69}"/>
              </a:ext>
            </a:extLst>
          </p:cNvPr>
          <p:cNvSpPr>
            <a:spLocks noGrp="1"/>
          </p:cNvSpPr>
          <p:nvPr/>
        </p:nvSpPr>
        <p:spPr>
          <a:xfrm>
            <a:off x="8782050" y="4619625"/>
            <a:ext cx="2809875" cy="742950"/>
          </a:xfrm>
          <a:prstGeom prst="rect">
            <a:avLst/>
          </a:prstGeom>
          <a:noFill/>
          <a:ln w="0">
            <a:noFill/>
          </a:ln>
        </p:spPr>
        <p:txBody>
          <a:bodyPr lIns="0" tIns="0" rIns="0" bIns="0" anchor="t"/>
          <a:lstStyle>
            <a:defPPr>
              <a:defRPr sz="1725" b="0">
                <a:solidFill>
                  <a:srgbClr val="587081"/>
                </a:solidFill>
              </a:defRPr>
            </a:defPPr>
            <a:lvl1pPr>
              <a:defRPr sz="1725" b="0">
                <a:solidFill>
                  <a:srgbClr val="587081"/>
                </a:solidFill>
              </a:defRPr>
            </a:lvl1pPr>
            <a:lvl2pPr>
              <a:defRPr sz="1725" b="0">
                <a:solidFill>
                  <a:srgbClr val="587081"/>
                </a:solidFill>
              </a:defRPr>
            </a:lvl2pPr>
            <a:lvl3pPr>
              <a:defRPr sz="1725" b="0">
                <a:solidFill>
                  <a:srgbClr val="587081"/>
                </a:solidFill>
              </a:defRPr>
            </a:lvl3pPr>
            <a:lvl4pPr>
              <a:defRPr sz="1725" b="0">
                <a:solidFill>
                  <a:srgbClr val="587081"/>
                </a:solidFill>
              </a:defRPr>
            </a:lvl4pPr>
            <a:lvl5pPr>
              <a:defRPr sz="1725" b="0">
                <a:solidFill>
                  <a:srgbClr val="587081"/>
                </a:solidFill>
              </a:defRPr>
            </a:lvl5pPr>
            <a:lvl6pPr>
              <a:defRPr sz="1725" b="0">
                <a:solidFill>
                  <a:srgbClr val="587081"/>
                </a:solidFill>
              </a:defRPr>
            </a:lvl6pPr>
            <a:lvl7pPr>
              <a:defRPr sz="1725" b="0">
                <a:solidFill>
                  <a:srgbClr val="587081"/>
                </a:solidFill>
              </a:defRPr>
            </a:lvl7pPr>
            <a:lvl8pPr>
              <a:defRPr sz="1725" b="0">
                <a:solidFill>
                  <a:srgbClr val="587081"/>
                </a:solidFill>
              </a:defRPr>
            </a:lvl8pPr>
            <a:lvl9pPr>
              <a:defRPr sz="1725" b="0">
                <a:solidFill>
                  <a:srgbClr val="587081"/>
                </a:solidFill>
              </a:defRPr>
            </a:lvl9pPr>
          </a:lstStyle>
          <a:p>
            <a:pPr>
              <a:defRPr sz="1725" b="0">
                <a:solidFill>
                  <a:srgbClr val="587081"/>
                </a:solidFill>
              </a:defRPr>
            </a:pPr>
            <a:r>
              <a:rPr sz="1725" b="0">
                <a:solidFill>
                  <a:srgbClr val="587081"/>
                </a:solidFill>
              </a:rPr>
              <a:t>Hot isolated-equilibrium margin</a:t>
            </a:r>
          </a:p>
        </p:txBody>
      </p:sp>
      <p:sp>
        <p:nvSpPr>
          <p:cNvPr id="11" name="Chosen telecom case screen: −10 to 70°C. These limits require act">
            <a:extLst>
              <a:ext uri="{FF2B5EF4-FFF2-40B4-BE49-F238E27FC236}">
                <a16:creationId xmlns:a16="http://schemas.microsoft.com/office/drawing/2014/main" id="{6E06C48C-2712-41F5-AEC3-FAF628FCC0A8}"/>
              </a:ext>
            </a:extLst>
          </p:cNvPr>
          <p:cNvSpPr>
            <a:spLocks noGrp="1"/>
          </p:cNvSpPr>
          <p:nvPr/>
        </p:nvSpPr>
        <p:spPr>
          <a:xfrm>
            <a:off x="533400" y="5857875"/>
            <a:ext cx="10953750" cy="428625"/>
          </a:xfrm>
          <a:prstGeom prst="rect">
            <a:avLst/>
          </a:prstGeom>
          <a:noFill/>
          <a:ln w="0">
            <a:noFill/>
          </a:ln>
        </p:spPr>
        <p:txBody>
          <a:bodyPr lIns="0" tIns="0" rIns="0" bIns="0" anchor="t"/>
          <a:lstStyle>
            <a:defPPr>
              <a:defRPr sz="1800" b="0">
                <a:solidFill>
                  <a:srgbClr val="587081"/>
                </a:solidFill>
              </a:defRPr>
            </a:defPPr>
            <a:lvl1pPr>
              <a:defRPr sz="1800" b="0">
                <a:solidFill>
                  <a:srgbClr val="587081"/>
                </a:solidFill>
              </a:defRPr>
            </a:lvl1pPr>
            <a:lvl2pPr>
              <a:defRPr sz="1800" b="0">
                <a:solidFill>
                  <a:srgbClr val="587081"/>
                </a:solidFill>
              </a:defRPr>
            </a:lvl2pPr>
            <a:lvl3pPr>
              <a:defRPr sz="1800" b="0">
                <a:solidFill>
                  <a:srgbClr val="587081"/>
                </a:solidFill>
              </a:defRPr>
            </a:lvl3pPr>
            <a:lvl4pPr>
              <a:defRPr sz="1800" b="0">
                <a:solidFill>
                  <a:srgbClr val="587081"/>
                </a:solidFill>
              </a:defRPr>
            </a:lvl4pPr>
            <a:lvl5pPr>
              <a:defRPr sz="1800" b="0">
                <a:solidFill>
                  <a:srgbClr val="587081"/>
                </a:solidFill>
              </a:defRPr>
            </a:lvl5pPr>
            <a:lvl6pPr>
              <a:defRPr sz="1800" b="0">
                <a:solidFill>
                  <a:srgbClr val="587081"/>
                </a:solidFill>
              </a:defRPr>
            </a:lvl6pPr>
            <a:lvl7pPr>
              <a:defRPr sz="1800" b="0">
                <a:solidFill>
                  <a:srgbClr val="587081"/>
                </a:solidFill>
              </a:defRPr>
            </a:lvl7pPr>
            <a:lvl8pPr>
              <a:defRPr sz="1800" b="0">
                <a:solidFill>
                  <a:srgbClr val="587081"/>
                </a:solidFill>
              </a:defRPr>
            </a:lvl8pPr>
            <a:lvl9pPr>
              <a:defRPr sz="1800" b="0">
                <a:solidFill>
                  <a:srgbClr val="587081"/>
                </a:solidFill>
              </a:defRPr>
            </a:lvl9pPr>
          </a:lstStyle>
          <a:p>
            <a:pPr>
              <a:defRPr sz="1800" b="0">
                <a:solidFill>
                  <a:srgbClr val="587081"/>
                </a:solidFill>
              </a:defRPr>
            </a:pPr>
            <a:r>
              <a:rPr sz="1800" b="0">
                <a:solidFill>
                  <a:srgbClr val="587081"/>
                </a:solidFill>
              </a:rPr>
              <a:t>Chosen telecom case screen: −10 to 70°C. These limits require actual part approval.</a:t>
            </a:r>
          </a:p>
        </p:txBody>
      </p:sp>
    </p:spTree>
    <p:extLst>
      <p:ext uri="{BB962C8B-B14F-4D97-AF65-F5344CB8AC3E}">
        <p14:creationId xmlns:p14="http://schemas.microsoft.com/office/powerpoint/2010/main" val="20296052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hermal-vacuum, altitude and cycling test planning">
            <a:extLst>
              <a:ext uri="{FF2B5EF4-FFF2-40B4-BE49-F238E27FC236}">
                <a16:creationId xmlns:a16="http://schemas.microsoft.com/office/drawing/2014/main" id="{8A051598-46E7-4B6B-8167-F2B7D5CDFD12}"/>
              </a:ext>
            </a:extLst>
          </p:cNvPr>
          <p:cNvSpPr>
            <a:spLocks noGrp="1"/>
          </p:cNvSpPr>
          <p:nvPr/>
        </p:nvSpPr>
        <p:spPr>
          <a:xfrm>
            <a:off x="533400" y="361950"/>
            <a:ext cx="11125200" cy="1028700"/>
          </a:xfrm>
          <a:prstGeom prst="rect">
            <a:avLst/>
          </a:prstGeom>
          <a:noFill/>
          <a:ln w="0">
            <a:noFill/>
          </a:ln>
        </p:spPr>
        <p:txBody>
          <a:bodyPr lIns="0" tIns="0" rIns="0" bIns="0" anchor="t"/>
          <a:lstStyle>
            <a:defPPr>
              <a:defRPr sz="3150" b="1">
                <a:solidFill>
                  <a:srgbClr val="142B3D"/>
                </a:solidFill>
              </a:defRPr>
            </a:defPPr>
            <a:lvl1pPr>
              <a:defRPr sz="3150" b="1">
                <a:solidFill>
                  <a:srgbClr val="142B3D"/>
                </a:solidFill>
              </a:defRPr>
            </a:lvl1pPr>
            <a:lvl2pPr>
              <a:defRPr sz="3150" b="1">
                <a:solidFill>
                  <a:srgbClr val="142B3D"/>
                </a:solidFill>
              </a:defRPr>
            </a:lvl2pPr>
            <a:lvl3pPr>
              <a:defRPr sz="3150" b="1">
                <a:solidFill>
                  <a:srgbClr val="142B3D"/>
                </a:solidFill>
              </a:defRPr>
            </a:lvl3pPr>
            <a:lvl4pPr>
              <a:defRPr sz="3150" b="1">
                <a:solidFill>
                  <a:srgbClr val="142B3D"/>
                </a:solidFill>
              </a:defRPr>
            </a:lvl4pPr>
            <a:lvl5pPr>
              <a:defRPr sz="3150" b="1">
                <a:solidFill>
                  <a:srgbClr val="142B3D"/>
                </a:solidFill>
              </a:defRPr>
            </a:lvl5pPr>
            <a:lvl6pPr>
              <a:defRPr sz="3150" b="1">
                <a:solidFill>
                  <a:srgbClr val="142B3D"/>
                </a:solidFill>
              </a:defRPr>
            </a:lvl6pPr>
            <a:lvl7pPr>
              <a:defRPr sz="3150" b="1">
                <a:solidFill>
                  <a:srgbClr val="142B3D"/>
                </a:solidFill>
              </a:defRPr>
            </a:lvl7pPr>
            <a:lvl8pPr>
              <a:defRPr sz="3150" b="1">
                <a:solidFill>
                  <a:srgbClr val="142B3D"/>
                </a:solidFill>
              </a:defRPr>
            </a:lvl8pPr>
            <a:lvl9pPr>
              <a:defRPr sz="3150" b="1">
                <a:solidFill>
                  <a:srgbClr val="142B3D"/>
                </a:solidFill>
              </a:defRPr>
            </a:lvl9pPr>
          </a:lstStyle>
          <a:p>
            <a:pPr>
              <a:defRPr sz="3150" b="1">
                <a:solidFill>
                  <a:srgbClr val="142B3D"/>
                </a:solidFill>
              </a:defRPr>
            </a:pPr>
            <a:r>
              <a:rPr sz="3150" b="1">
                <a:solidFill>
                  <a:srgbClr val="142B3D"/>
                </a:solidFill>
              </a:rPr>
              <a:t>Thermal-vacuum, altitude and cycling test planning</a:t>
            </a:r>
          </a:p>
        </p:txBody>
      </p:sp>
      <p:sp>
        <p:nvSpPr>
          <p:cNvPr id="2" name="Khani Solutions">
            <a:extLst>
              <a:ext uri="{FF2B5EF4-FFF2-40B4-BE49-F238E27FC236}">
                <a16:creationId xmlns:a16="http://schemas.microsoft.com/office/drawing/2014/main" id="{9488BFA2-64E8-4950-AFD3-D7610AA9CB35}"/>
              </a:ext>
            </a:extLst>
          </p:cNvPr>
          <p:cNvSpPr>
            <a:spLocks noGrp="1"/>
          </p:cNvSpPr>
          <p:nvPr/>
        </p:nvSpPr>
        <p:spPr>
          <a:xfrm>
            <a:off x="533400" y="6448425"/>
            <a:ext cx="2190750" cy="238125"/>
          </a:xfrm>
          <a:prstGeom prst="rect">
            <a:avLst/>
          </a:prstGeom>
          <a:noFill/>
          <a:ln w="0">
            <a:noFill/>
          </a:ln>
        </p:spPr>
        <p:txBody>
          <a:bodyPr lIns="0" tIns="0" rIns="0" bIns="0" anchor="t"/>
          <a:lstStyle>
            <a:defPPr>
              <a:defRPr sz="1350" b="0">
                <a:solidFill>
                  <a:srgbClr val="587081"/>
                </a:solidFill>
              </a:defRPr>
            </a:defPPr>
            <a:lvl1pPr>
              <a:defRPr sz="1350" b="0">
                <a:solidFill>
                  <a:srgbClr val="587081"/>
                </a:solidFill>
              </a:defRPr>
            </a:lvl1pPr>
            <a:lvl2pPr>
              <a:defRPr sz="1350" b="0">
                <a:solidFill>
                  <a:srgbClr val="587081"/>
                </a:solidFill>
              </a:defRPr>
            </a:lvl2pPr>
            <a:lvl3pPr>
              <a:defRPr sz="1350" b="0">
                <a:solidFill>
                  <a:srgbClr val="587081"/>
                </a:solidFill>
              </a:defRPr>
            </a:lvl3pPr>
            <a:lvl4pPr>
              <a:defRPr sz="1350" b="0">
                <a:solidFill>
                  <a:srgbClr val="587081"/>
                </a:solidFill>
              </a:defRPr>
            </a:lvl4pPr>
            <a:lvl5pPr>
              <a:defRPr sz="1350" b="0">
                <a:solidFill>
                  <a:srgbClr val="587081"/>
                </a:solidFill>
              </a:defRPr>
            </a:lvl5pPr>
            <a:lvl6pPr>
              <a:defRPr sz="1350" b="0">
                <a:solidFill>
                  <a:srgbClr val="587081"/>
                </a:solidFill>
              </a:defRPr>
            </a:lvl6pPr>
            <a:lvl7pPr>
              <a:defRPr sz="1350" b="0">
                <a:solidFill>
                  <a:srgbClr val="587081"/>
                </a:solidFill>
              </a:defRPr>
            </a:lvl7pPr>
            <a:lvl8pPr>
              <a:defRPr sz="1350" b="0">
                <a:solidFill>
                  <a:srgbClr val="587081"/>
                </a:solidFill>
              </a:defRPr>
            </a:lvl8pPr>
            <a:lvl9pPr>
              <a:defRPr sz="1350" b="0">
                <a:solidFill>
                  <a:srgbClr val="587081"/>
                </a:solidFill>
              </a:defRPr>
            </a:lvl9pPr>
          </a:lstStyle>
          <a:p>
            <a:pPr>
              <a:defRPr sz="1350" b="0">
                <a:solidFill>
                  <a:srgbClr val="587081"/>
                </a:solidFill>
              </a:defRPr>
            </a:pPr>
            <a:r>
              <a:rPr sz="1350" b="0">
                <a:solidFill>
                  <a:srgbClr val="587081"/>
                </a:solidFill>
              </a:rPr>
              <a:t>Khani Solutions</a:t>
            </a:r>
          </a:p>
        </p:txBody>
      </p:sp>
      <p:sp>
        <p:nvSpPr>
          <p:cNvPr id="3" name="12 / 20">
            <a:extLst>
              <a:ext uri="{FF2B5EF4-FFF2-40B4-BE49-F238E27FC236}">
                <a16:creationId xmlns:a16="http://schemas.microsoft.com/office/drawing/2014/main" id="{73ABC743-ED76-4579-98C7-B882B41D2884}"/>
              </a:ext>
            </a:extLst>
          </p:cNvPr>
          <p:cNvSpPr>
            <a:spLocks noGrp="1"/>
          </p:cNvSpPr>
          <p:nvPr/>
        </p:nvSpPr>
        <p:spPr>
          <a:xfrm>
            <a:off x="10896600" y="6448425"/>
            <a:ext cx="857250" cy="238125"/>
          </a:xfrm>
          <a:prstGeom prst="rect">
            <a:avLst/>
          </a:prstGeom>
          <a:noFill/>
          <a:ln w="0">
            <a:noFill/>
          </a:ln>
        </p:spPr>
        <p:txBody>
          <a:bodyPr lIns="0" tIns="0" rIns="0" bIns="0" anchor="t"/>
          <a:lstStyle>
            <a:defPPr>
              <a:defRPr sz="1350" b="0">
                <a:solidFill>
                  <a:srgbClr val="587081"/>
                </a:solidFill>
              </a:defRPr>
            </a:defPPr>
            <a:lvl1pPr>
              <a:defRPr sz="1350" b="0">
                <a:solidFill>
                  <a:srgbClr val="587081"/>
                </a:solidFill>
              </a:defRPr>
            </a:lvl1pPr>
            <a:lvl2pPr>
              <a:defRPr sz="1350" b="0">
                <a:solidFill>
                  <a:srgbClr val="587081"/>
                </a:solidFill>
              </a:defRPr>
            </a:lvl2pPr>
            <a:lvl3pPr>
              <a:defRPr sz="1350" b="0">
                <a:solidFill>
                  <a:srgbClr val="587081"/>
                </a:solidFill>
              </a:defRPr>
            </a:lvl3pPr>
            <a:lvl4pPr>
              <a:defRPr sz="1350" b="0">
                <a:solidFill>
                  <a:srgbClr val="587081"/>
                </a:solidFill>
              </a:defRPr>
            </a:lvl4pPr>
            <a:lvl5pPr>
              <a:defRPr sz="1350" b="0">
                <a:solidFill>
                  <a:srgbClr val="587081"/>
                </a:solidFill>
              </a:defRPr>
            </a:lvl5pPr>
            <a:lvl6pPr>
              <a:defRPr sz="1350" b="0">
                <a:solidFill>
                  <a:srgbClr val="587081"/>
                </a:solidFill>
              </a:defRPr>
            </a:lvl6pPr>
            <a:lvl7pPr>
              <a:defRPr sz="1350" b="0">
                <a:solidFill>
                  <a:srgbClr val="587081"/>
                </a:solidFill>
              </a:defRPr>
            </a:lvl7pPr>
            <a:lvl8pPr>
              <a:defRPr sz="1350" b="0">
                <a:solidFill>
                  <a:srgbClr val="587081"/>
                </a:solidFill>
              </a:defRPr>
            </a:lvl8pPr>
            <a:lvl9pPr>
              <a:defRPr sz="1350" b="0">
                <a:solidFill>
                  <a:srgbClr val="587081"/>
                </a:solidFill>
              </a:defRPr>
            </a:lvl9pPr>
          </a:lstStyle>
          <a:p>
            <a:pPr>
              <a:defRPr sz="1350" b="0">
                <a:solidFill>
                  <a:srgbClr val="587081"/>
                </a:solidFill>
              </a:defRPr>
            </a:pPr>
            <a:r>
              <a:rPr sz="1350" b="0">
                <a:solidFill>
                  <a:srgbClr val="587081"/>
                </a:solidFill>
              </a:rPr>
              <a:t>12 / 20</a:t>
            </a:r>
          </a:p>
        </p:txBody>
      </p:sp>
      <p:sp>
        <p:nvSpPr>
          <p:cNvPr id="4" name="Detailed evidence on the website">
            <a:extLst>
              <a:ext uri="{FF2B5EF4-FFF2-40B4-BE49-F238E27FC236}">
                <a16:creationId xmlns:a16="http://schemas.microsoft.com/office/drawing/2014/main" id="{62872152-791D-447C-8BD5-BAC18DC9D490}"/>
              </a:ext>
            </a:extLst>
          </p:cNvPr>
          <p:cNvSpPr>
            <a:spLocks noGrp="1"/>
          </p:cNvSpPr>
          <p:nvPr/>
        </p:nvSpPr>
        <p:spPr>
          <a:xfrm>
            <a:off x="7000875" y="6448425"/>
            <a:ext cx="3476625" cy="238125"/>
          </a:xfrm>
          <a:prstGeom prst="rect">
            <a:avLst/>
          </a:prstGeom>
          <a:noFill/>
          <a:ln w="0">
            <a:noFill/>
          </a:ln>
        </p:spPr>
        <p:txBody>
          <a:bodyPr lIns="0" tIns="0" rIns="0" bIns="0" anchor="t"/>
          <a:lstStyle>
            <a:defPPr>
              <a:defRPr sz="1350" b="0">
                <a:solidFill>
                  <a:srgbClr val="087F95"/>
                </a:solidFill>
              </a:defRPr>
            </a:defPPr>
            <a:lvl1pPr>
              <a:defRPr sz="1350" b="0">
                <a:solidFill>
                  <a:srgbClr val="087F95"/>
                </a:solidFill>
              </a:defRPr>
            </a:lvl1pPr>
            <a:lvl2pPr>
              <a:defRPr sz="1350" b="0">
                <a:solidFill>
                  <a:srgbClr val="087F95"/>
                </a:solidFill>
              </a:defRPr>
            </a:lvl2pPr>
            <a:lvl3pPr>
              <a:defRPr sz="1350" b="0">
                <a:solidFill>
                  <a:srgbClr val="087F95"/>
                </a:solidFill>
              </a:defRPr>
            </a:lvl3pPr>
            <a:lvl4pPr>
              <a:defRPr sz="1350" b="0">
                <a:solidFill>
                  <a:srgbClr val="087F95"/>
                </a:solidFill>
              </a:defRPr>
            </a:lvl4pPr>
            <a:lvl5pPr>
              <a:defRPr sz="1350" b="0">
                <a:solidFill>
                  <a:srgbClr val="087F95"/>
                </a:solidFill>
              </a:defRPr>
            </a:lvl5pPr>
            <a:lvl6pPr>
              <a:defRPr sz="1350" b="0">
                <a:solidFill>
                  <a:srgbClr val="087F95"/>
                </a:solidFill>
              </a:defRPr>
            </a:lvl6pPr>
            <a:lvl7pPr>
              <a:defRPr sz="1350" b="0">
                <a:solidFill>
                  <a:srgbClr val="087F95"/>
                </a:solidFill>
              </a:defRPr>
            </a:lvl7pPr>
            <a:lvl8pPr>
              <a:defRPr sz="1350" b="0">
                <a:solidFill>
                  <a:srgbClr val="087F95"/>
                </a:solidFill>
              </a:defRPr>
            </a:lvl8pPr>
            <a:lvl9pPr>
              <a:defRPr sz="1350" b="0">
                <a:solidFill>
                  <a:srgbClr val="087F95"/>
                </a:solidFill>
              </a:defRPr>
            </a:lvl9pPr>
          </a:lstStyle>
          <a:p>
            <a:pPr>
              <a:defRPr sz="1350" b="0">
                <a:solidFill>
                  <a:srgbClr val="087F95"/>
                </a:solidFill>
              </a:defRPr>
            </a:pPr>
            <a:r>
              <a:rPr sz="1350" b="0">
                <a:solidFill>
                  <a:srgbClr val="087F95"/>
                </a:solidFill>
                <a:hlinkClick r:id="rId3"/>
              </a:rPr>
              <a:t>Detailed evidence on the website</a:t>
            </a:r>
          </a:p>
        </p:txBody>
      </p:sp>
      <p:sp>
        <p:nvSpPr>
          <p:cNvPr id="5" name="JD-06: Test planned">
            <a:extLst>
              <a:ext uri="{FF2B5EF4-FFF2-40B4-BE49-F238E27FC236}">
                <a16:creationId xmlns:a16="http://schemas.microsoft.com/office/drawing/2014/main" id="{A60C90D1-F8C7-4EE9-88DB-5EC162F4E1D8}"/>
              </a:ext>
            </a:extLst>
          </p:cNvPr>
          <p:cNvSpPr>
            <a:spLocks noGrp="1"/>
          </p:cNvSpPr>
          <p:nvPr/>
        </p:nvSpPr>
        <p:spPr>
          <a:xfrm>
            <a:off x="533400" y="1371600"/>
            <a:ext cx="10477500" cy="276225"/>
          </a:xfrm>
          <a:prstGeom prst="rect">
            <a:avLst/>
          </a:prstGeom>
          <a:noFill/>
          <a:ln w="0">
            <a:noFill/>
          </a:ln>
        </p:spPr>
        <p:txBody>
          <a:bodyPr lIns="0" tIns="0" rIns="0" bIns="0" anchor="t"/>
          <a:lstStyle>
            <a:defPPr>
              <a:defRPr sz="1650" b="1">
                <a:solidFill>
                  <a:srgbClr val="AD7A22"/>
                </a:solidFill>
              </a:defRPr>
            </a:defPPr>
            <a:lvl1pPr>
              <a:defRPr sz="1650" b="1">
                <a:solidFill>
                  <a:srgbClr val="AD7A22"/>
                </a:solidFill>
              </a:defRPr>
            </a:lvl1pPr>
            <a:lvl2pPr>
              <a:defRPr sz="1650" b="1">
                <a:solidFill>
                  <a:srgbClr val="AD7A22"/>
                </a:solidFill>
              </a:defRPr>
            </a:lvl2pPr>
            <a:lvl3pPr>
              <a:defRPr sz="1650" b="1">
                <a:solidFill>
                  <a:srgbClr val="AD7A22"/>
                </a:solidFill>
              </a:defRPr>
            </a:lvl3pPr>
            <a:lvl4pPr>
              <a:defRPr sz="1650" b="1">
                <a:solidFill>
                  <a:srgbClr val="AD7A22"/>
                </a:solidFill>
              </a:defRPr>
            </a:lvl4pPr>
            <a:lvl5pPr>
              <a:defRPr sz="1650" b="1">
                <a:solidFill>
                  <a:srgbClr val="AD7A22"/>
                </a:solidFill>
              </a:defRPr>
            </a:lvl5pPr>
            <a:lvl6pPr>
              <a:defRPr sz="1650" b="1">
                <a:solidFill>
                  <a:srgbClr val="AD7A22"/>
                </a:solidFill>
              </a:defRPr>
            </a:lvl6pPr>
            <a:lvl7pPr>
              <a:defRPr sz="1650" b="1">
                <a:solidFill>
                  <a:srgbClr val="AD7A22"/>
                </a:solidFill>
              </a:defRPr>
            </a:lvl7pPr>
            <a:lvl8pPr>
              <a:defRPr sz="1650" b="1">
                <a:solidFill>
                  <a:srgbClr val="AD7A22"/>
                </a:solidFill>
              </a:defRPr>
            </a:lvl8pPr>
            <a:lvl9pPr>
              <a:defRPr sz="1650" b="1">
                <a:solidFill>
                  <a:srgbClr val="AD7A22"/>
                </a:solidFill>
              </a:defRPr>
            </a:lvl9pPr>
          </a:lstStyle>
          <a:p>
            <a:pPr>
              <a:defRPr sz="1650" b="1">
                <a:solidFill>
                  <a:srgbClr val="AD7A22"/>
                </a:solidFill>
              </a:defRPr>
            </a:pPr>
            <a:r>
              <a:rPr sz="1650" b="1">
                <a:solidFill>
                  <a:srgbClr val="AD7A22"/>
                </a:solidFill>
              </a:rPr>
              <a:t>JD-06: Test planned</a:t>
            </a:r>
          </a:p>
        </p:txBody>
      </p:sp>
      <p:pic>
        <p:nvPicPr>
          <p:cNvPr id="6" name="Picture 5">
            <a:extLst>
              <a:ext uri="{FF2B5EF4-FFF2-40B4-BE49-F238E27FC236}">
                <a16:creationId xmlns:a16="http://schemas.microsoft.com/office/drawing/2014/main" id="{BB0DF915-DE60-477B-B337-BE129C2F3D62}"/>
              </a:ext>
            </a:extLst>
          </p:cNvPr>
          <p:cNvPicPr>
            <a:picLocks noChangeAspect="1"/>
          </p:cNvPicPr>
          <p:nvPr/>
        </p:nvPicPr>
        <p:blipFill>
          <a:blip r:embed="rId4"/>
          <a:stretch/>
        </p:blipFill>
        <p:spPr>
          <a:xfrm>
            <a:off x="533400" y="2031802"/>
            <a:ext cx="5048250" cy="3470672"/>
          </a:xfrm>
          <a:prstGeom prst="rect">
            <a:avLst/>
          </a:prstGeom>
        </p:spPr>
      </p:pic>
      <p:graphicFrame>
        <p:nvGraphicFramePr>
          <p:cNvPr id="7" name="Table 6">
            <a:extLst>
              <a:ext uri="{FF2B5EF4-FFF2-40B4-BE49-F238E27FC236}">
                <a16:creationId xmlns:a16="http://schemas.microsoft.com/office/drawing/2014/main" id="{158F90E3-8EA5-470C-BC07-9CFEA6B67EAB}"/>
              </a:ext>
            </a:extLst>
          </p:cNvPr>
          <p:cNvGraphicFramePr/>
          <p:nvPr/>
        </p:nvGraphicFramePr>
        <p:xfrm>
          <a:off x="5905500" y="2009775"/>
          <a:ext cx="5810250" cy="3409950"/>
        </p:xfrm>
        <a:graphic>
          <a:graphicData uri="http://schemas.openxmlformats.org/drawingml/2006/table">
            <a:tbl>
              <a:tblPr firstRow="1"/>
              <a:tblGrid>
                <a:gridCol w="1857375">
                  <a:extLst>
                    <a:ext uri="{9D8B030D-6E8A-4147-A177-3AD203B41FA5}">
                      <a16:colId xmlns:a16="http://schemas.microsoft.com/office/drawing/2014/main" val="20000"/>
                    </a:ext>
                  </a:extLst>
                </a:gridCol>
                <a:gridCol w="3952875">
                  <a:extLst>
                    <a:ext uri="{9D8B030D-6E8A-4147-A177-3AD203B41FA5}">
                      <a16:colId xmlns:a16="http://schemas.microsoft.com/office/drawing/2014/main" val="20001"/>
                    </a:ext>
                  </a:extLst>
                </a:gridCol>
              </a:tblGrid>
              <a:tr h="681990">
                <a:tc>
                  <a:txBody>
                    <a:bodyPr/>
                    <a:lstStyle/>
                    <a:p>
                      <a:r>
                        <a:rPr sz="1650" b="1">
                          <a:solidFill>
                            <a:srgbClr val="FFFFFF"/>
                          </a:solidFill>
                        </a:rPr>
                        <a:t>Test phase</a:t>
                      </a:r>
                    </a:p>
                  </a:txBody>
                  <a:tcPr marL="95250" marR="95250" marT="76200" marB="76200" anchor="ctr">
                    <a:lnL w="7620">
                      <a:solidFill>
                        <a:srgbClr val="E4EBEF"/>
                      </a:solidFill>
                      <a:prstDash val="solid"/>
                    </a:lnL>
                    <a:lnR w="7620">
                      <a:solidFill>
                        <a:srgbClr val="E4EBEF"/>
                      </a:solidFill>
                      <a:prstDash val="solid"/>
                    </a:lnR>
                    <a:lnT w="7620">
                      <a:solidFill>
                        <a:srgbClr val="E4EBEF"/>
                      </a:solidFill>
                      <a:prstDash val="solid"/>
                    </a:lnT>
                    <a:lnB w="7620">
                      <a:solidFill>
                        <a:srgbClr val="E4EBEF"/>
                      </a:solidFill>
                      <a:prstDash val="solid"/>
                    </a:lnB>
                    <a:solidFill>
                      <a:srgbClr val="142B3D"/>
                    </a:solidFill>
                  </a:tcPr>
                </a:tc>
                <a:tc>
                  <a:txBody>
                    <a:bodyPr/>
                    <a:lstStyle/>
                    <a:p>
                      <a:r>
                        <a:rPr sz="1650" b="1">
                          <a:solidFill>
                            <a:srgbClr val="FFFFFF"/>
                          </a:solidFill>
                        </a:rPr>
                        <a:t>Measured inputs / outputs</a:t>
                      </a:r>
                    </a:p>
                  </a:txBody>
                  <a:tcPr marL="95250" marR="95250" marT="76200" marB="76200" anchor="ctr">
                    <a:lnL w="7620" cap="flat" cmpd="sng" algn="ctr">
                      <a:solidFill>
                        <a:srgbClr val="E4EBEF"/>
                      </a:solidFill>
                      <a:prstDash val="solid"/>
                      <a:round/>
                      <a:headEnd type="none" w="med" len="med"/>
                      <a:tailEnd type="none" w="med" len="med"/>
                    </a:lnL>
                    <a:lnR w="7620">
                      <a:solidFill>
                        <a:srgbClr val="E4EBEF"/>
                      </a:solidFill>
                      <a:prstDash val="solid"/>
                    </a:lnR>
                    <a:lnT w="7620">
                      <a:solidFill>
                        <a:srgbClr val="E4EBEF"/>
                      </a:solidFill>
                      <a:prstDash val="solid"/>
                    </a:lnT>
                    <a:lnB w="7620">
                      <a:solidFill>
                        <a:srgbClr val="E4EBEF"/>
                      </a:solidFill>
                      <a:prstDash val="solid"/>
                    </a:lnB>
                    <a:solidFill>
                      <a:srgbClr val="142B3D"/>
                    </a:solidFill>
                  </a:tcPr>
                </a:tc>
                <a:extLst>
                  <a:ext uri="{0D108BD9-81ED-4DB2-BD59-A6C34878D82A}">
                    <a16:rowId xmlns:a16="http://schemas.microsoft.com/office/drawing/2014/main" val="10000"/>
                  </a:ext>
                </a:extLst>
              </a:tr>
              <a:tr h="681990">
                <a:tc>
                  <a:txBody>
                    <a:bodyPr/>
                    <a:lstStyle/>
                    <a:p>
                      <a:r>
                        <a:rPr sz="1650">
                          <a:solidFill>
                            <a:srgbClr val="142B3D"/>
                          </a:solidFill>
                        </a:rPr>
                        <a:t>Room pressure</a:t>
                      </a:r>
                    </a:p>
                  </a:txBody>
                  <a:tcPr marL="95250" marR="95250" marT="76200" marB="76200" anchor="ctr">
                    <a:lnL w="7620">
                      <a:solidFill>
                        <a:srgbClr val="E4EBEF"/>
                      </a:solidFill>
                      <a:prstDash val="solid"/>
                    </a:lnL>
                    <a:lnR w="7620">
                      <a:solidFill>
                        <a:srgbClr val="E4EBEF"/>
                      </a:solidFill>
                      <a:prstDash val="solid"/>
                    </a:lnR>
                    <a:lnT w="7620" cap="flat" cmpd="sng" algn="ctr">
                      <a:solidFill>
                        <a:srgbClr val="E4EBEF"/>
                      </a:solidFill>
                      <a:prstDash val="solid"/>
                      <a:round/>
                      <a:headEnd type="none" w="med" len="med"/>
                      <a:tailEnd type="none" w="med" len="med"/>
                    </a:lnT>
                    <a:lnB w="7620">
                      <a:solidFill>
                        <a:srgbClr val="E4EBEF"/>
                      </a:solidFill>
                      <a:prstDash val="solid"/>
                    </a:lnB>
                    <a:solidFill>
                      <a:srgbClr val="FFFFFF"/>
                    </a:solidFill>
                  </a:tcPr>
                </a:tc>
                <a:tc>
                  <a:txBody>
                    <a:bodyPr/>
                    <a:lstStyle/>
                    <a:p>
                      <a:r>
                        <a:rPr sz="1650">
                          <a:solidFill>
                            <a:srgbClr val="142B3D"/>
                          </a:solidFill>
                        </a:rPr>
                        <a:t>Power pulses, case and plate T</a:t>
                      </a:r>
                    </a:p>
                  </a:txBody>
                  <a:tcPr marL="95250" marR="95250" marT="76200" marB="76200" anchor="ctr">
                    <a:lnL w="7620" cap="flat" cmpd="sng" algn="ctr">
                      <a:solidFill>
                        <a:srgbClr val="E4EBEF"/>
                      </a:solidFill>
                      <a:prstDash val="solid"/>
                      <a:round/>
                      <a:headEnd type="none" w="med" len="med"/>
                      <a:tailEnd type="none" w="med" len="med"/>
                    </a:lnL>
                    <a:lnR w="7620">
                      <a:solidFill>
                        <a:srgbClr val="E4EBEF"/>
                      </a:solidFill>
                      <a:prstDash val="solid"/>
                    </a:lnR>
                    <a:lnT w="7620" cap="flat" cmpd="sng" algn="ctr">
                      <a:solidFill>
                        <a:srgbClr val="E4EBEF"/>
                      </a:solidFill>
                      <a:prstDash val="solid"/>
                      <a:round/>
                      <a:headEnd type="none" w="med" len="med"/>
                      <a:tailEnd type="none" w="med" len="med"/>
                    </a:lnT>
                    <a:lnB w="7620">
                      <a:solidFill>
                        <a:srgbClr val="E4EBEF"/>
                      </a:solidFill>
                      <a:prstDash val="solid"/>
                    </a:lnB>
                    <a:solidFill>
                      <a:srgbClr val="FFFFFF"/>
                    </a:solidFill>
                  </a:tcPr>
                </a:tc>
                <a:extLst>
                  <a:ext uri="{0D108BD9-81ED-4DB2-BD59-A6C34878D82A}">
                    <a16:rowId xmlns:a16="http://schemas.microsoft.com/office/drawing/2014/main" val="10001"/>
                  </a:ext>
                </a:extLst>
              </a:tr>
              <a:tr h="681990">
                <a:tc>
                  <a:txBody>
                    <a:bodyPr/>
                    <a:lstStyle/>
                    <a:p>
                      <a:r>
                        <a:rPr sz="1650">
                          <a:solidFill>
                            <a:srgbClr val="142B3D"/>
                          </a:solidFill>
                        </a:rPr>
                        <a:t>Altitude chamber</a:t>
                      </a:r>
                    </a:p>
                  </a:txBody>
                  <a:tcPr marL="95250" marR="95250" marT="76200" marB="76200" anchor="ctr">
                    <a:lnL w="7620">
                      <a:solidFill>
                        <a:srgbClr val="E4EBEF"/>
                      </a:solidFill>
                      <a:prstDash val="solid"/>
                    </a:lnL>
                    <a:lnR w="7620">
                      <a:solidFill>
                        <a:srgbClr val="E4EBEF"/>
                      </a:solidFill>
                      <a:prstDash val="solid"/>
                    </a:lnR>
                    <a:lnT w="7620" cap="flat" cmpd="sng" algn="ctr">
                      <a:solidFill>
                        <a:srgbClr val="E4EBEF"/>
                      </a:solidFill>
                      <a:prstDash val="solid"/>
                      <a:round/>
                      <a:headEnd type="none" w="med" len="med"/>
                      <a:tailEnd type="none" w="med" len="med"/>
                    </a:lnT>
                    <a:lnB w="7620">
                      <a:solidFill>
                        <a:srgbClr val="E4EBEF"/>
                      </a:solidFill>
                      <a:prstDash val="solid"/>
                    </a:lnB>
                    <a:solidFill>
                      <a:srgbClr val="FFFFFF"/>
                    </a:solidFill>
                  </a:tcPr>
                </a:tc>
                <a:tc>
                  <a:txBody>
                    <a:bodyPr/>
                    <a:lstStyle/>
                    <a:p>
                      <a:r>
                        <a:rPr sz="1650">
                          <a:solidFill>
                            <a:srgbClr val="142B3D"/>
                          </a:solidFill>
                        </a:rPr>
                        <a:t>17/20 km pressure, gas flow, wall T</a:t>
                      </a:r>
                    </a:p>
                  </a:txBody>
                  <a:tcPr marL="95250" marR="95250" marT="76200" marB="76200" anchor="ctr">
                    <a:lnL w="7620" cap="flat" cmpd="sng" algn="ctr">
                      <a:solidFill>
                        <a:srgbClr val="E4EBEF"/>
                      </a:solidFill>
                      <a:prstDash val="solid"/>
                      <a:round/>
                      <a:headEnd type="none" w="med" len="med"/>
                      <a:tailEnd type="none" w="med" len="med"/>
                    </a:lnL>
                    <a:lnR w="7620">
                      <a:solidFill>
                        <a:srgbClr val="E4EBEF"/>
                      </a:solidFill>
                      <a:prstDash val="solid"/>
                    </a:lnR>
                    <a:lnT w="7620" cap="flat" cmpd="sng" algn="ctr">
                      <a:solidFill>
                        <a:srgbClr val="E4EBEF"/>
                      </a:solidFill>
                      <a:prstDash val="solid"/>
                      <a:round/>
                      <a:headEnd type="none" w="med" len="med"/>
                      <a:tailEnd type="none" w="med" len="med"/>
                    </a:lnT>
                    <a:lnB w="7620">
                      <a:solidFill>
                        <a:srgbClr val="E4EBEF"/>
                      </a:solidFill>
                      <a:prstDash val="solid"/>
                    </a:lnB>
                    <a:solidFill>
                      <a:srgbClr val="FFFFFF"/>
                    </a:solidFill>
                  </a:tcPr>
                </a:tc>
                <a:extLst>
                  <a:ext uri="{0D108BD9-81ED-4DB2-BD59-A6C34878D82A}">
                    <a16:rowId xmlns:a16="http://schemas.microsoft.com/office/drawing/2014/main" val="10002"/>
                  </a:ext>
                </a:extLst>
              </a:tr>
              <a:tr h="681990">
                <a:tc>
                  <a:txBody>
                    <a:bodyPr/>
                    <a:lstStyle/>
                    <a:p>
                      <a:r>
                        <a:rPr sz="1650">
                          <a:solidFill>
                            <a:srgbClr val="142B3D"/>
                          </a:solidFill>
                        </a:rPr>
                        <a:t>Thermal cycling</a:t>
                      </a:r>
                    </a:p>
                  </a:txBody>
                  <a:tcPr marL="95250" marR="95250" marT="76200" marB="76200" anchor="ctr">
                    <a:lnL w="7620">
                      <a:solidFill>
                        <a:srgbClr val="E4EBEF"/>
                      </a:solidFill>
                      <a:prstDash val="solid"/>
                    </a:lnL>
                    <a:lnR w="7620">
                      <a:solidFill>
                        <a:srgbClr val="E4EBEF"/>
                      </a:solidFill>
                      <a:prstDash val="solid"/>
                    </a:lnR>
                    <a:lnT w="7620" cap="flat" cmpd="sng" algn="ctr">
                      <a:solidFill>
                        <a:srgbClr val="E4EBEF"/>
                      </a:solidFill>
                      <a:prstDash val="solid"/>
                      <a:round/>
                      <a:headEnd type="none" w="med" len="med"/>
                      <a:tailEnd type="none" w="med" len="med"/>
                    </a:lnT>
                    <a:lnB w="7620">
                      <a:solidFill>
                        <a:srgbClr val="E4EBEF"/>
                      </a:solidFill>
                      <a:prstDash val="solid"/>
                    </a:lnB>
                    <a:solidFill>
                      <a:srgbClr val="FFFFFF"/>
                    </a:solidFill>
                  </a:tcPr>
                </a:tc>
                <a:tc>
                  <a:txBody>
                    <a:bodyPr/>
                    <a:lstStyle/>
                    <a:p>
                      <a:r>
                        <a:rPr sz="1650">
                          <a:solidFill>
                            <a:srgbClr val="142B3D"/>
                          </a:solidFill>
                        </a:rPr>
                        <a:t>Startup, soak, recovery and faults</a:t>
                      </a:r>
                    </a:p>
                  </a:txBody>
                  <a:tcPr marL="95250" marR="95250" marT="76200" marB="76200" anchor="ctr">
                    <a:lnL w="7620" cap="flat" cmpd="sng" algn="ctr">
                      <a:solidFill>
                        <a:srgbClr val="E4EBEF"/>
                      </a:solidFill>
                      <a:prstDash val="solid"/>
                      <a:round/>
                      <a:headEnd type="none" w="med" len="med"/>
                      <a:tailEnd type="none" w="med" len="med"/>
                    </a:lnL>
                    <a:lnR w="7620">
                      <a:solidFill>
                        <a:srgbClr val="E4EBEF"/>
                      </a:solidFill>
                      <a:prstDash val="solid"/>
                    </a:lnR>
                    <a:lnT w="7620" cap="flat" cmpd="sng" algn="ctr">
                      <a:solidFill>
                        <a:srgbClr val="E4EBEF"/>
                      </a:solidFill>
                      <a:prstDash val="solid"/>
                      <a:round/>
                      <a:headEnd type="none" w="med" len="med"/>
                      <a:tailEnd type="none" w="med" len="med"/>
                    </a:lnT>
                    <a:lnB w="7620">
                      <a:solidFill>
                        <a:srgbClr val="E4EBEF"/>
                      </a:solidFill>
                      <a:prstDash val="solid"/>
                    </a:lnB>
                    <a:solidFill>
                      <a:srgbClr val="FFFFFF"/>
                    </a:solidFill>
                  </a:tcPr>
                </a:tc>
                <a:extLst>
                  <a:ext uri="{0D108BD9-81ED-4DB2-BD59-A6C34878D82A}">
                    <a16:rowId xmlns:a16="http://schemas.microsoft.com/office/drawing/2014/main" val="10003"/>
                  </a:ext>
                </a:extLst>
              </a:tr>
              <a:tr h="681990">
                <a:tc>
                  <a:txBody>
                    <a:bodyPr/>
                    <a:lstStyle/>
                    <a:p>
                      <a:r>
                        <a:rPr sz="1650">
                          <a:solidFill>
                            <a:srgbClr val="142B3D"/>
                          </a:solidFill>
                        </a:rPr>
                        <a:t>Held-out run</a:t>
                      </a:r>
                    </a:p>
                  </a:txBody>
                  <a:tcPr marL="95250" marR="95250" marT="76200" marB="76200" anchor="ctr">
                    <a:lnL w="7620">
                      <a:solidFill>
                        <a:srgbClr val="E4EBEF"/>
                      </a:solidFill>
                      <a:prstDash val="solid"/>
                    </a:lnL>
                    <a:lnR w="7620">
                      <a:solidFill>
                        <a:srgbClr val="E4EBEF"/>
                      </a:solidFill>
                      <a:prstDash val="solid"/>
                    </a:lnR>
                    <a:lnT w="7620" cap="flat" cmpd="sng" algn="ctr">
                      <a:solidFill>
                        <a:srgbClr val="E4EBEF"/>
                      </a:solidFill>
                      <a:prstDash val="solid"/>
                      <a:round/>
                      <a:headEnd type="none" w="med" len="med"/>
                      <a:tailEnd type="none" w="med" len="med"/>
                    </a:lnT>
                    <a:lnB w="7620">
                      <a:solidFill>
                        <a:srgbClr val="E4EBEF"/>
                      </a:solidFill>
                      <a:prstDash val="solid"/>
                    </a:lnB>
                    <a:solidFill>
                      <a:srgbClr val="FFFFFF"/>
                    </a:solidFill>
                  </a:tcPr>
                </a:tc>
                <a:tc>
                  <a:txBody>
                    <a:bodyPr/>
                    <a:lstStyle/>
                    <a:p>
                      <a:r>
                        <a:rPr sz="1650">
                          <a:solidFill>
                            <a:srgbClr val="142B3D"/>
                          </a:solidFill>
                        </a:rPr>
                        <a:t>Frozen parameters, new conditions</a:t>
                      </a:r>
                    </a:p>
                  </a:txBody>
                  <a:tcPr marL="95250" marR="95250" marT="76200" marB="76200" anchor="ctr">
                    <a:lnL w="7620" cap="flat" cmpd="sng" algn="ctr">
                      <a:solidFill>
                        <a:srgbClr val="E4EBEF"/>
                      </a:solidFill>
                      <a:prstDash val="solid"/>
                      <a:round/>
                      <a:headEnd type="none" w="med" len="med"/>
                      <a:tailEnd type="none" w="med" len="med"/>
                    </a:lnL>
                    <a:lnR w="7620">
                      <a:solidFill>
                        <a:srgbClr val="E4EBEF"/>
                      </a:solidFill>
                      <a:prstDash val="solid"/>
                    </a:lnR>
                    <a:lnT w="7620" cap="flat" cmpd="sng" algn="ctr">
                      <a:solidFill>
                        <a:srgbClr val="E4EBEF"/>
                      </a:solidFill>
                      <a:prstDash val="solid"/>
                      <a:round/>
                      <a:headEnd type="none" w="med" len="med"/>
                      <a:tailEnd type="none" w="med" len="med"/>
                    </a:lnT>
                    <a:lnB w="7620">
                      <a:solidFill>
                        <a:srgbClr val="E4EBEF"/>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8" name="Sensor locations, raw-data templates and acceptance planning are ">
            <a:extLst>
              <a:ext uri="{FF2B5EF4-FFF2-40B4-BE49-F238E27FC236}">
                <a16:creationId xmlns:a16="http://schemas.microsoft.com/office/drawing/2014/main" id="{09F0EDA3-64B7-4FA5-901D-849C436EE750}"/>
              </a:ext>
            </a:extLst>
          </p:cNvPr>
          <p:cNvSpPr>
            <a:spLocks noGrp="1"/>
          </p:cNvSpPr>
          <p:nvPr/>
        </p:nvSpPr>
        <p:spPr>
          <a:xfrm>
            <a:off x="533400" y="5857875"/>
            <a:ext cx="10953750" cy="457200"/>
          </a:xfrm>
          <a:prstGeom prst="rect">
            <a:avLst/>
          </a:prstGeom>
          <a:noFill/>
          <a:ln w="0">
            <a:noFill/>
          </a:ln>
        </p:spPr>
        <p:txBody>
          <a:bodyPr lIns="0" tIns="0" rIns="0" bIns="0" anchor="t"/>
          <a:lstStyle>
            <a:defPPr>
              <a:defRPr sz="1800" b="0">
                <a:solidFill>
                  <a:srgbClr val="AD7A22"/>
                </a:solidFill>
              </a:defRPr>
            </a:defPPr>
            <a:lvl1pPr>
              <a:defRPr sz="1800" b="0">
                <a:solidFill>
                  <a:srgbClr val="AD7A22"/>
                </a:solidFill>
              </a:defRPr>
            </a:lvl1pPr>
            <a:lvl2pPr>
              <a:defRPr sz="1800" b="0">
                <a:solidFill>
                  <a:srgbClr val="AD7A22"/>
                </a:solidFill>
              </a:defRPr>
            </a:lvl2pPr>
            <a:lvl3pPr>
              <a:defRPr sz="1800" b="0">
                <a:solidFill>
                  <a:srgbClr val="AD7A22"/>
                </a:solidFill>
              </a:defRPr>
            </a:lvl3pPr>
            <a:lvl4pPr>
              <a:defRPr sz="1800" b="0">
                <a:solidFill>
                  <a:srgbClr val="AD7A22"/>
                </a:solidFill>
              </a:defRPr>
            </a:lvl4pPr>
            <a:lvl5pPr>
              <a:defRPr sz="1800" b="0">
                <a:solidFill>
                  <a:srgbClr val="AD7A22"/>
                </a:solidFill>
              </a:defRPr>
            </a:lvl5pPr>
            <a:lvl6pPr>
              <a:defRPr sz="1800" b="0">
                <a:solidFill>
                  <a:srgbClr val="AD7A22"/>
                </a:solidFill>
              </a:defRPr>
            </a:lvl6pPr>
            <a:lvl7pPr>
              <a:defRPr sz="1800" b="0">
                <a:solidFill>
                  <a:srgbClr val="AD7A22"/>
                </a:solidFill>
              </a:defRPr>
            </a:lvl7pPr>
            <a:lvl8pPr>
              <a:defRPr sz="1800" b="0">
                <a:solidFill>
                  <a:srgbClr val="AD7A22"/>
                </a:solidFill>
              </a:defRPr>
            </a:lvl8pPr>
            <a:lvl9pPr>
              <a:defRPr sz="1800" b="0">
                <a:solidFill>
                  <a:srgbClr val="AD7A22"/>
                </a:solidFill>
              </a:defRPr>
            </a:lvl9pPr>
          </a:lstStyle>
          <a:p>
            <a:pPr>
              <a:defRPr sz="1800" b="0">
                <a:solidFill>
                  <a:srgbClr val="AD7A22"/>
                </a:solidFill>
              </a:defRPr>
            </a:pPr>
            <a:r>
              <a:rPr sz="1800" b="0">
                <a:solidFill>
                  <a:srgbClr val="AD7A22"/>
                </a:solidFill>
              </a:rPr>
              <a:t>Sensor locations, raw-data templates and acceptance planning are prepared. Tests remain unexecuted.</a:t>
            </a:r>
          </a:p>
        </p:txBody>
      </p:sp>
    </p:spTree>
    <p:extLst>
      <p:ext uri="{BB962C8B-B14F-4D97-AF65-F5344CB8AC3E}">
        <p14:creationId xmlns:p14="http://schemas.microsoft.com/office/powerpoint/2010/main" val="18037325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est correlation and design updates">
            <a:extLst>
              <a:ext uri="{FF2B5EF4-FFF2-40B4-BE49-F238E27FC236}">
                <a16:creationId xmlns:a16="http://schemas.microsoft.com/office/drawing/2014/main" id="{B896A472-3E80-4C97-AFB0-219C270972BF}"/>
              </a:ext>
            </a:extLst>
          </p:cNvPr>
          <p:cNvSpPr>
            <a:spLocks noGrp="1"/>
          </p:cNvSpPr>
          <p:nvPr/>
        </p:nvSpPr>
        <p:spPr>
          <a:xfrm>
            <a:off x="533400" y="361950"/>
            <a:ext cx="11125200" cy="1028700"/>
          </a:xfrm>
          <a:prstGeom prst="rect">
            <a:avLst/>
          </a:prstGeom>
          <a:noFill/>
          <a:ln w="0">
            <a:noFill/>
          </a:ln>
        </p:spPr>
        <p:txBody>
          <a:bodyPr lIns="0" tIns="0" rIns="0" bIns="0" anchor="t"/>
          <a:lstStyle>
            <a:defPPr>
              <a:defRPr sz="3150" b="1">
                <a:solidFill>
                  <a:srgbClr val="142B3D"/>
                </a:solidFill>
              </a:defRPr>
            </a:defPPr>
            <a:lvl1pPr>
              <a:defRPr sz="3150" b="1">
                <a:solidFill>
                  <a:srgbClr val="142B3D"/>
                </a:solidFill>
              </a:defRPr>
            </a:lvl1pPr>
            <a:lvl2pPr>
              <a:defRPr sz="3150" b="1">
                <a:solidFill>
                  <a:srgbClr val="142B3D"/>
                </a:solidFill>
              </a:defRPr>
            </a:lvl2pPr>
            <a:lvl3pPr>
              <a:defRPr sz="3150" b="1">
                <a:solidFill>
                  <a:srgbClr val="142B3D"/>
                </a:solidFill>
              </a:defRPr>
            </a:lvl3pPr>
            <a:lvl4pPr>
              <a:defRPr sz="3150" b="1">
                <a:solidFill>
                  <a:srgbClr val="142B3D"/>
                </a:solidFill>
              </a:defRPr>
            </a:lvl4pPr>
            <a:lvl5pPr>
              <a:defRPr sz="3150" b="1">
                <a:solidFill>
                  <a:srgbClr val="142B3D"/>
                </a:solidFill>
              </a:defRPr>
            </a:lvl5pPr>
            <a:lvl6pPr>
              <a:defRPr sz="3150" b="1">
                <a:solidFill>
                  <a:srgbClr val="142B3D"/>
                </a:solidFill>
              </a:defRPr>
            </a:lvl6pPr>
            <a:lvl7pPr>
              <a:defRPr sz="3150" b="1">
                <a:solidFill>
                  <a:srgbClr val="142B3D"/>
                </a:solidFill>
              </a:defRPr>
            </a:lvl7pPr>
            <a:lvl8pPr>
              <a:defRPr sz="3150" b="1">
                <a:solidFill>
                  <a:srgbClr val="142B3D"/>
                </a:solidFill>
              </a:defRPr>
            </a:lvl8pPr>
            <a:lvl9pPr>
              <a:defRPr sz="3150" b="1">
                <a:solidFill>
                  <a:srgbClr val="142B3D"/>
                </a:solidFill>
              </a:defRPr>
            </a:lvl9pPr>
          </a:lstStyle>
          <a:p>
            <a:pPr>
              <a:defRPr sz="3150" b="1">
                <a:solidFill>
                  <a:srgbClr val="142B3D"/>
                </a:solidFill>
              </a:defRPr>
            </a:pPr>
            <a:r>
              <a:rPr sz="3150" b="1">
                <a:solidFill>
                  <a:srgbClr val="142B3D"/>
                </a:solidFill>
              </a:rPr>
              <a:t>Test correlation and design updates</a:t>
            </a:r>
          </a:p>
        </p:txBody>
      </p:sp>
      <p:sp>
        <p:nvSpPr>
          <p:cNvPr id="2" name="Khani Solutions">
            <a:extLst>
              <a:ext uri="{FF2B5EF4-FFF2-40B4-BE49-F238E27FC236}">
                <a16:creationId xmlns:a16="http://schemas.microsoft.com/office/drawing/2014/main" id="{33319CAD-8691-4EBA-95ED-1964DA6AECC3}"/>
              </a:ext>
            </a:extLst>
          </p:cNvPr>
          <p:cNvSpPr>
            <a:spLocks noGrp="1"/>
          </p:cNvSpPr>
          <p:nvPr/>
        </p:nvSpPr>
        <p:spPr>
          <a:xfrm>
            <a:off x="533400" y="6448425"/>
            <a:ext cx="2190750" cy="238125"/>
          </a:xfrm>
          <a:prstGeom prst="rect">
            <a:avLst/>
          </a:prstGeom>
          <a:noFill/>
          <a:ln w="0">
            <a:noFill/>
          </a:ln>
        </p:spPr>
        <p:txBody>
          <a:bodyPr lIns="0" tIns="0" rIns="0" bIns="0" anchor="t"/>
          <a:lstStyle>
            <a:defPPr>
              <a:defRPr sz="1350" b="0">
                <a:solidFill>
                  <a:srgbClr val="587081"/>
                </a:solidFill>
              </a:defRPr>
            </a:defPPr>
            <a:lvl1pPr>
              <a:defRPr sz="1350" b="0">
                <a:solidFill>
                  <a:srgbClr val="587081"/>
                </a:solidFill>
              </a:defRPr>
            </a:lvl1pPr>
            <a:lvl2pPr>
              <a:defRPr sz="1350" b="0">
                <a:solidFill>
                  <a:srgbClr val="587081"/>
                </a:solidFill>
              </a:defRPr>
            </a:lvl2pPr>
            <a:lvl3pPr>
              <a:defRPr sz="1350" b="0">
                <a:solidFill>
                  <a:srgbClr val="587081"/>
                </a:solidFill>
              </a:defRPr>
            </a:lvl3pPr>
            <a:lvl4pPr>
              <a:defRPr sz="1350" b="0">
                <a:solidFill>
                  <a:srgbClr val="587081"/>
                </a:solidFill>
              </a:defRPr>
            </a:lvl4pPr>
            <a:lvl5pPr>
              <a:defRPr sz="1350" b="0">
                <a:solidFill>
                  <a:srgbClr val="587081"/>
                </a:solidFill>
              </a:defRPr>
            </a:lvl5pPr>
            <a:lvl6pPr>
              <a:defRPr sz="1350" b="0">
                <a:solidFill>
                  <a:srgbClr val="587081"/>
                </a:solidFill>
              </a:defRPr>
            </a:lvl6pPr>
            <a:lvl7pPr>
              <a:defRPr sz="1350" b="0">
                <a:solidFill>
                  <a:srgbClr val="587081"/>
                </a:solidFill>
              </a:defRPr>
            </a:lvl7pPr>
            <a:lvl8pPr>
              <a:defRPr sz="1350" b="0">
                <a:solidFill>
                  <a:srgbClr val="587081"/>
                </a:solidFill>
              </a:defRPr>
            </a:lvl8pPr>
            <a:lvl9pPr>
              <a:defRPr sz="1350" b="0">
                <a:solidFill>
                  <a:srgbClr val="587081"/>
                </a:solidFill>
              </a:defRPr>
            </a:lvl9pPr>
          </a:lstStyle>
          <a:p>
            <a:pPr>
              <a:defRPr sz="1350" b="0">
                <a:solidFill>
                  <a:srgbClr val="587081"/>
                </a:solidFill>
              </a:defRPr>
            </a:pPr>
            <a:r>
              <a:rPr sz="1350" b="0">
                <a:solidFill>
                  <a:srgbClr val="587081"/>
                </a:solidFill>
              </a:rPr>
              <a:t>Khani Solutions</a:t>
            </a:r>
          </a:p>
        </p:txBody>
      </p:sp>
      <p:sp>
        <p:nvSpPr>
          <p:cNvPr id="3" name="13 / 20">
            <a:extLst>
              <a:ext uri="{FF2B5EF4-FFF2-40B4-BE49-F238E27FC236}">
                <a16:creationId xmlns:a16="http://schemas.microsoft.com/office/drawing/2014/main" id="{6B835101-9AA1-42DA-8629-15C849BCB9FA}"/>
              </a:ext>
            </a:extLst>
          </p:cNvPr>
          <p:cNvSpPr>
            <a:spLocks noGrp="1"/>
          </p:cNvSpPr>
          <p:nvPr/>
        </p:nvSpPr>
        <p:spPr>
          <a:xfrm>
            <a:off x="10896600" y="6448425"/>
            <a:ext cx="857250" cy="238125"/>
          </a:xfrm>
          <a:prstGeom prst="rect">
            <a:avLst/>
          </a:prstGeom>
          <a:noFill/>
          <a:ln w="0">
            <a:noFill/>
          </a:ln>
        </p:spPr>
        <p:txBody>
          <a:bodyPr lIns="0" tIns="0" rIns="0" bIns="0" anchor="t"/>
          <a:lstStyle>
            <a:defPPr>
              <a:defRPr sz="1350" b="0">
                <a:solidFill>
                  <a:srgbClr val="587081"/>
                </a:solidFill>
              </a:defRPr>
            </a:defPPr>
            <a:lvl1pPr>
              <a:defRPr sz="1350" b="0">
                <a:solidFill>
                  <a:srgbClr val="587081"/>
                </a:solidFill>
              </a:defRPr>
            </a:lvl1pPr>
            <a:lvl2pPr>
              <a:defRPr sz="1350" b="0">
                <a:solidFill>
                  <a:srgbClr val="587081"/>
                </a:solidFill>
              </a:defRPr>
            </a:lvl2pPr>
            <a:lvl3pPr>
              <a:defRPr sz="1350" b="0">
                <a:solidFill>
                  <a:srgbClr val="587081"/>
                </a:solidFill>
              </a:defRPr>
            </a:lvl3pPr>
            <a:lvl4pPr>
              <a:defRPr sz="1350" b="0">
                <a:solidFill>
                  <a:srgbClr val="587081"/>
                </a:solidFill>
              </a:defRPr>
            </a:lvl4pPr>
            <a:lvl5pPr>
              <a:defRPr sz="1350" b="0">
                <a:solidFill>
                  <a:srgbClr val="587081"/>
                </a:solidFill>
              </a:defRPr>
            </a:lvl5pPr>
            <a:lvl6pPr>
              <a:defRPr sz="1350" b="0">
                <a:solidFill>
                  <a:srgbClr val="587081"/>
                </a:solidFill>
              </a:defRPr>
            </a:lvl6pPr>
            <a:lvl7pPr>
              <a:defRPr sz="1350" b="0">
                <a:solidFill>
                  <a:srgbClr val="587081"/>
                </a:solidFill>
              </a:defRPr>
            </a:lvl7pPr>
            <a:lvl8pPr>
              <a:defRPr sz="1350" b="0">
                <a:solidFill>
                  <a:srgbClr val="587081"/>
                </a:solidFill>
              </a:defRPr>
            </a:lvl8pPr>
            <a:lvl9pPr>
              <a:defRPr sz="1350" b="0">
                <a:solidFill>
                  <a:srgbClr val="587081"/>
                </a:solidFill>
              </a:defRPr>
            </a:lvl9pPr>
          </a:lstStyle>
          <a:p>
            <a:pPr>
              <a:defRPr sz="1350" b="0">
                <a:solidFill>
                  <a:srgbClr val="587081"/>
                </a:solidFill>
              </a:defRPr>
            </a:pPr>
            <a:r>
              <a:rPr sz="1350" b="0">
                <a:solidFill>
                  <a:srgbClr val="587081"/>
                </a:solidFill>
              </a:rPr>
              <a:t>13 / 20</a:t>
            </a:r>
          </a:p>
        </p:txBody>
      </p:sp>
      <p:sp>
        <p:nvSpPr>
          <p:cNvPr id="4" name="Detailed evidence on the website">
            <a:extLst>
              <a:ext uri="{FF2B5EF4-FFF2-40B4-BE49-F238E27FC236}">
                <a16:creationId xmlns:a16="http://schemas.microsoft.com/office/drawing/2014/main" id="{FD5B86C5-12CC-44A1-87D8-1BAD8E8977DC}"/>
              </a:ext>
            </a:extLst>
          </p:cNvPr>
          <p:cNvSpPr>
            <a:spLocks noGrp="1"/>
          </p:cNvSpPr>
          <p:nvPr/>
        </p:nvSpPr>
        <p:spPr>
          <a:xfrm>
            <a:off x="7000875" y="6448425"/>
            <a:ext cx="3476625" cy="238125"/>
          </a:xfrm>
          <a:prstGeom prst="rect">
            <a:avLst/>
          </a:prstGeom>
          <a:noFill/>
          <a:ln w="0">
            <a:noFill/>
          </a:ln>
        </p:spPr>
        <p:txBody>
          <a:bodyPr lIns="0" tIns="0" rIns="0" bIns="0" anchor="t"/>
          <a:lstStyle>
            <a:defPPr>
              <a:defRPr sz="1350" b="0">
                <a:solidFill>
                  <a:srgbClr val="087F95"/>
                </a:solidFill>
              </a:defRPr>
            </a:defPPr>
            <a:lvl1pPr>
              <a:defRPr sz="1350" b="0">
                <a:solidFill>
                  <a:srgbClr val="087F95"/>
                </a:solidFill>
              </a:defRPr>
            </a:lvl1pPr>
            <a:lvl2pPr>
              <a:defRPr sz="1350" b="0">
                <a:solidFill>
                  <a:srgbClr val="087F95"/>
                </a:solidFill>
              </a:defRPr>
            </a:lvl2pPr>
            <a:lvl3pPr>
              <a:defRPr sz="1350" b="0">
                <a:solidFill>
                  <a:srgbClr val="087F95"/>
                </a:solidFill>
              </a:defRPr>
            </a:lvl3pPr>
            <a:lvl4pPr>
              <a:defRPr sz="1350" b="0">
                <a:solidFill>
                  <a:srgbClr val="087F95"/>
                </a:solidFill>
              </a:defRPr>
            </a:lvl4pPr>
            <a:lvl5pPr>
              <a:defRPr sz="1350" b="0">
                <a:solidFill>
                  <a:srgbClr val="087F95"/>
                </a:solidFill>
              </a:defRPr>
            </a:lvl5pPr>
            <a:lvl6pPr>
              <a:defRPr sz="1350" b="0">
                <a:solidFill>
                  <a:srgbClr val="087F95"/>
                </a:solidFill>
              </a:defRPr>
            </a:lvl6pPr>
            <a:lvl7pPr>
              <a:defRPr sz="1350" b="0">
                <a:solidFill>
                  <a:srgbClr val="087F95"/>
                </a:solidFill>
              </a:defRPr>
            </a:lvl7pPr>
            <a:lvl8pPr>
              <a:defRPr sz="1350" b="0">
                <a:solidFill>
                  <a:srgbClr val="087F95"/>
                </a:solidFill>
              </a:defRPr>
            </a:lvl8pPr>
            <a:lvl9pPr>
              <a:defRPr sz="1350" b="0">
                <a:solidFill>
                  <a:srgbClr val="087F95"/>
                </a:solidFill>
              </a:defRPr>
            </a:lvl9pPr>
          </a:lstStyle>
          <a:p>
            <a:pPr>
              <a:defRPr sz="1350" b="0">
                <a:solidFill>
                  <a:srgbClr val="087F95"/>
                </a:solidFill>
              </a:defRPr>
            </a:pPr>
            <a:r>
              <a:rPr sz="1350" b="0">
                <a:solidFill>
                  <a:srgbClr val="087F95"/>
                </a:solidFill>
                <a:hlinkClick r:id="rId3"/>
              </a:rPr>
              <a:t>Detailed evidence on the website</a:t>
            </a:r>
          </a:p>
        </p:txBody>
      </p:sp>
      <p:sp>
        <p:nvSpPr>
          <p:cNvPr id="5" name="JD-07: Synthetic workflow">
            <a:extLst>
              <a:ext uri="{FF2B5EF4-FFF2-40B4-BE49-F238E27FC236}">
                <a16:creationId xmlns:a16="http://schemas.microsoft.com/office/drawing/2014/main" id="{69976BE1-E694-4017-9F53-1F7059F89EFC}"/>
              </a:ext>
            </a:extLst>
          </p:cNvPr>
          <p:cNvSpPr>
            <a:spLocks noGrp="1"/>
          </p:cNvSpPr>
          <p:nvPr/>
        </p:nvSpPr>
        <p:spPr>
          <a:xfrm>
            <a:off x="533400" y="1371600"/>
            <a:ext cx="10477500" cy="276225"/>
          </a:xfrm>
          <a:prstGeom prst="rect">
            <a:avLst/>
          </a:prstGeom>
          <a:noFill/>
          <a:ln w="0">
            <a:noFill/>
          </a:ln>
        </p:spPr>
        <p:txBody>
          <a:bodyPr lIns="0" tIns="0" rIns="0" bIns="0" anchor="t"/>
          <a:lstStyle>
            <a:defPPr>
              <a:defRPr sz="1650" b="1">
                <a:solidFill>
                  <a:srgbClr val="087F95"/>
                </a:solidFill>
              </a:defRPr>
            </a:defPPr>
            <a:lvl1pPr>
              <a:defRPr sz="1650" b="1">
                <a:solidFill>
                  <a:srgbClr val="087F95"/>
                </a:solidFill>
              </a:defRPr>
            </a:lvl1pPr>
            <a:lvl2pPr>
              <a:defRPr sz="1650" b="1">
                <a:solidFill>
                  <a:srgbClr val="087F95"/>
                </a:solidFill>
              </a:defRPr>
            </a:lvl2pPr>
            <a:lvl3pPr>
              <a:defRPr sz="1650" b="1">
                <a:solidFill>
                  <a:srgbClr val="087F95"/>
                </a:solidFill>
              </a:defRPr>
            </a:lvl3pPr>
            <a:lvl4pPr>
              <a:defRPr sz="1650" b="1">
                <a:solidFill>
                  <a:srgbClr val="087F95"/>
                </a:solidFill>
              </a:defRPr>
            </a:lvl4pPr>
            <a:lvl5pPr>
              <a:defRPr sz="1650" b="1">
                <a:solidFill>
                  <a:srgbClr val="087F95"/>
                </a:solidFill>
              </a:defRPr>
            </a:lvl5pPr>
            <a:lvl6pPr>
              <a:defRPr sz="1650" b="1">
                <a:solidFill>
                  <a:srgbClr val="087F95"/>
                </a:solidFill>
              </a:defRPr>
            </a:lvl6pPr>
            <a:lvl7pPr>
              <a:defRPr sz="1650" b="1">
                <a:solidFill>
                  <a:srgbClr val="087F95"/>
                </a:solidFill>
              </a:defRPr>
            </a:lvl7pPr>
            <a:lvl8pPr>
              <a:defRPr sz="1650" b="1">
                <a:solidFill>
                  <a:srgbClr val="087F95"/>
                </a:solidFill>
              </a:defRPr>
            </a:lvl8pPr>
            <a:lvl9pPr>
              <a:defRPr sz="1650" b="1">
                <a:solidFill>
                  <a:srgbClr val="087F95"/>
                </a:solidFill>
              </a:defRPr>
            </a:lvl9pPr>
          </a:lstStyle>
          <a:p>
            <a:pPr>
              <a:defRPr sz="1650" b="1">
                <a:solidFill>
                  <a:srgbClr val="087F95"/>
                </a:solidFill>
              </a:defRPr>
            </a:pPr>
            <a:r>
              <a:rPr sz="1650" b="1">
                <a:solidFill>
                  <a:srgbClr val="087F95"/>
                </a:solidFill>
              </a:rPr>
              <a:t>JD-07: Synthetic workflow</a:t>
            </a:r>
          </a:p>
        </p:txBody>
      </p:sp>
      <p:pic>
        <p:nvPicPr>
          <p:cNvPr id="6" name="Picture 5">
            <a:extLst>
              <a:ext uri="{FF2B5EF4-FFF2-40B4-BE49-F238E27FC236}">
                <a16:creationId xmlns:a16="http://schemas.microsoft.com/office/drawing/2014/main" id="{96D8BC99-0DA4-4C86-870F-46BC8DD0C1F2}"/>
              </a:ext>
            </a:extLst>
          </p:cNvPr>
          <p:cNvPicPr>
            <a:picLocks noChangeAspect="1"/>
          </p:cNvPicPr>
          <p:nvPr/>
        </p:nvPicPr>
        <p:blipFill>
          <a:blip r:embed="rId4"/>
          <a:stretch/>
        </p:blipFill>
        <p:spPr>
          <a:xfrm>
            <a:off x="1385509" y="1847850"/>
            <a:ext cx="9420982" cy="4400550"/>
          </a:xfrm>
          <a:prstGeom prst="rect">
            <a:avLst/>
          </a:prstGeom>
        </p:spPr>
      </p:pic>
      <p:sp>
        <p:nvSpPr>
          <p:cNvPr id="7" name="Generated data. No physical measurements.">
            <a:extLst>
              <a:ext uri="{FF2B5EF4-FFF2-40B4-BE49-F238E27FC236}">
                <a16:creationId xmlns:a16="http://schemas.microsoft.com/office/drawing/2014/main" id="{AC07B7A1-CDCE-4B2F-81ED-5756FFC49681}"/>
              </a:ext>
            </a:extLst>
          </p:cNvPr>
          <p:cNvSpPr>
            <a:spLocks noGrp="1"/>
          </p:cNvSpPr>
          <p:nvPr/>
        </p:nvSpPr>
        <p:spPr>
          <a:xfrm>
            <a:off x="5734050" y="1390650"/>
            <a:ext cx="5905500" cy="285750"/>
          </a:xfrm>
          <a:prstGeom prst="rect">
            <a:avLst/>
          </a:prstGeom>
          <a:noFill/>
          <a:ln w="0">
            <a:noFill/>
          </a:ln>
        </p:spPr>
        <p:txBody>
          <a:bodyPr lIns="0" tIns="0" rIns="0" bIns="0" anchor="t"/>
          <a:lstStyle>
            <a:defPPr>
              <a:defRPr sz="1725" b="1">
                <a:solidFill>
                  <a:srgbClr val="AD7A22"/>
                </a:solidFill>
              </a:defRPr>
            </a:defPPr>
            <a:lvl1pPr>
              <a:defRPr sz="1725" b="1">
                <a:solidFill>
                  <a:srgbClr val="AD7A22"/>
                </a:solidFill>
              </a:defRPr>
            </a:lvl1pPr>
            <a:lvl2pPr>
              <a:defRPr sz="1725" b="1">
                <a:solidFill>
                  <a:srgbClr val="AD7A22"/>
                </a:solidFill>
              </a:defRPr>
            </a:lvl2pPr>
            <a:lvl3pPr>
              <a:defRPr sz="1725" b="1">
                <a:solidFill>
                  <a:srgbClr val="AD7A22"/>
                </a:solidFill>
              </a:defRPr>
            </a:lvl3pPr>
            <a:lvl4pPr>
              <a:defRPr sz="1725" b="1">
                <a:solidFill>
                  <a:srgbClr val="AD7A22"/>
                </a:solidFill>
              </a:defRPr>
            </a:lvl4pPr>
            <a:lvl5pPr>
              <a:defRPr sz="1725" b="1">
                <a:solidFill>
                  <a:srgbClr val="AD7A22"/>
                </a:solidFill>
              </a:defRPr>
            </a:lvl5pPr>
            <a:lvl6pPr>
              <a:defRPr sz="1725" b="1">
                <a:solidFill>
                  <a:srgbClr val="AD7A22"/>
                </a:solidFill>
              </a:defRPr>
            </a:lvl6pPr>
            <a:lvl7pPr>
              <a:defRPr sz="1725" b="1">
                <a:solidFill>
                  <a:srgbClr val="AD7A22"/>
                </a:solidFill>
              </a:defRPr>
            </a:lvl7pPr>
            <a:lvl8pPr>
              <a:defRPr sz="1725" b="1">
                <a:solidFill>
                  <a:srgbClr val="AD7A22"/>
                </a:solidFill>
              </a:defRPr>
            </a:lvl8pPr>
            <a:lvl9pPr>
              <a:defRPr sz="1725" b="1">
                <a:solidFill>
                  <a:srgbClr val="AD7A22"/>
                </a:solidFill>
              </a:defRPr>
            </a:lvl9pPr>
          </a:lstStyle>
          <a:p>
            <a:pPr>
              <a:defRPr sz="1725" b="1">
                <a:solidFill>
                  <a:srgbClr val="AD7A22"/>
                </a:solidFill>
              </a:defRPr>
            </a:pPr>
            <a:r>
              <a:rPr sz="1725" b="1">
                <a:solidFill>
                  <a:srgbClr val="AD7A22"/>
                </a:solidFill>
              </a:rPr>
              <a:t>Generated data. No physical measurements.</a:t>
            </a:r>
          </a:p>
        </p:txBody>
      </p:sp>
    </p:spTree>
    <p:extLst>
      <p:ext uri="{BB962C8B-B14F-4D97-AF65-F5344CB8AC3E}">
        <p14:creationId xmlns:p14="http://schemas.microsoft.com/office/powerpoint/2010/main" val="4836969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Mechanical, electrical, systems and manufacturing interfaces">
            <a:extLst>
              <a:ext uri="{FF2B5EF4-FFF2-40B4-BE49-F238E27FC236}">
                <a16:creationId xmlns:a16="http://schemas.microsoft.com/office/drawing/2014/main" id="{24507034-C4A1-46A7-AB8F-D392316D2EA8}"/>
              </a:ext>
            </a:extLst>
          </p:cNvPr>
          <p:cNvSpPr>
            <a:spLocks noGrp="1"/>
          </p:cNvSpPr>
          <p:nvPr/>
        </p:nvSpPr>
        <p:spPr>
          <a:xfrm>
            <a:off x="533400" y="361950"/>
            <a:ext cx="11125200" cy="1028700"/>
          </a:xfrm>
          <a:prstGeom prst="rect">
            <a:avLst/>
          </a:prstGeom>
          <a:noFill/>
          <a:ln w="0">
            <a:noFill/>
          </a:ln>
        </p:spPr>
        <p:txBody>
          <a:bodyPr lIns="0" tIns="0" rIns="0" bIns="0" anchor="t"/>
          <a:lstStyle>
            <a:defPPr>
              <a:defRPr sz="3150" b="1">
                <a:solidFill>
                  <a:srgbClr val="142B3D"/>
                </a:solidFill>
              </a:defRPr>
            </a:defPPr>
            <a:lvl1pPr>
              <a:defRPr sz="3150" b="1">
                <a:solidFill>
                  <a:srgbClr val="142B3D"/>
                </a:solidFill>
              </a:defRPr>
            </a:lvl1pPr>
            <a:lvl2pPr>
              <a:defRPr sz="3150" b="1">
                <a:solidFill>
                  <a:srgbClr val="142B3D"/>
                </a:solidFill>
              </a:defRPr>
            </a:lvl2pPr>
            <a:lvl3pPr>
              <a:defRPr sz="3150" b="1">
                <a:solidFill>
                  <a:srgbClr val="142B3D"/>
                </a:solidFill>
              </a:defRPr>
            </a:lvl3pPr>
            <a:lvl4pPr>
              <a:defRPr sz="3150" b="1">
                <a:solidFill>
                  <a:srgbClr val="142B3D"/>
                </a:solidFill>
              </a:defRPr>
            </a:lvl4pPr>
            <a:lvl5pPr>
              <a:defRPr sz="3150" b="1">
                <a:solidFill>
                  <a:srgbClr val="142B3D"/>
                </a:solidFill>
              </a:defRPr>
            </a:lvl5pPr>
            <a:lvl6pPr>
              <a:defRPr sz="3150" b="1">
                <a:solidFill>
                  <a:srgbClr val="142B3D"/>
                </a:solidFill>
              </a:defRPr>
            </a:lvl6pPr>
            <a:lvl7pPr>
              <a:defRPr sz="3150" b="1">
                <a:solidFill>
                  <a:srgbClr val="142B3D"/>
                </a:solidFill>
              </a:defRPr>
            </a:lvl7pPr>
            <a:lvl8pPr>
              <a:defRPr sz="3150" b="1">
                <a:solidFill>
                  <a:srgbClr val="142B3D"/>
                </a:solidFill>
              </a:defRPr>
            </a:lvl8pPr>
            <a:lvl9pPr>
              <a:defRPr sz="3150" b="1">
                <a:solidFill>
                  <a:srgbClr val="142B3D"/>
                </a:solidFill>
              </a:defRPr>
            </a:lvl9pPr>
          </a:lstStyle>
          <a:p>
            <a:pPr>
              <a:defRPr sz="3150" b="1">
                <a:solidFill>
                  <a:srgbClr val="142B3D"/>
                </a:solidFill>
              </a:defRPr>
            </a:pPr>
            <a:r>
              <a:rPr sz="3150" b="1">
                <a:solidFill>
                  <a:srgbClr val="142B3D"/>
                </a:solidFill>
              </a:rPr>
              <a:t>Mechanical, electrical, systems and manufacturing interfaces</a:t>
            </a:r>
          </a:p>
        </p:txBody>
      </p:sp>
      <p:sp>
        <p:nvSpPr>
          <p:cNvPr id="2" name="Khani Solutions">
            <a:extLst>
              <a:ext uri="{FF2B5EF4-FFF2-40B4-BE49-F238E27FC236}">
                <a16:creationId xmlns:a16="http://schemas.microsoft.com/office/drawing/2014/main" id="{5A5144E5-4771-4F92-83C3-81D68E2831F6}"/>
              </a:ext>
            </a:extLst>
          </p:cNvPr>
          <p:cNvSpPr>
            <a:spLocks noGrp="1"/>
          </p:cNvSpPr>
          <p:nvPr/>
        </p:nvSpPr>
        <p:spPr>
          <a:xfrm>
            <a:off x="533400" y="6448425"/>
            <a:ext cx="2190750" cy="238125"/>
          </a:xfrm>
          <a:prstGeom prst="rect">
            <a:avLst/>
          </a:prstGeom>
          <a:noFill/>
          <a:ln w="0">
            <a:noFill/>
          </a:ln>
        </p:spPr>
        <p:txBody>
          <a:bodyPr lIns="0" tIns="0" rIns="0" bIns="0" anchor="t"/>
          <a:lstStyle>
            <a:defPPr>
              <a:defRPr sz="1350" b="0">
                <a:solidFill>
                  <a:srgbClr val="587081"/>
                </a:solidFill>
              </a:defRPr>
            </a:defPPr>
            <a:lvl1pPr>
              <a:defRPr sz="1350" b="0">
                <a:solidFill>
                  <a:srgbClr val="587081"/>
                </a:solidFill>
              </a:defRPr>
            </a:lvl1pPr>
            <a:lvl2pPr>
              <a:defRPr sz="1350" b="0">
                <a:solidFill>
                  <a:srgbClr val="587081"/>
                </a:solidFill>
              </a:defRPr>
            </a:lvl2pPr>
            <a:lvl3pPr>
              <a:defRPr sz="1350" b="0">
                <a:solidFill>
                  <a:srgbClr val="587081"/>
                </a:solidFill>
              </a:defRPr>
            </a:lvl3pPr>
            <a:lvl4pPr>
              <a:defRPr sz="1350" b="0">
                <a:solidFill>
                  <a:srgbClr val="587081"/>
                </a:solidFill>
              </a:defRPr>
            </a:lvl4pPr>
            <a:lvl5pPr>
              <a:defRPr sz="1350" b="0">
                <a:solidFill>
                  <a:srgbClr val="587081"/>
                </a:solidFill>
              </a:defRPr>
            </a:lvl5pPr>
            <a:lvl6pPr>
              <a:defRPr sz="1350" b="0">
                <a:solidFill>
                  <a:srgbClr val="587081"/>
                </a:solidFill>
              </a:defRPr>
            </a:lvl6pPr>
            <a:lvl7pPr>
              <a:defRPr sz="1350" b="0">
                <a:solidFill>
                  <a:srgbClr val="587081"/>
                </a:solidFill>
              </a:defRPr>
            </a:lvl7pPr>
            <a:lvl8pPr>
              <a:defRPr sz="1350" b="0">
                <a:solidFill>
                  <a:srgbClr val="587081"/>
                </a:solidFill>
              </a:defRPr>
            </a:lvl8pPr>
            <a:lvl9pPr>
              <a:defRPr sz="1350" b="0">
                <a:solidFill>
                  <a:srgbClr val="587081"/>
                </a:solidFill>
              </a:defRPr>
            </a:lvl9pPr>
          </a:lstStyle>
          <a:p>
            <a:pPr>
              <a:defRPr sz="1350" b="0">
                <a:solidFill>
                  <a:srgbClr val="587081"/>
                </a:solidFill>
              </a:defRPr>
            </a:pPr>
            <a:r>
              <a:rPr sz="1350" b="0">
                <a:solidFill>
                  <a:srgbClr val="587081"/>
                </a:solidFill>
              </a:rPr>
              <a:t>Khani Solutions</a:t>
            </a:r>
          </a:p>
        </p:txBody>
      </p:sp>
      <p:sp>
        <p:nvSpPr>
          <p:cNvPr id="3" name="14 / 20">
            <a:extLst>
              <a:ext uri="{FF2B5EF4-FFF2-40B4-BE49-F238E27FC236}">
                <a16:creationId xmlns:a16="http://schemas.microsoft.com/office/drawing/2014/main" id="{25C2045B-FAFB-43C8-9787-9C1B68266EBD}"/>
              </a:ext>
            </a:extLst>
          </p:cNvPr>
          <p:cNvSpPr>
            <a:spLocks noGrp="1"/>
          </p:cNvSpPr>
          <p:nvPr/>
        </p:nvSpPr>
        <p:spPr>
          <a:xfrm>
            <a:off x="10896600" y="6448425"/>
            <a:ext cx="857250" cy="238125"/>
          </a:xfrm>
          <a:prstGeom prst="rect">
            <a:avLst/>
          </a:prstGeom>
          <a:noFill/>
          <a:ln w="0">
            <a:noFill/>
          </a:ln>
        </p:spPr>
        <p:txBody>
          <a:bodyPr lIns="0" tIns="0" rIns="0" bIns="0" anchor="t"/>
          <a:lstStyle>
            <a:defPPr>
              <a:defRPr sz="1350" b="0">
                <a:solidFill>
                  <a:srgbClr val="587081"/>
                </a:solidFill>
              </a:defRPr>
            </a:defPPr>
            <a:lvl1pPr>
              <a:defRPr sz="1350" b="0">
                <a:solidFill>
                  <a:srgbClr val="587081"/>
                </a:solidFill>
              </a:defRPr>
            </a:lvl1pPr>
            <a:lvl2pPr>
              <a:defRPr sz="1350" b="0">
                <a:solidFill>
                  <a:srgbClr val="587081"/>
                </a:solidFill>
              </a:defRPr>
            </a:lvl2pPr>
            <a:lvl3pPr>
              <a:defRPr sz="1350" b="0">
                <a:solidFill>
                  <a:srgbClr val="587081"/>
                </a:solidFill>
              </a:defRPr>
            </a:lvl3pPr>
            <a:lvl4pPr>
              <a:defRPr sz="1350" b="0">
                <a:solidFill>
                  <a:srgbClr val="587081"/>
                </a:solidFill>
              </a:defRPr>
            </a:lvl4pPr>
            <a:lvl5pPr>
              <a:defRPr sz="1350" b="0">
                <a:solidFill>
                  <a:srgbClr val="587081"/>
                </a:solidFill>
              </a:defRPr>
            </a:lvl5pPr>
            <a:lvl6pPr>
              <a:defRPr sz="1350" b="0">
                <a:solidFill>
                  <a:srgbClr val="587081"/>
                </a:solidFill>
              </a:defRPr>
            </a:lvl6pPr>
            <a:lvl7pPr>
              <a:defRPr sz="1350" b="0">
                <a:solidFill>
                  <a:srgbClr val="587081"/>
                </a:solidFill>
              </a:defRPr>
            </a:lvl7pPr>
            <a:lvl8pPr>
              <a:defRPr sz="1350" b="0">
                <a:solidFill>
                  <a:srgbClr val="587081"/>
                </a:solidFill>
              </a:defRPr>
            </a:lvl8pPr>
            <a:lvl9pPr>
              <a:defRPr sz="1350" b="0">
                <a:solidFill>
                  <a:srgbClr val="587081"/>
                </a:solidFill>
              </a:defRPr>
            </a:lvl9pPr>
          </a:lstStyle>
          <a:p>
            <a:pPr>
              <a:defRPr sz="1350" b="0">
                <a:solidFill>
                  <a:srgbClr val="587081"/>
                </a:solidFill>
              </a:defRPr>
            </a:pPr>
            <a:r>
              <a:rPr sz="1350" b="0">
                <a:solidFill>
                  <a:srgbClr val="587081"/>
                </a:solidFill>
              </a:rPr>
              <a:t>14 / 20</a:t>
            </a:r>
          </a:p>
        </p:txBody>
      </p:sp>
      <p:sp>
        <p:nvSpPr>
          <p:cNvPr id="4" name="Detailed evidence on the website">
            <a:extLst>
              <a:ext uri="{FF2B5EF4-FFF2-40B4-BE49-F238E27FC236}">
                <a16:creationId xmlns:a16="http://schemas.microsoft.com/office/drawing/2014/main" id="{5126A271-2340-4A20-ACC6-910AF439A066}"/>
              </a:ext>
            </a:extLst>
          </p:cNvPr>
          <p:cNvSpPr>
            <a:spLocks noGrp="1"/>
          </p:cNvSpPr>
          <p:nvPr/>
        </p:nvSpPr>
        <p:spPr>
          <a:xfrm>
            <a:off x="7000875" y="6448425"/>
            <a:ext cx="3476625" cy="238125"/>
          </a:xfrm>
          <a:prstGeom prst="rect">
            <a:avLst/>
          </a:prstGeom>
          <a:noFill/>
          <a:ln w="0">
            <a:noFill/>
          </a:ln>
        </p:spPr>
        <p:txBody>
          <a:bodyPr lIns="0" tIns="0" rIns="0" bIns="0" anchor="t"/>
          <a:lstStyle>
            <a:defPPr>
              <a:defRPr sz="1350" b="0">
                <a:solidFill>
                  <a:srgbClr val="087F95"/>
                </a:solidFill>
              </a:defRPr>
            </a:defPPr>
            <a:lvl1pPr>
              <a:defRPr sz="1350" b="0">
                <a:solidFill>
                  <a:srgbClr val="087F95"/>
                </a:solidFill>
              </a:defRPr>
            </a:lvl1pPr>
            <a:lvl2pPr>
              <a:defRPr sz="1350" b="0">
                <a:solidFill>
                  <a:srgbClr val="087F95"/>
                </a:solidFill>
              </a:defRPr>
            </a:lvl2pPr>
            <a:lvl3pPr>
              <a:defRPr sz="1350" b="0">
                <a:solidFill>
                  <a:srgbClr val="087F95"/>
                </a:solidFill>
              </a:defRPr>
            </a:lvl3pPr>
            <a:lvl4pPr>
              <a:defRPr sz="1350" b="0">
                <a:solidFill>
                  <a:srgbClr val="087F95"/>
                </a:solidFill>
              </a:defRPr>
            </a:lvl4pPr>
            <a:lvl5pPr>
              <a:defRPr sz="1350" b="0">
                <a:solidFill>
                  <a:srgbClr val="087F95"/>
                </a:solidFill>
              </a:defRPr>
            </a:lvl5pPr>
            <a:lvl6pPr>
              <a:defRPr sz="1350" b="0">
                <a:solidFill>
                  <a:srgbClr val="087F95"/>
                </a:solidFill>
              </a:defRPr>
            </a:lvl6pPr>
            <a:lvl7pPr>
              <a:defRPr sz="1350" b="0">
                <a:solidFill>
                  <a:srgbClr val="087F95"/>
                </a:solidFill>
              </a:defRPr>
            </a:lvl7pPr>
            <a:lvl8pPr>
              <a:defRPr sz="1350" b="0">
                <a:solidFill>
                  <a:srgbClr val="087F95"/>
                </a:solidFill>
              </a:defRPr>
            </a:lvl8pPr>
            <a:lvl9pPr>
              <a:defRPr sz="1350" b="0">
                <a:solidFill>
                  <a:srgbClr val="087F95"/>
                </a:solidFill>
              </a:defRPr>
            </a:lvl9pPr>
          </a:lstStyle>
          <a:p>
            <a:pPr>
              <a:defRPr sz="1350" b="0">
                <a:solidFill>
                  <a:srgbClr val="087F95"/>
                </a:solidFill>
              </a:defRPr>
            </a:pPr>
            <a:r>
              <a:rPr sz="1350" b="0">
                <a:solidFill>
                  <a:srgbClr val="087F95"/>
                </a:solidFill>
                <a:hlinkClick r:id="rId3"/>
              </a:rPr>
              <a:t>Detailed evidence on the website</a:t>
            </a:r>
          </a:p>
        </p:txBody>
      </p:sp>
      <p:sp>
        <p:nvSpPr>
          <p:cNvPr id="5" name="JD-08: Test planned">
            <a:extLst>
              <a:ext uri="{FF2B5EF4-FFF2-40B4-BE49-F238E27FC236}">
                <a16:creationId xmlns:a16="http://schemas.microsoft.com/office/drawing/2014/main" id="{3F119FDD-DF8A-41C8-9BFE-47D2B8F1F647}"/>
              </a:ext>
            </a:extLst>
          </p:cNvPr>
          <p:cNvSpPr>
            <a:spLocks noGrp="1"/>
          </p:cNvSpPr>
          <p:nvPr/>
        </p:nvSpPr>
        <p:spPr>
          <a:xfrm>
            <a:off x="533400" y="1371600"/>
            <a:ext cx="10477500" cy="276225"/>
          </a:xfrm>
          <a:prstGeom prst="rect">
            <a:avLst/>
          </a:prstGeom>
          <a:noFill/>
          <a:ln w="0">
            <a:noFill/>
          </a:ln>
        </p:spPr>
        <p:txBody>
          <a:bodyPr lIns="0" tIns="0" rIns="0" bIns="0" anchor="t"/>
          <a:lstStyle>
            <a:defPPr>
              <a:defRPr sz="1650" b="1">
                <a:solidFill>
                  <a:srgbClr val="AD7A22"/>
                </a:solidFill>
              </a:defRPr>
            </a:defPPr>
            <a:lvl1pPr>
              <a:defRPr sz="1650" b="1">
                <a:solidFill>
                  <a:srgbClr val="AD7A22"/>
                </a:solidFill>
              </a:defRPr>
            </a:lvl1pPr>
            <a:lvl2pPr>
              <a:defRPr sz="1650" b="1">
                <a:solidFill>
                  <a:srgbClr val="AD7A22"/>
                </a:solidFill>
              </a:defRPr>
            </a:lvl2pPr>
            <a:lvl3pPr>
              <a:defRPr sz="1650" b="1">
                <a:solidFill>
                  <a:srgbClr val="AD7A22"/>
                </a:solidFill>
              </a:defRPr>
            </a:lvl3pPr>
            <a:lvl4pPr>
              <a:defRPr sz="1650" b="1">
                <a:solidFill>
                  <a:srgbClr val="AD7A22"/>
                </a:solidFill>
              </a:defRPr>
            </a:lvl4pPr>
            <a:lvl5pPr>
              <a:defRPr sz="1650" b="1">
                <a:solidFill>
                  <a:srgbClr val="AD7A22"/>
                </a:solidFill>
              </a:defRPr>
            </a:lvl5pPr>
            <a:lvl6pPr>
              <a:defRPr sz="1650" b="1">
                <a:solidFill>
                  <a:srgbClr val="AD7A22"/>
                </a:solidFill>
              </a:defRPr>
            </a:lvl6pPr>
            <a:lvl7pPr>
              <a:defRPr sz="1650" b="1">
                <a:solidFill>
                  <a:srgbClr val="AD7A22"/>
                </a:solidFill>
              </a:defRPr>
            </a:lvl7pPr>
            <a:lvl8pPr>
              <a:defRPr sz="1650" b="1">
                <a:solidFill>
                  <a:srgbClr val="AD7A22"/>
                </a:solidFill>
              </a:defRPr>
            </a:lvl8pPr>
            <a:lvl9pPr>
              <a:defRPr sz="1650" b="1">
                <a:solidFill>
                  <a:srgbClr val="AD7A22"/>
                </a:solidFill>
              </a:defRPr>
            </a:lvl9pPr>
          </a:lstStyle>
          <a:p>
            <a:pPr>
              <a:defRPr sz="1650" b="1">
                <a:solidFill>
                  <a:srgbClr val="AD7A22"/>
                </a:solidFill>
              </a:defRPr>
            </a:pPr>
            <a:r>
              <a:rPr sz="1650" b="1">
                <a:solidFill>
                  <a:srgbClr val="AD7A22"/>
                </a:solidFill>
              </a:rPr>
              <a:t>JD-08: Test planned</a:t>
            </a:r>
          </a:p>
        </p:txBody>
      </p:sp>
      <p:pic>
        <p:nvPicPr>
          <p:cNvPr id="6" name="Picture 5">
            <a:extLst>
              <a:ext uri="{FF2B5EF4-FFF2-40B4-BE49-F238E27FC236}">
                <a16:creationId xmlns:a16="http://schemas.microsoft.com/office/drawing/2014/main" id="{6298D173-1D98-4D3A-BFA3-D079DD558A32}"/>
              </a:ext>
            </a:extLst>
          </p:cNvPr>
          <p:cNvPicPr>
            <a:picLocks noChangeAspect="1"/>
          </p:cNvPicPr>
          <p:nvPr/>
        </p:nvPicPr>
        <p:blipFill>
          <a:blip r:embed="rId4"/>
          <a:stretch/>
        </p:blipFill>
        <p:spPr>
          <a:xfrm>
            <a:off x="495300" y="2888042"/>
            <a:ext cx="7715250" cy="2091567"/>
          </a:xfrm>
          <a:prstGeom prst="rect">
            <a:avLst/>
          </a:prstGeom>
        </p:spPr>
      </p:pic>
      <p:sp>
        <p:nvSpPr>
          <p:cNvPr id="7" name="Mechanical&#10;Contact, clamp and torque&#10;&#10;Electrical&#10;Power maps and p">
            <a:extLst>
              <a:ext uri="{FF2B5EF4-FFF2-40B4-BE49-F238E27FC236}">
                <a16:creationId xmlns:a16="http://schemas.microsoft.com/office/drawing/2014/main" id="{35591200-C145-440A-8D4F-148F5500A642}"/>
              </a:ext>
            </a:extLst>
          </p:cNvPr>
          <p:cNvSpPr>
            <a:spLocks noGrp="1"/>
          </p:cNvSpPr>
          <p:nvPr/>
        </p:nvSpPr>
        <p:spPr>
          <a:xfrm>
            <a:off x="8515350" y="2047875"/>
            <a:ext cx="3048000" cy="3467100"/>
          </a:xfrm>
          <a:prstGeom prst="rect">
            <a:avLst/>
          </a:prstGeom>
          <a:noFill/>
          <a:ln w="0">
            <a:noFill/>
          </a:ln>
        </p:spPr>
        <p:txBody>
          <a:bodyPr lIns="0" tIns="0" rIns="0" bIns="0" anchor="t"/>
          <a:lstStyle>
            <a:defPPr>
              <a:defRPr sz="1875" b="0">
                <a:solidFill>
                  <a:srgbClr val="142B3D"/>
                </a:solidFill>
              </a:defRPr>
            </a:defPPr>
            <a:lvl1pPr>
              <a:defRPr sz="1875" b="0">
                <a:solidFill>
                  <a:srgbClr val="142B3D"/>
                </a:solidFill>
              </a:defRPr>
            </a:lvl1pPr>
            <a:lvl2pPr>
              <a:defRPr sz="1875" b="0">
                <a:solidFill>
                  <a:srgbClr val="142B3D"/>
                </a:solidFill>
              </a:defRPr>
            </a:lvl2pPr>
            <a:lvl3pPr>
              <a:defRPr sz="1875" b="0">
                <a:solidFill>
                  <a:srgbClr val="142B3D"/>
                </a:solidFill>
              </a:defRPr>
            </a:lvl3pPr>
            <a:lvl4pPr>
              <a:defRPr sz="1875" b="0">
                <a:solidFill>
                  <a:srgbClr val="142B3D"/>
                </a:solidFill>
              </a:defRPr>
            </a:lvl4pPr>
            <a:lvl5pPr>
              <a:defRPr sz="1875" b="0">
                <a:solidFill>
                  <a:srgbClr val="142B3D"/>
                </a:solidFill>
              </a:defRPr>
            </a:lvl5pPr>
            <a:lvl6pPr>
              <a:defRPr sz="1875" b="0">
                <a:solidFill>
                  <a:srgbClr val="142B3D"/>
                </a:solidFill>
              </a:defRPr>
            </a:lvl6pPr>
            <a:lvl7pPr>
              <a:defRPr sz="1875" b="0">
                <a:solidFill>
                  <a:srgbClr val="142B3D"/>
                </a:solidFill>
              </a:defRPr>
            </a:lvl7pPr>
            <a:lvl8pPr>
              <a:defRPr sz="1875" b="0">
                <a:solidFill>
                  <a:srgbClr val="142B3D"/>
                </a:solidFill>
              </a:defRPr>
            </a:lvl8pPr>
            <a:lvl9pPr>
              <a:defRPr sz="1875" b="0">
                <a:solidFill>
                  <a:srgbClr val="142B3D"/>
                </a:solidFill>
              </a:defRPr>
            </a:lvl9pPr>
          </a:lstStyle>
          <a:p>
            <a:pPr>
              <a:defRPr sz="1875" b="0">
                <a:solidFill>
                  <a:srgbClr val="142B3D"/>
                </a:solidFill>
              </a:defRPr>
            </a:pPr>
            <a:r>
              <a:rPr sz="1875" b="0">
                <a:solidFill>
                  <a:srgbClr val="142B3D"/>
                </a:solidFill>
              </a:rPr>
              <a:t>Mechanical</a:t>
            </a:r>
          </a:p>
          <a:p>
            <a:pPr>
              <a:defRPr sz="1875" b="0">
                <a:solidFill>
                  <a:srgbClr val="142B3D"/>
                </a:solidFill>
              </a:defRPr>
            </a:pPr>
            <a:r>
              <a:rPr sz="1875" b="0">
                <a:solidFill>
                  <a:srgbClr val="142B3D"/>
                </a:solidFill>
              </a:rPr>
              <a:t>Contact, clamp and torque</a:t>
            </a:r>
          </a:p>
          <a:p>
            <a:endParaRPr sz="1875" b="0">
              <a:solidFill>
                <a:srgbClr val="142B3D"/>
              </a:solidFill>
            </a:endParaRPr>
          </a:p>
          <a:p>
            <a:pPr>
              <a:defRPr sz="1875" b="0">
                <a:solidFill>
                  <a:srgbClr val="142B3D"/>
                </a:solidFill>
              </a:defRPr>
            </a:pPr>
            <a:r>
              <a:rPr sz="1875" b="0">
                <a:solidFill>
                  <a:srgbClr val="142B3D"/>
                </a:solidFill>
              </a:rPr>
              <a:t>Electrical</a:t>
            </a:r>
          </a:p>
          <a:p>
            <a:pPr>
              <a:defRPr sz="1875" b="0">
                <a:solidFill>
                  <a:srgbClr val="142B3D"/>
                </a:solidFill>
              </a:defRPr>
            </a:pPr>
            <a:r>
              <a:rPr sz="1875" b="0">
                <a:solidFill>
                  <a:srgbClr val="142B3D"/>
                </a:solidFill>
              </a:rPr>
              <a:t>Power maps and protection</a:t>
            </a:r>
          </a:p>
          <a:p>
            <a:endParaRPr sz="1875" b="0">
              <a:solidFill>
                <a:srgbClr val="142B3D"/>
              </a:solidFill>
            </a:endParaRPr>
          </a:p>
          <a:p>
            <a:pPr>
              <a:defRPr sz="1875" b="0">
                <a:solidFill>
                  <a:srgbClr val="142B3D"/>
                </a:solidFill>
              </a:defRPr>
            </a:pPr>
            <a:r>
              <a:rPr sz="1875" b="0">
                <a:solidFill>
                  <a:srgbClr val="142B3D"/>
                </a:solidFill>
              </a:rPr>
              <a:t>Systems / manufacturing</a:t>
            </a:r>
          </a:p>
          <a:p>
            <a:pPr>
              <a:defRPr sz="1875" b="0">
                <a:solidFill>
                  <a:srgbClr val="142B3D"/>
                </a:solidFill>
              </a:defRPr>
            </a:pPr>
            <a:r>
              <a:rPr sz="1875" b="0">
                <a:solidFill>
                  <a:srgbClr val="142B3D"/>
                </a:solidFill>
              </a:rPr>
              <a:t>Sensing and repeatability</a:t>
            </a:r>
          </a:p>
        </p:txBody>
      </p:sp>
      <p:sp>
        <p:nvSpPr>
          <p:cNvPr id="8" name="Interface records identify the decisions and owners needed before">
            <a:extLst>
              <a:ext uri="{FF2B5EF4-FFF2-40B4-BE49-F238E27FC236}">
                <a16:creationId xmlns:a16="http://schemas.microsoft.com/office/drawing/2014/main" id="{3B4D18FD-45BC-4FBB-8F2D-A899FA5F966B}"/>
              </a:ext>
            </a:extLst>
          </p:cNvPr>
          <p:cNvSpPr>
            <a:spLocks noGrp="1"/>
          </p:cNvSpPr>
          <p:nvPr/>
        </p:nvSpPr>
        <p:spPr>
          <a:xfrm>
            <a:off x="533400" y="5886450"/>
            <a:ext cx="10858500" cy="381000"/>
          </a:xfrm>
          <a:prstGeom prst="rect">
            <a:avLst/>
          </a:prstGeom>
          <a:noFill/>
          <a:ln w="0">
            <a:noFill/>
          </a:ln>
        </p:spPr>
        <p:txBody>
          <a:bodyPr lIns="0" tIns="0" rIns="0" bIns="0" anchor="t"/>
          <a:lstStyle>
            <a:defPPr>
              <a:defRPr sz="1800" b="0">
                <a:solidFill>
                  <a:srgbClr val="AD7A22"/>
                </a:solidFill>
              </a:defRPr>
            </a:defPPr>
            <a:lvl1pPr>
              <a:defRPr sz="1800" b="0">
                <a:solidFill>
                  <a:srgbClr val="AD7A22"/>
                </a:solidFill>
              </a:defRPr>
            </a:lvl1pPr>
            <a:lvl2pPr>
              <a:defRPr sz="1800" b="0">
                <a:solidFill>
                  <a:srgbClr val="AD7A22"/>
                </a:solidFill>
              </a:defRPr>
            </a:lvl2pPr>
            <a:lvl3pPr>
              <a:defRPr sz="1800" b="0">
                <a:solidFill>
                  <a:srgbClr val="AD7A22"/>
                </a:solidFill>
              </a:defRPr>
            </a:lvl3pPr>
            <a:lvl4pPr>
              <a:defRPr sz="1800" b="0">
                <a:solidFill>
                  <a:srgbClr val="AD7A22"/>
                </a:solidFill>
              </a:defRPr>
            </a:lvl4pPr>
            <a:lvl5pPr>
              <a:defRPr sz="1800" b="0">
                <a:solidFill>
                  <a:srgbClr val="AD7A22"/>
                </a:solidFill>
              </a:defRPr>
            </a:lvl5pPr>
            <a:lvl6pPr>
              <a:defRPr sz="1800" b="0">
                <a:solidFill>
                  <a:srgbClr val="AD7A22"/>
                </a:solidFill>
              </a:defRPr>
            </a:lvl6pPr>
            <a:lvl7pPr>
              <a:defRPr sz="1800" b="0">
                <a:solidFill>
                  <a:srgbClr val="AD7A22"/>
                </a:solidFill>
              </a:defRPr>
            </a:lvl7pPr>
            <a:lvl8pPr>
              <a:defRPr sz="1800" b="0">
                <a:solidFill>
                  <a:srgbClr val="AD7A22"/>
                </a:solidFill>
              </a:defRPr>
            </a:lvl8pPr>
            <a:lvl9pPr>
              <a:defRPr sz="1800" b="0">
                <a:solidFill>
                  <a:srgbClr val="AD7A22"/>
                </a:solidFill>
              </a:defRPr>
            </a:lvl9pPr>
          </a:lstStyle>
          <a:p>
            <a:pPr>
              <a:defRPr sz="1800" b="0">
                <a:solidFill>
                  <a:srgbClr val="AD7A22"/>
                </a:solidFill>
              </a:defRPr>
            </a:pPr>
            <a:r>
              <a:rPr sz="1800" b="0">
                <a:solidFill>
                  <a:srgbClr val="AD7A22"/>
                </a:solidFill>
              </a:rPr>
              <a:t>Interface records identify the decisions and owners needed before an assembly review.</a:t>
            </a:r>
          </a:p>
        </p:txBody>
      </p:sp>
    </p:spTree>
    <p:extLst>
      <p:ext uri="{BB962C8B-B14F-4D97-AF65-F5344CB8AC3E}">
        <p14:creationId xmlns:p14="http://schemas.microsoft.com/office/powerpoint/2010/main" val="10108814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Documented analysis and standards applicability">
            <a:extLst>
              <a:ext uri="{FF2B5EF4-FFF2-40B4-BE49-F238E27FC236}">
                <a16:creationId xmlns:a16="http://schemas.microsoft.com/office/drawing/2014/main" id="{BEC4860C-20DA-4BF8-9E59-91F6FD1A8A98}"/>
              </a:ext>
            </a:extLst>
          </p:cNvPr>
          <p:cNvSpPr>
            <a:spLocks noGrp="1"/>
          </p:cNvSpPr>
          <p:nvPr/>
        </p:nvSpPr>
        <p:spPr>
          <a:xfrm>
            <a:off x="533400" y="361950"/>
            <a:ext cx="11125200" cy="1028700"/>
          </a:xfrm>
          <a:prstGeom prst="rect">
            <a:avLst/>
          </a:prstGeom>
          <a:noFill/>
          <a:ln w="0">
            <a:noFill/>
          </a:ln>
        </p:spPr>
        <p:txBody>
          <a:bodyPr lIns="0" tIns="0" rIns="0" bIns="0" anchor="t"/>
          <a:lstStyle>
            <a:defPPr>
              <a:defRPr sz="3150" b="1">
                <a:solidFill>
                  <a:srgbClr val="142B3D"/>
                </a:solidFill>
              </a:defRPr>
            </a:defPPr>
            <a:lvl1pPr>
              <a:defRPr sz="3150" b="1">
                <a:solidFill>
                  <a:srgbClr val="142B3D"/>
                </a:solidFill>
              </a:defRPr>
            </a:lvl1pPr>
            <a:lvl2pPr>
              <a:defRPr sz="3150" b="1">
                <a:solidFill>
                  <a:srgbClr val="142B3D"/>
                </a:solidFill>
              </a:defRPr>
            </a:lvl2pPr>
            <a:lvl3pPr>
              <a:defRPr sz="3150" b="1">
                <a:solidFill>
                  <a:srgbClr val="142B3D"/>
                </a:solidFill>
              </a:defRPr>
            </a:lvl3pPr>
            <a:lvl4pPr>
              <a:defRPr sz="3150" b="1">
                <a:solidFill>
                  <a:srgbClr val="142B3D"/>
                </a:solidFill>
              </a:defRPr>
            </a:lvl4pPr>
            <a:lvl5pPr>
              <a:defRPr sz="3150" b="1">
                <a:solidFill>
                  <a:srgbClr val="142B3D"/>
                </a:solidFill>
              </a:defRPr>
            </a:lvl5pPr>
            <a:lvl6pPr>
              <a:defRPr sz="3150" b="1">
                <a:solidFill>
                  <a:srgbClr val="142B3D"/>
                </a:solidFill>
              </a:defRPr>
            </a:lvl6pPr>
            <a:lvl7pPr>
              <a:defRPr sz="3150" b="1">
                <a:solidFill>
                  <a:srgbClr val="142B3D"/>
                </a:solidFill>
              </a:defRPr>
            </a:lvl7pPr>
            <a:lvl8pPr>
              <a:defRPr sz="3150" b="1">
                <a:solidFill>
                  <a:srgbClr val="142B3D"/>
                </a:solidFill>
              </a:defRPr>
            </a:lvl8pPr>
            <a:lvl9pPr>
              <a:defRPr sz="3150" b="1">
                <a:solidFill>
                  <a:srgbClr val="142B3D"/>
                </a:solidFill>
              </a:defRPr>
            </a:lvl9pPr>
          </a:lstStyle>
          <a:p>
            <a:pPr>
              <a:defRPr sz="3150" b="1">
                <a:solidFill>
                  <a:srgbClr val="142B3D"/>
                </a:solidFill>
              </a:defRPr>
            </a:pPr>
            <a:r>
              <a:rPr sz="3150" b="1">
                <a:solidFill>
                  <a:srgbClr val="142B3D"/>
                </a:solidFill>
              </a:rPr>
              <a:t>Documented analysis and standards applicability</a:t>
            </a:r>
          </a:p>
        </p:txBody>
      </p:sp>
      <p:sp>
        <p:nvSpPr>
          <p:cNvPr id="2" name="Khani Solutions">
            <a:extLst>
              <a:ext uri="{FF2B5EF4-FFF2-40B4-BE49-F238E27FC236}">
                <a16:creationId xmlns:a16="http://schemas.microsoft.com/office/drawing/2014/main" id="{EBD818AB-A867-44C0-8C36-B1D30069FE43}"/>
              </a:ext>
            </a:extLst>
          </p:cNvPr>
          <p:cNvSpPr>
            <a:spLocks noGrp="1"/>
          </p:cNvSpPr>
          <p:nvPr/>
        </p:nvSpPr>
        <p:spPr>
          <a:xfrm>
            <a:off x="533400" y="6448425"/>
            <a:ext cx="2190750" cy="238125"/>
          </a:xfrm>
          <a:prstGeom prst="rect">
            <a:avLst/>
          </a:prstGeom>
          <a:noFill/>
          <a:ln w="0">
            <a:noFill/>
          </a:ln>
        </p:spPr>
        <p:txBody>
          <a:bodyPr lIns="0" tIns="0" rIns="0" bIns="0" anchor="t"/>
          <a:lstStyle>
            <a:defPPr>
              <a:defRPr sz="1350" b="0">
                <a:solidFill>
                  <a:srgbClr val="587081"/>
                </a:solidFill>
              </a:defRPr>
            </a:defPPr>
            <a:lvl1pPr>
              <a:defRPr sz="1350" b="0">
                <a:solidFill>
                  <a:srgbClr val="587081"/>
                </a:solidFill>
              </a:defRPr>
            </a:lvl1pPr>
            <a:lvl2pPr>
              <a:defRPr sz="1350" b="0">
                <a:solidFill>
                  <a:srgbClr val="587081"/>
                </a:solidFill>
              </a:defRPr>
            </a:lvl2pPr>
            <a:lvl3pPr>
              <a:defRPr sz="1350" b="0">
                <a:solidFill>
                  <a:srgbClr val="587081"/>
                </a:solidFill>
              </a:defRPr>
            </a:lvl3pPr>
            <a:lvl4pPr>
              <a:defRPr sz="1350" b="0">
                <a:solidFill>
                  <a:srgbClr val="587081"/>
                </a:solidFill>
              </a:defRPr>
            </a:lvl4pPr>
            <a:lvl5pPr>
              <a:defRPr sz="1350" b="0">
                <a:solidFill>
                  <a:srgbClr val="587081"/>
                </a:solidFill>
              </a:defRPr>
            </a:lvl5pPr>
            <a:lvl6pPr>
              <a:defRPr sz="1350" b="0">
                <a:solidFill>
                  <a:srgbClr val="587081"/>
                </a:solidFill>
              </a:defRPr>
            </a:lvl6pPr>
            <a:lvl7pPr>
              <a:defRPr sz="1350" b="0">
                <a:solidFill>
                  <a:srgbClr val="587081"/>
                </a:solidFill>
              </a:defRPr>
            </a:lvl7pPr>
            <a:lvl8pPr>
              <a:defRPr sz="1350" b="0">
                <a:solidFill>
                  <a:srgbClr val="587081"/>
                </a:solidFill>
              </a:defRPr>
            </a:lvl8pPr>
            <a:lvl9pPr>
              <a:defRPr sz="1350" b="0">
                <a:solidFill>
                  <a:srgbClr val="587081"/>
                </a:solidFill>
              </a:defRPr>
            </a:lvl9pPr>
          </a:lstStyle>
          <a:p>
            <a:pPr>
              <a:defRPr sz="1350" b="0">
                <a:solidFill>
                  <a:srgbClr val="587081"/>
                </a:solidFill>
              </a:defRPr>
            </a:pPr>
            <a:r>
              <a:rPr sz="1350" b="0">
                <a:solidFill>
                  <a:srgbClr val="587081"/>
                </a:solidFill>
              </a:rPr>
              <a:t>Khani Solutions</a:t>
            </a:r>
          </a:p>
        </p:txBody>
      </p:sp>
      <p:sp>
        <p:nvSpPr>
          <p:cNvPr id="3" name="15 / 20">
            <a:extLst>
              <a:ext uri="{FF2B5EF4-FFF2-40B4-BE49-F238E27FC236}">
                <a16:creationId xmlns:a16="http://schemas.microsoft.com/office/drawing/2014/main" id="{9E7F35E0-21F2-4DEA-A605-3480D95BCEFB}"/>
              </a:ext>
            </a:extLst>
          </p:cNvPr>
          <p:cNvSpPr>
            <a:spLocks noGrp="1"/>
          </p:cNvSpPr>
          <p:nvPr/>
        </p:nvSpPr>
        <p:spPr>
          <a:xfrm>
            <a:off x="10896600" y="6448425"/>
            <a:ext cx="857250" cy="238125"/>
          </a:xfrm>
          <a:prstGeom prst="rect">
            <a:avLst/>
          </a:prstGeom>
          <a:noFill/>
          <a:ln w="0">
            <a:noFill/>
          </a:ln>
        </p:spPr>
        <p:txBody>
          <a:bodyPr lIns="0" tIns="0" rIns="0" bIns="0" anchor="t"/>
          <a:lstStyle>
            <a:defPPr>
              <a:defRPr sz="1350" b="0">
                <a:solidFill>
                  <a:srgbClr val="587081"/>
                </a:solidFill>
              </a:defRPr>
            </a:defPPr>
            <a:lvl1pPr>
              <a:defRPr sz="1350" b="0">
                <a:solidFill>
                  <a:srgbClr val="587081"/>
                </a:solidFill>
              </a:defRPr>
            </a:lvl1pPr>
            <a:lvl2pPr>
              <a:defRPr sz="1350" b="0">
                <a:solidFill>
                  <a:srgbClr val="587081"/>
                </a:solidFill>
              </a:defRPr>
            </a:lvl2pPr>
            <a:lvl3pPr>
              <a:defRPr sz="1350" b="0">
                <a:solidFill>
                  <a:srgbClr val="587081"/>
                </a:solidFill>
              </a:defRPr>
            </a:lvl3pPr>
            <a:lvl4pPr>
              <a:defRPr sz="1350" b="0">
                <a:solidFill>
                  <a:srgbClr val="587081"/>
                </a:solidFill>
              </a:defRPr>
            </a:lvl4pPr>
            <a:lvl5pPr>
              <a:defRPr sz="1350" b="0">
                <a:solidFill>
                  <a:srgbClr val="587081"/>
                </a:solidFill>
              </a:defRPr>
            </a:lvl5pPr>
            <a:lvl6pPr>
              <a:defRPr sz="1350" b="0">
                <a:solidFill>
                  <a:srgbClr val="587081"/>
                </a:solidFill>
              </a:defRPr>
            </a:lvl6pPr>
            <a:lvl7pPr>
              <a:defRPr sz="1350" b="0">
                <a:solidFill>
                  <a:srgbClr val="587081"/>
                </a:solidFill>
              </a:defRPr>
            </a:lvl7pPr>
            <a:lvl8pPr>
              <a:defRPr sz="1350" b="0">
                <a:solidFill>
                  <a:srgbClr val="587081"/>
                </a:solidFill>
              </a:defRPr>
            </a:lvl8pPr>
            <a:lvl9pPr>
              <a:defRPr sz="1350" b="0">
                <a:solidFill>
                  <a:srgbClr val="587081"/>
                </a:solidFill>
              </a:defRPr>
            </a:lvl9pPr>
          </a:lstStyle>
          <a:p>
            <a:pPr>
              <a:defRPr sz="1350" b="0">
                <a:solidFill>
                  <a:srgbClr val="587081"/>
                </a:solidFill>
              </a:defRPr>
            </a:pPr>
            <a:r>
              <a:rPr sz="1350" b="0">
                <a:solidFill>
                  <a:srgbClr val="587081"/>
                </a:solidFill>
              </a:rPr>
              <a:t>15 / 20</a:t>
            </a:r>
          </a:p>
        </p:txBody>
      </p:sp>
      <p:sp>
        <p:nvSpPr>
          <p:cNvPr id="4" name="Detailed evidence on the website">
            <a:extLst>
              <a:ext uri="{FF2B5EF4-FFF2-40B4-BE49-F238E27FC236}">
                <a16:creationId xmlns:a16="http://schemas.microsoft.com/office/drawing/2014/main" id="{5734BFCD-36AA-4D57-AC78-FE255875A7F4}"/>
              </a:ext>
            </a:extLst>
          </p:cNvPr>
          <p:cNvSpPr>
            <a:spLocks noGrp="1"/>
          </p:cNvSpPr>
          <p:nvPr/>
        </p:nvSpPr>
        <p:spPr>
          <a:xfrm>
            <a:off x="7000875" y="6448425"/>
            <a:ext cx="3476625" cy="238125"/>
          </a:xfrm>
          <a:prstGeom prst="rect">
            <a:avLst/>
          </a:prstGeom>
          <a:noFill/>
          <a:ln w="0">
            <a:noFill/>
          </a:ln>
        </p:spPr>
        <p:txBody>
          <a:bodyPr lIns="0" tIns="0" rIns="0" bIns="0" anchor="t"/>
          <a:lstStyle>
            <a:defPPr>
              <a:defRPr sz="1350" b="0">
                <a:solidFill>
                  <a:srgbClr val="087F95"/>
                </a:solidFill>
              </a:defRPr>
            </a:defPPr>
            <a:lvl1pPr>
              <a:defRPr sz="1350" b="0">
                <a:solidFill>
                  <a:srgbClr val="087F95"/>
                </a:solidFill>
              </a:defRPr>
            </a:lvl1pPr>
            <a:lvl2pPr>
              <a:defRPr sz="1350" b="0">
                <a:solidFill>
                  <a:srgbClr val="087F95"/>
                </a:solidFill>
              </a:defRPr>
            </a:lvl2pPr>
            <a:lvl3pPr>
              <a:defRPr sz="1350" b="0">
                <a:solidFill>
                  <a:srgbClr val="087F95"/>
                </a:solidFill>
              </a:defRPr>
            </a:lvl3pPr>
            <a:lvl4pPr>
              <a:defRPr sz="1350" b="0">
                <a:solidFill>
                  <a:srgbClr val="087F95"/>
                </a:solidFill>
              </a:defRPr>
            </a:lvl4pPr>
            <a:lvl5pPr>
              <a:defRPr sz="1350" b="0">
                <a:solidFill>
                  <a:srgbClr val="087F95"/>
                </a:solidFill>
              </a:defRPr>
            </a:lvl5pPr>
            <a:lvl6pPr>
              <a:defRPr sz="1350" b="0">
                <a:solidFill>
                  <a:srgbClr val="087F95"/>
                </a:solidFill>
              </a:defRPr>
            </a:lvl6pPr>
            <a:lvl7pPr>
              <a:defRPr sz="1350" b="0">
                <a:solidFill>
                  <a:srgbClr val="087F95"/>
                </a:solidFill>
              </a:defRPr>
            </a:lvl7pPr>
            <a:lvl8pPr>
              <a:defRPr sz="1350" b="0">
                <a:solidFill>
                  <a:srgbClr val="087F95"/>
                </a:solidFill>
              </a:defRPr>
            </a:lvl8pPr>
            <a:lvl9pPr>
              <a:defRPr sz="1350" b="0">
                <a:solidFill>
                  <a:srgbClr val="087F95"/>
                </a:solidFill>
              </a:defRPr>
            </a:lvl9pPr>
          </a:lstStyle>
          <a:p>
            <a:pPr>
              <a:defRPr sz="1350" b="0">
                <a:solidFill>
                  <a:srgbClr val="087F95"/>
                </a:solidFill>
              </a:defRPr>
            </a:pPr>
            <a:r>
              <a:rPr sz="1350" b="0">
                <a:solidFill>
                  <a:srgbClr val="087F95"/>
                </a:solidFill>
                <a:hlinkClick r:id="rId3"/>
              </a:rPr>
              <a:t>Detailed evidence on the website</a:t>
            </a:r>
          </a:p>
        </p:txBody>
      </p:sp>
      <p:sp>
        <p:nvSpPr>
          <p:cNvPr id="5" name="JD-09: Simulation evidence">
            <a:extLst>
              <a:ext uri="{FF2B5EF4-FFF2-40B4-BE49-F238E27FC236}">
                <a16:creationId xmlns:a16="http://schemas.microsoft.com/office/drawing/2014/main" id="{29056671-E501-4DC4-9699-CD65BEF1850D}"/>
              </a:ext>
            </a:extLst>
          </p:cNvPr>
          <p:cNvSpPr>
            <a:spLocks noGrp="1"/>
          </p:cNvSpPr>
          <p:nvPr/>
        </p:nvSpPr>
        <p:spPr>
          <a:xfrm>
            <a:off x="533400" y="1371600"/>
            <a:ext cx="10477500" cy="276225"/>
          </a:xfrm>
          <a:prstGeom prst="rect">
            <a:avLst/>
          </a:prstGeom>
          <a:noFill/>
          <a:ln w="0">
            <a:noFill/>
          </a:ln>
        </p:spPr>
        <p:txBody>
          <a:bodyPr lIns="0" tIns="0" rIns="0" bIns="0" anchor="t"/>
          <a:lstStyle>
            <a:defPPr>
              <a:defRPr sz="1650" b="1">
                <a:solidFill>
                  <a:srgbClr val="087F95"/>
                </a:solidFill>
              </a:defRPr>
            </a:defPPr>
            <a:lvl1pPr>
              <a:defRPr sz="1650" b="1">
                <a:solidFill>
                  <a:srgbClr val="087F95"/>
                </a:solidFill>
              </a:defRPr>
            </a:lvl1pPr>
            <a:lvl2pPr>
              <a:defRPr sz="1650" b="1">
                <a:solidFill>
                  <a:srgbClr val="087F95"/>
                </a:solidFill>
              </a:defRPr>
            </a:lvl2pPr>
            <a:lvl3pPr>
              <a:defRPr sz="1650" b="1">
                <a:solidFill>
                  <a:srgbClr val="087F95"/>
                </a:solidFill>
              </a:defRPr>
            </a:lvl3pPr>
            <a:lvl4pPr>
              <a:defRPr sz="1650" b="1">
                <a:solidFill>
                  <a:srgbClr val="087F95"/>
                </a:solidFill>
              </a:defRPr>
            </a:lvl4pPr>
            <a:lvl5pPr>
              <a:defRPr sz="1650" b="1">
                <a:solidFill>
                  <a:srgbClr val="087F95"/>
                </a:solidFill>
              </a:defRPr>
            </a:lvl5pPr>
            <a:lvl6pPr>
              <a:defRPr sz="1650" b="1">
                <a:solidFill>
                  <a:srgbClr val="087F95"/>
                </a:solidFill>
              </a:defRPr>
            </a:lvl6pPr>
            <a:lvl7pPr>
              <a:defRPr sz="1650" b="1">
                <a:solidFill>
                  <a:srgbClr val="087F95"/>
                </a:solidFill>
              </a:defRPr>
            </a:lvl7pPr>
            <a:lvl8pPr>
              <a:defRPr sz="1650" b="1">
                <a:solidFill>
                  <a:srgbClr val="087F95"/>
                </a:solidFill>
              </a:defRPr>
            </a:lvl8pPr>
            <a:lvl9pPr>
              <a:defRPr sz="1650" b="1">
                <a:solidFill>
                  <a:srgbClr val="087F95"/>
                </a:solidFill>
              </a:defRPr>
            </a:lvl9pPr>
          </a:lstStyle>
          <a:p>
            <a:pPr>
              <a:defRPr sz="1650" b="1">
                <a:solidFill>
                  <a:srgbClr val="087F95"/>
                </a:solidFill>
              </a:defRPr>
            </a:pPr>
            <a:r>
              <a:rPr sz="1650" b="1">
                <a:solidFill>
                  <a:srgbClr val="087F95"/>
                </a:solidFill>
              </a:rPr>
              <a:t>JD-09: Simulation evidence</a:t>
            </a:r>
          </a:p>
        </p:txBody>
      </p:sp>
      <p:graphicFrame>
        <p:nvGraphicFramePr>
          <p:cNvPr id="6" name="Table 5">
            <a:extLst>
              <a:ext uri="{FF2B5EF4-FFF2-40B4-BE49-F238E27FC236}">
                <a16:creationId xmlns:a16="http://schemas.microsoft.com/office/drawing/2014/main" id="{E08249F0-17C8-43EA-8076-6BA64CAABD38}"/>
              </a:ext>
            </a:extLst>
          </p:cNvPr>
          <p:cNvGraphicFramePr/>
          <p:nvPr/>
        </p:nvGraphicFramePr>
        <p:xfrm>
          <a:off x="533400" y="2009775"/>
          <a:ext cx="11125200" cy="3238500"/>
        </p:xfrm>
        <a:graphic>
          <a:graphicData uri="http://schemas.openxmlformats.org/drawingml/2006/table">
            <a:tbl>
              <a:tblPr firstRow="1"/>
              <a:tblGrid>
                <a:gridCol w="3714750">
                  <a:extLst>
                    <a:ext uri="{9D8B030D-6E8A-4147-A177-3AD203B41FA5}">
                      <a16:colId xmlns:a16="http://schemas.microsoft.com/office/drawing/2014/main" val="20000"/>
                    </a:ext>
                  </a:extLst>
                </a:gridCol>
                <a:gridCol w="7410450">
                  <a:extLst>
                    <a:ext uri="{9D8B030D-6E8A-4147-A177-3AD203B41FA5}">
                      <a16:colId xmlns:a16="http://schemas.microsoft.com/office/drawing/2014/main" val="20001"/>
                    </a:ext>
                  </a:extLst>
                </a:gridCol>
              </a:tblGrid>
              <a:tr h="647700">
                <a:tc>
                  <a:txBody>
                    <a:bodyPr/>
                    <a:lstStyle/>
                    <a:p>
                      <a:r>
                        <a:rPr sz="1875" b="1">
                          <a:solidFill>
                            <a:srgbClr val="FFFFFF"/>
                          </a:solidFill>
                        </a:rPr>
                        <a:t>Evidence record</a:t>
                      </a:r>
                    </a:p>
                  </a:txBody>
                  <a:tcPr marL="95250" marR="95250" marT="76200" marB="76200" anchor="ctr">
                    <a:lnL w="7620">
                      <a:solidFill>
                        <a:srgbClr val="E4EBEF"/>
                      </a:solidFill>
                      <a:prstDash val="solid"/>
                    </a:lnL>
                    <a:lnR w="7620">
                      <a:solidFill>
                        <a:srgbClr val="E4EBEF"/>
                      </a:solidFill>
                      <a:prstDash val="solid"/>
                    </a:lnR>
                    <a:lnT w="7620">
                      <a:solidFill>
                        <a:srgbClr val="E4EBEF"/>
                      </a:solidFill>
                      <a:prstDash val="solid"/>
                    </a:lnT>
                    <a:lnB w="7620">
                      <a:solidFill>
                        <a:srgbClr val="E4EBEF"/>
                      </a:solidFill>
                      <a:prstDash val="solid"/>
                    </a:lnB>
                    <a:solidFill>
                      <a:srgbClr val="142B3D"/>
                    </a:solidFill>
                  </a:tcPr>
                </a:tc>
                <a:tc>
                  <a:txBody>
                    <a:bodyPr/>
                    <a:lstStyle/>
                    <a:p>
                      <a:r>
                        <a:rPr sz="1875" b="1">
                          <a:solidFill>
                            <a:srgbClr val="FFFFFF"/>
                          </a:solidFill>
                        </a:rPr>
                        <a:t>What it controls</a:t>
                      </a:r>
                    </a:p>
                  </a:txBody>
                  <a:tcPr marL="95250" marR="95250" marT="76200" marB="76200" anchor="ctr">
                    <a:lnL w="7620" cap="flat" cmpd="sng" algn="ctr">
                      <a:solidFill>
                        <a:srgbClr val="E4EBEF"/>
                      </a:solidFill>
                      <a:prstDash val="solid"/>
                      <a:round/>
                      <a:headEnd type="none" w="med" len="med"/>
                      <a:tailEnd type="none" w="med" len="med"/>
                    </a:lnL>
                    <a:lnR w="7620">
                      <a:solidFill>
                        <a:srgbClr val="E4EBEF"/>
                      </a:solidFill>
                      <a:prstDash val="solid"/>
                    </a:lnR>
                    <a:lnT w="7620">
                      <a:solidFill>
                        <a:srgbClr val="E4EBEF"/>
                      </a:solidFill>
                      <a:prstDash val="solid"/>
                    </a:lnT>
                    <a:lnB w="7620">
                      <a:solidFill>
                        <a:srgbClr val="E4EBEF"/>
                      </a:solidFill>
                      <a:prstDash val="solid"/>
                    </a:lnB>
                    <a:solidFill>
                      <a:srgbClr val="142B3D"/>
                    </a:solidFill>
                  </a:tcPr>
                </a:tc>
                <a:extLst>
                  <a:ext uri="{0D108BD9-81ED-4DB2-BD59-A6C34878D82A}">
                    <a16:rowId xmlns:a16="http://schemas.microsoft.com/office/drawing/2014/main" val="10000"/>
                  </a:ext>
                </a:extLst>
              </a:tr>
              <a:tr h="647700">
                <a:tc>
                  <a:txBody>
                    <a:bodyPr/>
                    <a:lstStyle/>
                    <a:p>
                      <a:r>
                        <a:rPr sz="1875">
                          <a:solidFill>
                            <a:srgbClr val="142B3D"/>
                          </a:solidFill>
                        </a:rPr>
                        <a:t>Requirements and assumptions</a:t>
                      </a:r>
                    </a:p>
                  </a:txBody>
                  <a:tcPr marL="95250" marR="95250" marT="76200" marB="76200" anchor="ctr">
                    <a:lnL w="7620">
                      <a:solidFill>
                        <a:srgbClr val="E4EBEF"/>
                      </a:solidFill>
                      <a:prstDash val="solid"/>
                    </a:lnL>
                    <a:lnR w="7620">
                      <a:solidFill>
                        <a:srgbClr val="E4EBEF"/>
                      </a:solidFill>
                      <a:prstDash val="solid"/>
                    </a:lnR>
                    <a:lnT w="7620" cap="flat" cmpd="sng" algn="ctr">
                      <a:solidFill>
                        <a:srgbClr val="E4EBEF"/>
                      </a:solidFill>
                      <a:prstDash val="solid"/>
                      <a:round/>
                      <a:headEnd type="none" w="med" len="med"/>
                      <a:tailEnd type="none" w="med" len="med"/>
                    </a:lnT>
                    <a:lnB w="7620">
                      <a:solidFill>
                        <a:srgbClr val="E4EBEF"/>
                      </a:solidFill>
                      <a:prstDash val="solid"/>
                    </a:lnB>
                    <a:solidFill>
                      <a:srgbClr val="FFFFFF"/>
                    </a:solidFill>
                  </a:tcPr>
                </a:tc>
                <a:tc>
                  <a:txBody>
                    <a:bodyPr/>
                    <a:lstStyle/>
                    <a:p>
                      <a:r>
                        <a:rPr sz="1875">
                          <a:solidFill>
                            <a:srgbClr val="142B3D"/>
                          </a:solidFill>
                        </a:rPr>
                        <a:t>Limits, provenance and model boundaries</a:t>
                      </a:r>
                    </a:p>
                  </a:txBody>
                  <a:tcPr marL="95250" marR="95250" marT="76200" marB="76200" anchor="ctr">
                    <a:lnL w="7620" cap="flat" cmpd="sng" algn="ctr">
                      <a:solidFill>
                        <a:srgbClr val="E4EBEF"/>
                      </a:solidFill>
                      <a:prstDash val="solid"/>
                      <a:round/>
                      <a:headEnd type="none" w="med" len="med"/>
                      <a:tailEnd type="none" w="med" len="med"/>
                    </a:lnL>
                    <a:lnR w="7620">
                      <a:solidFill>
                        <a:srgbClr val="E4EBEF"/>
                      </a:solidFill>
                      <a:prstDash val="solid"/>
                    </a:lnR>
                    <a:lnT w="7620" cap="flat" cmpd="sng" algn="ctr">
                      <a:solidFill>
                        <a:srgbClr val="E4EBEF"/>
                      </a:solidFill>
                      <a:prstDash val="solid"/>
                      <a:round/>
                      <a:headEnd type="none" w="med" len="med"/>
                      <a:tailEnd type="none" w="med" len="med"/>
                    </a:lnT>
                    <a:lnB w="7620">
                      <a:solidFill>
                        <a:srgbClr val="E4EBEF"/>
                      </a:solidFill>
                      <a:prstDash val="solid"/>
                    </a:lnB>
                    <a:solidFill>
                      <a:srgbClr val="FFFFFF"/>
                    </a:solidFill>
                  </a:tcPr>
                </a:tc>
                <a:extLst>
                  <a:ext uri="{0D108BD9-81ED-4DB2-BD59-A6C34878D82A}">
                    <a16:rowId xmlns:a16="http://schemas.microsoft.com/office/drawing/2014/main" val="10001"/>
                  </a:ext>
                </a:extLst>
              </a:tr>
              <a:tr h="647700">
                <a:tc>
                  <a:txBody>
                    <a:bodyPr/>
                    <a:lstStyle/>
                    <a:p>
                      <a:r>
                        <a:rPr sz="1875">
                          <a:solidFill>
                            <a:srgbClr val="142B3D"/>
                          </a:solidFill>
                        </a:rPr>
                        <a:t>Native source and raw outputs</a:t>
                      </a:r>
                    </a:p>
                  </a:txBody>
                  <a:tcPr marL="95250" marR="95250" marT="76200" marB="76200" anchor="ctr">
                    <a:lnL w="7620">
                      <a:solidFill>
                        <a:srgbClr val="E4EBEF"/>
                      </a:solidFill>
                      <a:prstDash val="solid"/>
                    </a:lnL>
                    <a:lnR w="7620">
                      <a:solidFill>
                        <a:srgbClr val="E4EBEF"/>
                      </a:solidFill>
                      <a:prstDash val="solid"/>
                    </a:lnR>
                    <a:lnT w="7620" cap="flat" cmpd="sng" algn="ctr">
                      <a:solidFill>
                        <a:srgbClr val="E4EBEF"/>
                      </a:solidFill>
                      <a:prstDash val="solid"/>
                      <a:round/>
                      <a:headEnd type="none" w="med" len="med"/>
                      <a:tailEnd type="none" w="med" len="med"/>
                    </a:lnT>
                    <a:lnB w="7620">
                      <a:solidFill>
                        <a:srgbClr val="E4EBEF"/>
                      </a:solidFill>
                      <a:prstDash val="solid"/>
                    </a:lnB>
                    <a:solidFill>
                      <a:srgbClr val="FFFFFF"/>
                    </a:solidFill>
                  </a:tcPr>
                </a:tc>
                <a:tc>
                  <a:txBody>
                    <a:bodyPr/>
                    <a:lstStyle/>
                    <a:p>
                      <a:r>
                        <a:rPr sz="1875">
                          <a:solidFill>
                            <a:srgbClr val="142B3D"/>
                          </a:solidFill>
                        </a:rPr>
                        <a:t>Reproducibility and configuration</a:t>
                      </a:r>
                    </a:p>
                  </a:txBody>
                  <a:tcPr marL="95250" marR="95250" marT="76200" marB="76200" anchor="ctr">
                    <a:lnL w="7620" cap="flat" cmpd="sng" algn="ctr">
                      <a:solidFill>
                        <a:srgbClr val="E4EBEF"/>
                      </a:solidFill>
                      <a:prstDash val="solid"/>
                      <a:round/>
                      <a:headEnd type="none" w="med" len="med"/>
                      <a:tailEnd type="none" w="med" len="med"/>
                    </a:lnL>
                    <a:lnR w="7620">
                      <a:solidFill>
                        <a:srgbClr val="E4EBEF"/>
                      </a:solidFill>
                      <a:prstDash val="solid"/>
                    </a:lnR>
                    <a:lnT w="7620" cap="flat" cmpd="sng" algn="ctr">
                      <a:solidFill>
                        <a:srgbClr val="E4EBEF"/>
                      </a:solidFill>
                      <a:prstDash val="solid"/>
                      <a:round/>
                      <a:headEnd type="none" w="med" len="med"/>
                      <a:tailEnd type="none" w="med" len="med"/>
                    </a:lnT>
                    <a:lnB w="7620">
                      <a:solidFill>
                        <a:srgbClr val="E4EBEF"/>
                      </a:solidFill>
                      <a:prstDash val="solid"/>
                    </a:lnB>
                    <a:solidFill>
                      <a:srgbClr val="FFFFFF"/>
                    </a:solidFill>
                  </a:tcPr>
                </a:tc>
                <a:extLst>
                  <a:ext uri="{0D108BD9-81ED-4DB2-BD59-A6C34878D82A}">
                    <a16:rowId xmlns:a16="http://schemas.microsoft.com/office/drawing/2014/main" val="10002"/>
                  </a:ext>
                </a:extLst>
              </a:tr>
              <a:tr h="647700">
                <a:tc>
                  <a:txBody>
                    <a:bodyPr/>
                    <a:lstStyle/>
                    <a:p>
                      <a:r>
                        <a:rPr sz="1875">
                          <a:solidFill>
                            <a:srgbClr val="142B3D"/>
                          </a:solidFill>
                        </a:rPr>
                        <a:t>Design decisions and risks</a:t>
                      </a:r>
                    </a:p>
                  </a:txBody>
                  <a:tcPr marL="95250" marR="95250" marT="76200" marB="76200" anchor="ctr">
                    <a:lnL w="7620">
                      <a:solidFill>
                        <a:srgbClr val="E4EBEF"/>
                      </a:solidFill>
                      <a:prstDash val="solid"/>
                    </a:lnL>
                    <a:lnR w="7620">
                      <a:solidFill>
                        <a:srgbClr val="E4EBEF"/>
                      </a:solidFill>
                      <a:prstDash val="solid"/>
                    </a:lnR>
                    <a:lnT w="7620" cap="flat" cmpd="sng" algn="ctr">
                      <a:solidFill>
                        <a:srgbClr val="E4EBEF"/>
                      </a:solidFill>
                      <a:prstDash val="solid"/>
                      <a:round/>
                      <a:headEnd type="none" w="med" len="med"/>
                      <a:tailEnd type="none" w="med" len="med"/>
                    </a:lnT>
                    <a:lnB w="7620">
                      <a:solidFill>
                        <a:srgbClr val="E4EBEF"/>
                      </a:solidFill>
                      <a:prstDash val="solid"/>
                    </a:lnB>
                    <a:solidFill>
                      <a:srgbClr val="FFFFFF"/>
                    </a:solidFill>
                  </a:tcPr>
                </a:tc>
                <a:tc>
                  <a:txBody>
                    <a:bodyPr/>
                    <a:lstStyle/>
                    <a:p>
                      <a:r>
                        <a:rPr sz="1875">
                          <a:solidFill>
                            <a:srgbClr val="142B3D"/>
                          </a:solidFill>
                        </a:rPr>
                        <a:t>Why a configuration changed</a:t>
                      </a:r>
                    </a:p>
                  </a:txBody>
                  <a:tcPr marL="95250" marR="95250" marT="76200" marB="76200" anchor="ctr">
                    <a:lnL w="7620" cap="flat" cmpd="sng" algn="ctr">
                      <a:solidFill>
                        <a:srgbClr val="E4EBEF"/>
                      </a:solidFill>
                      <a:prstDash val="solid"/>
                      <a:round/>
                      <a:headEnd type="none" w="med" len="med"/>
                      <a:tailEnd type="none" w="med" len="med"/>
                    </a:lnL>
                    <a:lnR w="7620">
                      <a:solidFill>
                        <a:srgbClr val="E4EBEF"/>
                      </a:solidFill>
                      <a:prstDash val="solid"/>
                    </a:lnR>
                    <a:lnT w="7620" cap="flat" cmpd="sng" algn="ctr">
                      <a:solidFill>
                        <a:srgbClr val="E4EBEF"/>
                      </a:solidFill>
                      <a:prstDash val="solid"/>
                      <a:round/>
                      <a:headEnd type="none" w="med" len="med"/>
                      <a:tailEnd type="none" w="med" len="med"/>
                    </a:lnT>
                    <a:lnB w="7620">
                      <a:solidFill>
                        <a:srgbClr val="E4EBEF"/>
                      </a:solidFill>
                      <a:prstDash val="solid"/>
                    </a:lnB>
                    <a:solidFill>
                      <a:srgbClr val="FFFFFF"/>
                    </a:solidFill>
                  </a:tcPr>
                </a:tc>
                <a:extLst>
                  <a:ext uri="{0D108BD9-81ED-4DB2-BD59-A6C34878D82A}">
                    <a16:rowId xmlns:a16="http://schemas.microsoft.com/office/drawing/2014/main" val="10003"/>
                  </a:ext>
                </a:extLst>
              </a:tr>
              <a:tr h="647700">
                <a:tc>
                  <a:txBody>
                    <a:bodyPr/>
                    <a:lstStyle/>
                    <a:p>
                      <a:r>
                        <a:rPr sz="1875">
                          <a:solidFill>
                            <a:srgbClr val="142B3D"/>
                          </a:solidFill>
                        </a:rPr>
                        <a:t>Standards applicability</a:t>
                      </a:r>
                    </a:p>
                  </a:txBody>
                  <a:tcPr marL="95250" marR="95250" marT="76200" marB="76200" anchor="ctr">
                    <a:lnL w="7620">
                      <a:solidFill>
                        <a:srgbClr val="E4EBEF"/>
                      </a:solidFill>
                      <a:prstDash val="solid"/>
                    </a:lnL>
                    <a:lnR w="7620">
                      <a:solidFill>
                        <a:srgbClr val="E4EBEF"/>
                      </a:solidFill>
                      <a:prstDash val="solid"/>
                    </a:lnR>
                    <a:lnT w="7620" cap="flat" cmpd="sng" algn="ctr">
                      <a:solidFill>
                        <a:srgbClr val="E4EBEF"/>
                      </a:solidFill>
                      <a:prstDash val="solid"/>
                      <a:round/>
                      <a:headEnd type="none" w="med" len="med"/>
                      <a:tailEnd type="none" w="med" len="med"/>
                    </a:lnT>
                    <a:lnB w="7620">
                      <a:solidFill>
                        <a:srgbClr val="E4EBEF"/>
                      </a:solidFill>
                      <a:prstDash val="solid"/>
                    </a:lnB>
                    <a:solidFill>
                      <a:srgbClr val="FFFFFF"/>
                    </a:solidFill>
                  </a:tcPr>
                </a:tc>
                <a:tc>
                  <a:txBody>
                    <a:bodyPr/>
                    <a:lstStyle/>
                    <a:p>
                      <a:r>
                        <a:rPr sz="1875">
                          <a:solidFill>
                            <a:srgbClr val="142B3D"/>
                          </a:solidFill>
                        </a:rPr>
                        <a:t>Authority, edition, tailoring and acceptance</a:t>
                      </a:r>
                    </a:p>
                  </a:txBody>
                  <a:tcPr marL="95250" marR="95250" marT="76200" marB="76200" anchor="ctr">
                    <a:lnL w="7620" cap="flat" cmpd="sng" algn="ctr">
                      <a:solidFill>
                        <a:srgbClr val="E4EBEF"/>
                      </a:solidFill>
                      <a:prstDash val="solid"/>
                      <a:round/>
                      <a:headEnd type="none" w="med" len="med"/>
                      <a:tailEnd type="none" w="med" len="med"/>
                    </a:lnL>
                    <a:lnR w="7620">
                      <a:solidFill>
                        <a:srgbClr val="E4EBEF"/>
                      </a:solidFill>
                      <a:prstDash val="solid"/>
                    </a:lnR>
                    <a:lnT w="7620" cap="flat" cmpd="sng" algn="ctr">
                      <a:solidFill>
                        <a:srgbClr val="E4EBEF"/>
                      </a:solidFill>
                      <a:prstDash val="solid"/>
                      <a:round/>
                      <a:headEnd type="none" w="med" len="med"/>
                      <a:tailEnd type="none" w="med" len="med"/>
                    </a:lnT>
                    <a:lnB w="7620">
                      <a:solidFill>
                        <a:srgbClr val="E4EBEF"/>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7" name="Candidate references: DO-160, GEVS and NIST uncertainty guidance">
            <a:extLst>
              <a:ext uri="{FF2B5EF4-FFF2-40B4-BE49-F238E27FC236}">
                <a16:creationId xmlns:a16="http://schemas.microsoft.com/office/drawing/2014/main" id="{30BCFB37-57D3-47FE-A74A-F819A264C0B7}"/>
              </a:ext>
            </a:extLst>
          </p:cNvPr>
          <p:cNvSpPr>
            <a:spLocks noGrp="1"/>
          </p:cNvSpPr>
          <p:nvPr/>
        </p:nvSpPr>
        <p:spPr>
          <a:xfrm>
            <a:off x="533400" y="5505450"/>
            <a:ext cx="11049000" cy="400050"/>
          </a:xfrm>
          <a:prstGeom prst="rect">
            <a:avLst/>
          </a:prstGeom>
          <a:noFill/>
          <a:ln w="0">
            <a:noFill/>
          </a:ln>
        </p:spPr>
        <p:txBody>
          <a:bodyPr lIns="0" tIns="0" rIns="0" bIns="0" anchor="t"/>
          <a:lstStyle>
            <a:defPPr>
              <a:defRPr sz="2025" b="1">
                <a:solidFill>
                  <a:srgbClr val="142B3D"/>
                </a:solidFill>
              </a:defRPr>
            </a:defPPr>
            <a:lvl1pPr>
              <a:defRPr sz="2025" b="1">
                <a:solidFill>
                  <a:srgbClr val="142B3D"/>
                </a:solidFill>
              </a:defRPr>
            </a:lvl1pPr>
            <a:lvl2pPr>
              <a:defRPr sz="2025" b="1">
                <a:solidFill>
                  <a:srgbClr val="142B3D"/>
                </a:solidFill>
              </a:defRPr>
            </a:lvl2pPr>
            <a:lvl3pPr>
              <a:defRPr sz="2025" b="1">
                <a:solidFill>
                  <a:srgbClr val="142B3D"/>
                </a:solidFill>
              </a:defRPr>
            </a:lvl3pPr>
            <a:lvl4pPr>
              <a:defRPr sz="2025" b="1">
                <a:solidFill>
                  <a:srgbClr val="142B3D"/>
                </a:solidFill>
              </a:defRPr>
            </a:lvl4pPr>
            <a:lvl5pPr>
              <a:defRPr sz="2025" b="1">
                <a:solidFill>
                  <a:srgbClr val="142B3D"/>
                </a:solidFill>
              </a:defRPr>
            </a:lvl5pPr>
            <a:lvl6pPr>
              <a:defRPr sz="2025" b="1">
                <a:solidFill>
                  <a:srgbClr val="142B3D"/>
                </a:solidFill>
              </a:defRPr>
            </a:lvl6pPr>
            <a:lvl7pPr>
              <a:defRPr sz="2025" b="1">
                <a:solidFill>
                  <a:srgbClr val="142B3D"/>
                </a:solidFill>
              </a:defRPr>
            </a:lvl7pPr>
            <a:lvl8pPr>
              <a:defRPr sz="2025" b="1">
                <a:solidFill>
                  <a:srgbClr val="142B3D"/>
                </a:solidFill>
              </a:defRPr>
            </a:lvl8pPr>
            <a:lvl9pPr>
              <a:defRPr sz="2025" b="1">
                <a:solidFill>
                  <a:srgbClr val="142B3D"/>
                </a:solidFill>
              </a:defRPr>
            </a:lvl9pPr>
          </a:lstStyle>
          <a:p>
            <a:pPr>
              <a:defRPr sz="2025" b="1">
                <a:solidFill>
                  <a:srgbClr val="142B3D"/>
                </a:solidFill>
              </a:defRPr>
            </a:pPr>
            <a:r>
              <a:rPr sz="2025" b="1">
                <a:solidFill>
                  <a:srgbClr val="142B3D"/>
                </a:solidFill>
              </a:rPr>
              <a:t>Candidate references: DO-160, GEVS and NIST uncertainty guidance</a:t>
            </a:r>
          </a:p>
        </p:txBody>
      </p:sp>
      <p:sp>
        <p:nvSpPr>
          <p:cNvPr id="8" name="Applicability reviewed. No compliance or qualification declaratio">
            <a:extLst>
              <a:ext uri="{FF2B5EF4-FFF2-40B4-BE49-F238E27FC236}">
                <a16:creationId xmlns:a16="http://schemas.microsoft.com/office/drawing/2014/main" id="{F2910E78-02AF-4A13-9AE3-6019E6657E33}"/>
              </a:ext>
            </a:extLst>
          </p:cNvPr>
          <p:cNvSpPr>
            <a:spLocks noGrp="1"/>
          </p:cNvSpPr>
          <p:nvPr/>
        </p:nvSpPr>
        <p:spPr>
          <a:xfrm>
            <a:off x="533400" y="5953125"/>
            <a:ext cx="11049000" cy="333375"/>
          </a:xfrm>
          <a:prstGeom prst="rect">
            <a:avLst/>
          </a:prstGeom>
          <a:noFill/>
          <a:ln w="0">
            <a:noFill/>
          </a:ln>
        </p:spPr>
        <p:txBody>
          <a:bodyPr lIns="0" tIns="0" rIns="0" bIns="0" anchor="t"/>
          <a:lstStyle>
            <a:defPPr>
              <a:defRPr sz="1725" b="0">
                <a:solidFill>
                  <a:srgbClr val="AD7A22"/>
                </a:solidFill>
              </a:defRPr>
            </a:defPPr>
            <a:lvl1pPr>
              <a:defRPr sz="1725" b="0">
                <a:solidFill>
                  <a:srgbClr val="AD7A22"/>
                </a:solidFill>
              </a:defRPr>
            </a:lvl1pPr>
            <a:lvl2pPr>
              <a:defRPr sz="1725" b="0">
                <a:solidFill>
                  <a:srgbClr val="AD7A22"/>
                </a:solidFill>
              </a:defRPr>
            </a:lvl2pPr>
            <a:lvl3pPr>
              <a:defRPr sz="1725" b="0">
                <a:solidFill>
                  <a:srgbClr val="AD7A22"/>
                </a:solidFill>
              </a:defRPr>
            </a:lvl3pPr>
            <a:lvl4pPr>
              <a:defRPr sz="1725" b="0">
                <a:solidFill>
                  <a:srgbClr val="AD7A22"/>
                </a:solidFill>
              </a:defRPr>
            </a:lvl4pPr>
            <a:lvl5pPr>
              <a:defRPr sz="1725" b="0">
                <a:solidFill>
                  <a:srgbClr val="AD7A22"/>
                </a:solidFill>
              </a:defRPr>
            </a:lvl5pPr>
            <a:lvl6pPr>
              <a:defRPr sz="1725" b="0">
                <a:solidFill>
                  <a:srgbClr val="AD7A22"/>
                </a:solidFill>
              </a:defRPr>
            </a:lvl6pPr>
            <a:lvl7pPr>
              <a:defRPr sz="1725" b="0">
                <a:solidFill>
                  <a:srgbClr val="AD7A22"/>
                </a:solidFill>
              </a:defRPr>
            </a:lvl7pPr>
            <a:lvl8pPr>
              <a:defRPr sz="1725" b="0">
                <a:solidFill>
                  <a:srgbClr val="AD7A22"/>
                </a:solidFill>
              </a:defRPr>
            </a:lvl8pPr>
            <a:lvl9pPr>
              <a:defRPr sz="1725" b="0">
                <a:solidFill>
                  <a:srgbClr val="AD7A22"/>
                </a:solidFill>
              </a:defRPr>
            </a:lvl9pPr>
          </a:lstStyle>
          <a:p>
            <a:pPr>
              <a:defRPr sz="1725" b="0">
                <a:solidFill>
                  <a:srgbClr val="AD7A22"/>
                </a:solidFill>
              </a:defRPr>
            </a:pPr>
            <a:r>
              <a:rPr sz="1725" b="0">
                <a:solidFill>
                  <a:srgbClr val="AD7A22"/>
                </a:solidFill>
              </a:rPr>
              <a:t>Applicability reviewed. No compliance or qualification declaration.</a:t>
            </a:r>
          </a:p>
        </p:txBody>
      </p:sp>
    </p:spTree>
    <p:extLst>
      <p:ext uri="{BB962C8B-B14F-4D97-AF65-F5344CB8AC3E}">
        <p14:creationId xmlns:p14="http://schemas.microsoft.com/office/powerpoint/2010/main" val="19580753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Design reviews, risk assessment and improvement">
            <a:extLst>
              <a:ext uri="{FF2B5EF4-FFF2-40B4-BE49-F238E27FC236}">
                <a16:creationId xmlns:a16="http://schemas.microsoft.com/office/drawing/2014/main" id="{F51CEF91-4A20-4831-8E35-CDAB9234C810}"/>
              </a:ext>
            </a:extLst>
          </p:cNvPr>
          <p:cNvSpPr>
            <a:spLocks noGrp="1"/>
          </p:cNvSpPr>
          <p:nvPr/>
        </p:nvSpPr>
        <p:spPr>
          <a:xfrm>
            <a:off x="533400" y="361950"/>
            <a:ext cx="11125200" cy="1028700"/>
          </a:xfrm>
          <a:prstGeom prst="rect">
            <a:avLst/>
          </a:prstGeom>
          <a:noFill/>
          <a:ln w="0">
            <a:noFill/>
          </a:ln>
        </p:spPr>
        <p:txBody>
          <a:bodyPr lIns="0" tIns="0" rIns="0" bIns="0" anchor="t"/>
          <a:lstStyle>
            <a:defPPr>
              <a:defRPr sz="3150" b="1">
                <a:solidFill>
                  <a:srgbClr val="142B3D"/>
                </a:solidFill>
              </a:defRPr>
            </a:defPPr>
            <a:lvl1pPr>
              <a:defRPr sz="3150" b="1">
                <a:solidFill>
                  <a:srgbClr val="142B3D"/>
                </a:solidFill>
              </a:defRPr>
            </a:lvl1pPr>
            <a:lvl2pPr>
              <a:defRPr sz="3150" b="1">
                <a:solidFill>
                  <a:srgbClr val="142B3D"/>
                </a:solidFill>
              </a:defRPr>
            </a:lvl2pPr>
            <a:lvl3pPr>
              <a:defRPr sz="3150" b="1">
                <a:solidFill>
                  <a:srgbClr val="142B3D"/>
                </a:solidFill>
              </a:defRPr>
            </a:lvl3pPr>
            <a:lvl4pPr>
              <a:defRPr sz="3150" b="1">
                <a:solidFill>
                  <a:srgbClr val="142B3D"/>
                </a:solidFill>
              </a:defRPr>
            </a:lvl4pPr>
            <a:lvl5pPr>
              <a:defRPr sz="3150" b="1">
                <a:solidFill>
                  <a:srgbClr val="142B3D"/>
                </a:solidFill>
              </a:defRPr>
            </a:lvl5pPr>
            <a:lvl6pPr>
              <a:defRPr sz="3150" b="1">
                <a:solidFill>
                  <a:srgbClr val="142B3D"/>
                </a:solidFill>
              </a:defRPr>
            </a:lvl6pPr>
            <a:lvl7pPr>
              <a:defRPr sz="3150" b="1">
                <a:solidFill>
                  <a:srgbClr val="142B3D"/>
                </a:solidFill>
              </a:defRPr>
            </a:lvl7pPr>
            <a:lvl8pPr>
              <a:defRPr sz="3150" b="1">
                <a:solidFill>
                  <a:srgbClr val="142B3D"/>
                </a:solidFill>
              </a:defRPr>
            </a:lvl8pPr>
            <a:lvl9pPr>
              <a:defRPr sz="3150" b="1">
                <a:solidFill>
                  <a:srgbClr val="142B3D"/>
                </a:solidFill>
              </a:defRPr>
            </a:lvl9pPr>
          </a:lstStyle>
          <a:p>
            <a:pPr>
              <a:defRPr sz="3150" b="1">
                <a:solidFill>
                  <a:srgbClr val="142B3D"/>
                </a:solidFill>
              </a:defRPr>
            </a:pPr>
            <a:r>
              <a:rPr sz="3150" b="1">
                <a:solidFill>
                  <a:srgbClr val="142B3D"/>
                </a:solidFill>
              </a:rPr>
              <a:t>Design reviews, risk assessment and improvement</a:t>
            </a:r>
          </a:p>
        </p:txBody>
      </p:sp>
      <p:sp>
        <p:nvSpPr>
          <p:cNvPr id="2" name="Khani Solutions">
            <a:extLst>
              <a:ext uri="{FF2B5EF4-FFF2-40B4-BE49-F238E27FC236}">
                <a16:creationId xmlns:a16="http://schemas.microsoft.com/office/drawing/2014/main" id="{9CA25CB2-A26D-4E97-A589-801CD7776C9E}"/>
              </a:ext>
            </a:extLst>
          </p:cNvPr>
          <p:cNvSpPr>
            <a:spLocks noGrp="1"/>
          </p:cNvSpPr>
          <p:nvPr/>
        </p:nvSpPr>
        <p:spPr>
          <a:xfrm>
            <a:off x="533400" y="6448425"/>
            <a:ext cx="2190750" cy="238125"/>
          </a:xfrm>
          <a:prstGeom prst="rect">
            <a:avLst/>
          </a:prstGeom>
          <a:noFill/>
          <a:ln w="0">
            <a:noFill/>
          </a:ln>
        </p:spPr>
        <p:txBody>
          <a:bodyPr lIns="0" tIns="0" rIns="0" bIns="0" anchor="t"/>
          <a:lstStyle>
            <a:defPPr>
              <a:defRPr sz="1350" b="0">
                <a:solidFill>
                  <a:srgbClr val="587081"/>
                </a:solidFill>
              </a:defRPr>
            </a:defPPr>
            <a:lvl1pPr>
              <a:defRPr sz="1350" b="0">
                <a:solidFill>
                  <a:srgbClr val="587081"/>
                </a:solidFill>
              </a:defRPr>
            </a:lvl1pPr>
            <a:lvl2pPr>
              <a:defRPr sz="1350" b="0">
                <a:solidFill>
                  <a:srgbClr val="587081"/>
                </a:solidFill>
              </a:defRPr>
            </a:lvl2pPr>
            <a:lvl3pPr>
              <a:defRPr sz="1350" b="0">
                <a:solidFill>
                  <a:srgbClr val="587081"/>
                </a:solidFill>
              </a:defRPr>
            </a:lvl3pPr>
            <a:lvl4pPr>
              <a:defRPr sz="1350" b="0">
                <a:solidFill>
                  <a:srgbClr val="587081"/>
                </a:solidFill>
              </a:defRPr>
            </a:lvl4pPr>
            <a:lvl5pPr>
              <a:defRPr sz="1350" b="0">
                <a:solidFill>
                  <a:srgbClr val="587081"/>
                </a:solidFill>
              </a:defRPr>
            </a:lvl5pPr>
            <a:lvl6pPr>
              <a:defRPr sz="1350" b="0">
                <a:solidFill>
                  <a:srgbClr val="587081"/>
                </a:solidFill>
              </a:defRPr>
            </a:lvl6pPr>
            <a:lvl7pPr>
              <a:defRPr sz="1350" b="0">
                <a:solidFill>
                  <a:srgbClr val="587081"/>
                </a:solidFill>
              </a:defRPr>
            </a:lvl7pPr>
            <a:lvl8pPr>
              <a:defRPr sz="1350" b="0">
                <a:solidFill>
                  <a:srgbClr val="587081"/>
                </a:solidFill>
              </a:defRPr>
            </a:lvl8pPr>
            <a:lvl9pPr>
              <a:defRPr sz="1350" b="0">
                <a:solidFill>
                  <a:srgbClr val="587081"/>
                </a:solidFill>
              </a:defRPr>
            </a:lvl9pPr>
          </a:lstStyle>
          <a:p>
            <a:pPr>
              <a:defRPr sz="1350" b="0">
                <a:solidFill>
                  <a:srgbClr val="587081"/>
                </a:solidFill>
              </a:defRPr>
            </a:pPr>
            <a:r>
              <a:rPr sz="1350" b="0">
                <a:solidFill>
                  <a:srgbClr val="587081"/>
                </a:solidFill>
              </a:rPr>
              <a:t>Khani Solutions</a:t>
            </a:r>
          </a:p>
        </p:txBody>
      </p:sp>
      <p:sp>
        <p:nvSpPr>
          <p:cNvPr id="3" name="16 / 20">
            <a:extLst>
              <a:ext uri="{FF2B5EF4-FFF2-40B4-BE49-F238E27FC236}">
                <a16:creationId xmlns:a16="http://schemas.microsoft.com/office/drawing/2014/main" id="{2591134F-20F4-4A47-A22E-852DC1380C02}"/>
              </a:ext>
            </a:extLst>
          </p:cNvPr>
          <p:cNvSpPr>
            <a:spLocks noGrp="1"/>
          </p:cNvSpPr>
          <p:nvPr/>
        </p:nvSpPr>
        <p:spPr>
          <a:xfrm>
            <a:off x="10896600" y="6448425"/>
            <a:ext cx="857250" cy="238125"/>
          </a:xfrm>
          <a:prstGeom prst="rect">
            <a:avLst/>
          </a:prstGeom>
          <a:noFill/>
          <a:ln w="0">
            <a:noFill/>
          </a:ln>
        </p:spPr>
        <p:txBody>
          <a:bodyPr lIns="0" tIns="0" rIns="0" bIns="0" anchor="t"/>
          <a:lstStyle>
            <a:defPPr>
              <a:defRPr sz="1350" b="0">
                <a:solidFill>
                  <a:srgbClr val="587081"/>
                </a:solidFill>
              </a:defRPr>
            </a:defPPr>
            <a:lvl1pPr>
              <a:defRPr sz="1350" b="0">
                <a:solidFill>
                  <a:srgbClr val="587081"/>
                </a:solidFill>
              </a:defRPr>
            </a:lvl1pPr>
            <a:lvl2pPr>
              <a:defRPr sz="1350" b="0">
                <a:solidFill>
                  <a:srgbClr val="587081"/>
                </a:solidFill>
              </a:defRPr>
            </a:lvl2pPr>
            <a:lvl3pPr>
              <a:defRPr sz="1350" b="0">
                <a:solidFill>
                  <a:srgbClr val="587081"/>
                </a:solidFill>
              </a:defRPr>
            </a:lvl3pPr>
            <a:lvl4pPr>
              <a:defRPr sz="1350" b="0">
                <a:solidFill>
                  <a:srgbClr val="587081"/>
                </a:solidFill>
              </a:defRPr>
            </a:lvl4pPr>
            <a:lvl5pPr>
              <a:defRPr sz="1350" b="0">
                <a:solidFill>
                  <a:srgbClr val="587081"/>
                </a:solidFill>
              </a:defRPr>
            </a:lvl5pPr>
            <a:lvl6pPr>
              <a:defRPr sz="1350" b="0">
                <a:solidFill>
                  <a:srgbClr val="587081"/>
                </a:solidFill>
              </a:defRPr>
            </a:lvl6pPr>
            <a:lvl7pPr>
              <a:defRPr sz="1350" b="0">
                <a:solidFill>
                  <a:srgbClr val="587081"/>
                </a:solidFill>
              </a:defRPr>
            </a:lvl7pPr>
            <a:lvl8pPr>
              <a:defRPr sz="1350" b="0">
                <a:solidFill>
                  <a:srgbClr val="587081"/>
                </a:solidFill>
              </a:defRPr>
            </a:lvl8pPr>
            <a:lvl9pPr>
              <a:defRPr sz="1350" b="0">
                <a:solidFill>
                  <a:srgbClr val="587081"/>
                </a:solidFill>
              </a:defRPr>
            </a:lvl9pPr>
          </a:lstStyle>
          <a:p>
            <a:pPr>
              <a:defRPr sz="1350" b="0">
                <a:solidFill>
                  <a:srgbClr val="587081"/>
                </a:solidFill>
              </a:defRPr>
            </a:pPr>
            <a:r>
              <a:rPr sz="1350" b="0">
                <a:solidFill>
                  <a:srgbClr val="587081"/>
                </a:solidFill>
              </a:rPr>
              <a:t>16 / 20</a:t>
            </a:r>
          </a:p>
        </p:txBody>
      </p:sp>
      <p:sp>
        <p:nvSpPr>
          <p:cNvPr id="4" name="Detailed evidence on the website">
            <a:extLst>
              <a:ext uri="{FF2B5EF4-FFF2-40B4-BE49-F238E27FC236}">
                <a16:creationId xmlns:a16="http://schemas.microsoft.com/office/drawing/2014/main" id="{C7BA27AE-CD55-4CA1-944D-B3205E22510A}"/>
              </a:ext>
            </a:extLst>
          </p:cNvPr>
          <p:cNvSpPr>
            <a:spLocks noGrp="1"/>
          </p:cNvSpPr>
          <p:nvPr/>
        </p:nvSpPr>
        <p:spPr>
          <a:xfrm>
            <a:off x="7000875" y="6448425"/>
            <a:ext cx="3476625" cy="238125"/>
          </a:xfrm>
          <a:prstGeom prst="rect">
            <a:avLst/>
          </a:prstGeom>
          <a:noFill/>
          <a:ln w="0">
            <a:noFill/>
          </a:ln>
        </p:spPr>
        <p:txBody>
          <a:bodyPr lIns="0" tIns="0" rIns="0" bIns="0" anchor="t"/>
          <a:lstStyle>
            <a:defPPr>
              <a:defRPr sz="1350" b="0">
                <a:solidFill>
                  <a:srgbClr val="087F95"/>
                </a:solidFill>
              </a:defRPr>
            </a:defPPr>
            <a:lvl1pPr>
              <a:defRPr sz="1350" b="0">
                <a:solidFill>
                  <a:srgbClr val="087F95"/>
                </a:solidFill>
              </a:defRPr>
            </a:lvl1pPr>
            <a:lvl2pPr>
              <a:defRPr sz="1350" b="0">
                <a:solidFill>
                  <a:srgbClr val="087F95"/>
                </a:solidFill>
              </a:defRPr>
            </a:lvl2pPr>
            <a:lvl3pPr>
              <a:defRPr sz="1350" b="0">
                <a:solidFill>
                  <a:srgbClr val="087F95"/>
                </a:solidFill>
              </a:defRPr>
            </a:lvl3pPr>
            <a:lvl4pPr>
              <a:defRPr sz="1350" b="0">
                <a:solidFill>
                  <a:srgbClr val="087F95"/>
                </a:solidFill>
              </a:defRPr>
            </a:lvl4pPr>
            <a:lvl5pPr>
              <a:defRPr sz="1350" b="0">
                <a:solidFill>
                  <a:srgbClr val="087F95"/>
                </a:solidFill>
              </a:defRPr>
            </a:lvl5pPr>
            <a:lvl6pPr>
              <a:defRPr sz="1350" b="0">
                <a:solidFill>
                  <a:srgbClr val="087F95"/>
                </a:solidFill>
              </a:defRPr>
            </a:lvl6pPr>
            <a:lvl7pPr>
              <a:defRPr sz="1350" b="0">
                <a:solidFill>
                  <a:srgbClr val="087F95"/>
                </a:solidFill>
              </a:defRPr>
            </a:lvl7pPr>
            <a:lvl8pPr>
              <a:defRPr sz="1350" b="0">
                <a:solidFill>
                  <a:srgbClr val="087F95"/>
                </a:solidFill>
              </a:defRPr>
            </a:lvl8pPr>
            <a:lvl9pPr>
              <a:defRPr sz="1350" b="0">
                <a:solidFill>
                  <a:srgbClr val="087F95"/>
                </a:solidFill>
              </a:defRPr>
            </a:lvl9pPr>
          </a:lstStyle>
          <a:p>
            <a:pPr>
              <a:defRPr sz="1350" b="0">
                <a:solidFill>
                  <a:srgbClr val="087F95"/>
                </a:solidFill>
              </a:defRPr>
            </a:pPr>
            <a:r>
              <a:rPr sz="1350" b="0">
                <a:solidFill>
                  <a:srgbClr val="087F95"/>
                </a:solidFill>
                <a:hlinkClick r:id="rId3"/>
              </a:rPr>
              <a:t>Detailed evidence on the website</a:t>
            </a:r>
          </a:p>
        </p:txBody>
      </p:sp>
      <p:sp>
        <p:nvSpPr>
          <p:cNvPr id="5" name="JD-10: Simulation evidence">
            <a:extLst>
              <a:ext uri="{FF2B5EF4-FFF2-40B4-BE49-F238E27FC236}">
                <a16:creationId xmlns:a16="http://schemas.microsoft.com/office/drawing/2014/main" id="{37EB7B05-DE8C-45EF-AE13-304566E3FFA4}"/>
              </a:ext>
            </a:extLst>
          </p:cNvPr>
          <p:cNvSpPr>
            <a:spLocks noGrp="1"/>
          </p:cNvSpPr>
          <p:nvPr/>
        </p:nvSpPr>
        <p:spPr>
          <a:xfrm>
            <a:off x="533400" y="1371600"/>
            <a:ext cx="10477500" cy="276225"/>
          </a:xfrm>
          <a:prstGeom prst="rect">
            <a:avLst/>
          </a:prstGeom>
          <a:noFill/>
          <a:ln w="0">
            <a:noFill/>
          </a:ln>
        </p:spPr>
        <p:txBody>
          <a:bodyPr lIns="0" tIns="0" rIns="0" bIns="0" anchor="t"/>
          <a:lstStyle>
            <a:defPPr>
              <a:defRPr sz="1650" b="1">
                <a:solidFill>
                  <a:srgbClr val="087F95"/>
                </a:solidFill>
              </a:defRPr>
            </a:defPPr>
            <a:lvl1pPr>
              <a:defRPr sz="1650" b="1">
                <a:solidFill>
                  <a:srgbClr val="087F95"/>
                </a:solidFill>
              </a:defRPr>
            </a:lvl1pPr>
            <a:lvl2pPr>
              <a:defRPr sz="1650" b="1">
                <a:solidFill>
                  <a:srgbClr val="087F95"/>
                </a:solidFill>
              </a:defRPr>
            </a:lvl2pPr>
            <a:lvl3pPr>
              <a:defRPr sz="1650" b="1">
                <a:solidFill>
                  <a:srgbClr val="087F95"/>
                </a:solidFill>
              </a:defRPr>
            </a:lvl3pPr>
            <a:lvl4pPr>
              <a:defRPr sz="1650" b="1">
                <a:solidFill>
                  <a:srgbClr val="087F95"/>
                </a:solidFill>
              </a:defRPr>
            </a:lvl4pPr>
            <a:lvl5pPr>
              <a:defRPr sz="1650" b="1">
                <a:solidFill>
                  <a:srgbClr val="087F95"/>
                </a:solidFill>
              </a:defRPr>
            </a:lvl5pPr>
            <a:lvl6pPr>
              <a:defRPr sz="1650" b="1">
                <a:solidFill>
                  <a:srgbClr val="087F95"/>
                </a:solidFill>
              </a:defRPr>
            </a:lvl6pPr>
            <a:lvl7pPr>
              <a:defRPr sz="1650" b="1">
                <a:solidFill>
                  <a:srgbClr val="087F95"/>
                </a:solidFill>
              </a:defRPr>
            </a:lvl7pPr>
            <a:lvl8pPr>
              <a:defRPr sz="1650" b="1">
                <a:solidFill>
                  <a:srgbClr val="087F95"/>
                </a:solidFill>
              </a:defRPr>
            </a:lvl8pPr>
            <a:lvl9pPr>
              <a:defRPr sz="1650" b="1">
                <a:solidFill>
                  <a:srgbClr val="087F95"/>
                </a:solidFill>
              </a:defRPr>
            </a:lvl9pPr>
          </a:lstStyle>
          <a:p>
            <a:pPr>
              <a:defRPr sz="1650" b="1">
                <a:solidFill>
                  <a:srgbClr val="087F95"/>
                </a:solidFill>
              </a:defRPr>
            </a:pPr>
            <a:r>
              <a:rPr sz="1650" b="1">
                <a:solidFill>
                  <a:srgbClr val="087F95"/>
                </a:solidFill>
              </a:rPr>
              <a:t>JD-10: Simulation evidence</a:t>
            </a:r>
          </a:p>
        </p:txBody>
      </p:sp>
      <p:graphicFrame>
        <p:nvGraphicFramePr>
          <p:cNvPr id="6" name="Chart">
            <a:extLst>
              <a:ext uri="{FF2B5EF4-FFF2-40B4-BE49-F238E27FC236}">
                <a16:creationId xmlns:a16="http://schemas.microsoft.com/office/drawing/2014/main" id="{4049F79C-F003-401C-98F2-39E7AC9702FF}"/>
              </a:ext>
            </a:extLst>
          </p:cNvPr>
          <p:cNvGraphicFramePr/>
          <p:nvPr/>
        </p:nvGraphicFramePr>
        <p:xfrm>
          <a:off x="400050" y="2019300"/>
          <a:ext cx="11239500" cy="3619500"/>
        </p:xfrm>
        <a:graphic>
          <a:graphicData uri="http://schemas.openxmlformats.org/drawingml/2006/chart">
            <c:chart xmlns:c="http://schemas.openxmlformats.org/drawingml/2006/chart" xmlns:r="http://schemas.openxmlformats.org/officeDocument/2006/relationships" r:id="rId4"/>
          </a:graphicData>
        </a:graphic>
      </p:graphicFrame>
      <p:sp>
        <p:nvSpPr>
          <p:cNvPr id="7" name="Temperature compliance and useful mission service require separat">
            <a:extLst>
              <a:ext uri="{FF2B5EF4-FFF2-40B4-BE49-F238E27FC236}">
                <a16:creationId xmlns:a16="http://schemas.microsoft.com/office/drawing/2014/main" id="{B93D7103-ACD7-4388-9EC7-8B9EA43FC9E0}"/>
              </a:ext>
            </a:extLst>
          </p:cNvPr>
          <p:cNvSpPr>
            <a:spLocks noGrp="1"/>
          </p:cNvSpPr>
          <p:nvPr/>
        </p:nvSpPr>
        <p:spPr>
          <a:xfrm>
            <a:off x="533400" y="5857875"/>
            <a:ext cx="10953750" cy="428625"/>
          </a:xfrm>
          <a:prstGeom prst="rect">
            <a:avLst/>
          </a:prstGeom>
          <a:noFill/>
          <a:ln w="0">
            <a:noFill/>
          </a:ln>
        </p:spPr>
        <p:txBody>
          <a:bodyPr lIns="0" tIns="0" rIns="0" bIns="0" anchor="t"/>
          <a:lstStyle>
            <a:defPPr>
              <a:defRPr sz="1950" b="0">
                <a:solidFill>
                  <a:srgbClr val="142B3D"/>
                </a:solidFill>
              </a:defRPr>
            </a:defPPr>
            <a:lvl1pPr>
              <a:defRPr sz="1950" b="0">
                <a:solidFill>
                  <a:srgbClr val="142B3D"/>
                </a:solidFill>
              </a:defRPr>
            </a:lvl1pPr>
            <a:lvl2pPr>
              <a:defRPr sz="1950" b="0">
                <a:solidFill>
                  <a:srgbClr val="142B3D"/>
                </a:solidFill>
              </a:defRPr>
            </a:lvl2pPr>
            <a:lvl3pPr>
              <a:defRPr sz="1950" b="0">
                <a:solidFill>
                  <a:srgbClr val="142B3D"/>
                </a:solidFill>
              </a:defRPr>
            </a:lvl3pPr>
            <a:lvl4pPr>
              <a:defRPr sz="1950" b="0">
                <a:solidFill>
                  <a:srgbClr val="142B3D"/>
                </a:solidFill>
              </a:defRPr>
            </a:lvl4pPr>
            <a:lvl5pPr>
              <a:defRPr sz="1950" b="0">
                <a:solidFill>
                  <a:srgbClr val="142B3D"/>
                </a:solidFill>
              </a:defRPr>
            </a:lvl5pPr>
            <a:lvl6pPr>
              <a:defRPr sz="1950" b="0">
                <a:solidFill>
                  <a:srgbClr val="142B3D"/>
                </a:solidFill>
              </a:defRPr>
            </a:lvl6pPr>
            <a:lvl7pPr>
              <a:defRPr sz="1950" b="0">
                <a:solidFill>
                  <a:srgbClr val="142B3D"/>
                </a:solidFill>
              </a:defRPr>
            </a:lvl7pPr>
            <a:lvl8pPr>
              <a:defRPr sz="1950" b="0">
                <a:solidFill>
                  <a:srgbClr val="142B3D"/>
                </a:solidFill>
              </a:defRPr>
            </a:lvl8pPr>
            <a:lvl9pPr>
              <a:defRPr sz="1950" b="0">
                <a:solidFill>
                  <a:srgbClr val="142B3D"/>
                </a:solidFill>
              </a:defRPr>
            </a:lvl9pPr>
          </a:lstStyle>
          <a:p>
            <a:pPr>
              <a:defRPr sz="1950" b="0">
                <a:solidFill>
                  <a:srgbClr val="142B3D"/>
                </a:solidFill>
              </a:defRPr>
            </a:pPr>
            <a:r>
              <a:rPr sz="1950" b="0">
                <a:solidFill>
                  <a:srgbClr val="142B3D"/>
                </a:solidFill>
              </a:rPr>
              <a:t>Temperature compliance and useful mission service require separate acceptance checks.</a:t>
            </a:r>
          </a:p>
        </p:txBody>
      </p:sp>
    </p:spTree>
    <p:extLst>
      <p:ext uri="{BB962C8B-B14F-4D97-AF65-F5344CB8AC3E}">
        <p14:creationId xmlns:p14="http://schemas.microsoft.com/office/powerpoint/2010/main" val="15757077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Conduction, convection and radiation in thin air">
            <a:extLst>
              <a:ext uri="{FF2B5EF4-FFF2-40B4-BE49-F238E27FC236}">
                <a16:creationId xmlns:a16="http://schemas.microsoft.com/office/drawing/2014/main" id="{8A08FCF7-A685-4369-B318-500A0A5982E8}"/>
              </a:ext>
            </a:extLst>
          </p:cNvPr>
          <p:cNvSpPr>
            <a:spLocks noGrp="1"/>
          </p:cNvSpPr>
          <p:nvPr/>
        </p:nvSpPr>
        <p:spPr>
          <a:xfrm>
            <a:off x="533400" y="361950"/>
            <a:ext cx="11125200" cy="1028700"/>
          </a:xfrm>
          <a:prstGeom prst="rect">
            <a:avLst/>
          </a:prstGeom>
          <a:noFill/>
          <a:ln w="0">
            <a:noFill/>
          </a:ln>
        </p:spPr>
        <p:txBody>
          <a:bodyPr lIns="0" tIns="0" rIns="0" bIns="0" anchor="t"/>
          <a:lstStyle>
            <a:defPPr>
              <a:defRPr sz="3150" b="1">
                <a:solidFill>
                  <a:srgbClr val="142B3D"/>
                </a:solidFill>
              </a:defRPr>
            </a:defPPr>
            <a:lvl1pPr>
              <a:defRPr sz="3150" b="1">
                <a:solidFill>
                  <a:srgbClr val="142B3D"/>
                </a:solidFill>
              </a:defRPr>
            </a:lvl1pPr>
            <a:lvl2pPr>
              <a:defRPr sz="3150" b="1">
                <a:solidFill>
                  <a:srgbClr val="142B3D"/>
                </a:solidFill>
              </a:defRPr>
            </a:lvl2pPr>
            <a:lvl3pPr>
              <a:defRPr sz="3150" b="1">
                <a:solidFill>
                  <a:srgbClr val="142B3D"/>
                </a:solidFill>
              </a:defRPr>
            </a:lvl3pPr>
            <a:lvl4pPr>
              <a:defRPr sz="3150" b="1">
                <a:solidFill>
                  <a:srgbClr val="142B3D"/>
                </a:solidFill>
              </a:defRPr>
            </a:lvl4pPr>
            <a:lvl5pPr>
              <a:defRPr sz="3150" b="1">
                <a:solidFill>
                  <a:srgbClr val="142B3D"/>
                </a:solidFill>
              </a:defRPr>
            </a:lvl5pPr>
            <a:lvl6pPr>
              <a:defRPr sz="3150" b="1">
                <a:solidFill>
                  <a:srgbClr val="142B3D"/>
                </a:solidFill>
              </a:defRPr>
            </a:lvl6pPr>
            <a:lvl7pPr>
              <a:defRPr sz="3150" b="1">
                <a:solidFill>
                  <a:srgbClr val="142B3D"/>
                </a:solidFill>
              </a:defRPr>
            </a:lvl7pPr>
            <a:lvl8pPr>
              <a:defRPr sz="3150" b="1">
                <a:solidFill>
                  <a:srgbClr val="142B3D"/>
                </a:solidFill>
              </a:defRPr>
            </a:lvl8pPr>
            <a:lvl9pPr>
              <a:defRPr sz="3150" b="1">
                <a:solidFill>
                  <a:srgbClr val="142B3D"/>
                </a:solidFill>
              </a:defRPr>
            </a:lvl9pPr>
          </a:lstStyle>
          <a:p>
            <a:pPr>
              <a:defRPr sz="3150" b="1">
                <a:solidFill>
                  <a:srgbClr val="142B3D"/>
                </a:solidFill>
              </a:defRPr>
            </a:pPr>
            <a:r>
              <a:rPr sz="3150" b="1">
                <a:solidFill>
                  <a:srgbClr val="142B3D"/>
                </a:solidFill>
              </a:rPr>
              <a:t>Conduction, convection and radiation in thin air</a:t>
            </a:r>
          </a:p>
        </p:txBody>
      </p:sp>
      <p:sp>
        <p:nvSpPr>
          <p:cNvPr id="2" name="Khani Solutions">
            <a:extLst>
              <a:ext uri="{FF2B5EF4-FFF2-40B4-BE49-F238E27FC236}">
                <a16:creationId xmlns:a16="http://schemas.microsoft.com/office/drawing/2014/main" id="{08E145C2-0626-4914-8B23-BBAE1E8114C5}"/>
              </a:ext>
            </a:extLst>
          </p:cNvPr>
          <p:cNvSpPr>
            <a:spLocks noGrp="1"/>
          </p:cNvSpPr>
          <p:nvPr/>
        </p:nvSpPr>
        <p:spPr>
          <a:xfrm>
            <a:off x="533400" y="6448425"/>
            <a:ext cx="2190750" cy="238125"/>
          </a:xfrm>
          <a:prstGeom prst="rect">
            <a:avLst/>
          </a:prstGeom>
          <a:noFill/>
          <a:ln w="0">
            <a:noFill/>
          </a:ln>
        </p:spPr>
        <p:txBody>
          <a:bodyPr lIns="0" tIns="0" rIns="0" bIns="0" anchor="t"/>
          <a:lstStyle>
            <a:defPPr>
              <a:defRPr sz="1350" b="0">
                <a:solidFill>
                  <a:srgbClr val="587081"/>
                </a:solidFill>
              </a:defRPr>
            </a:defPPr>
            <a:lvl1pPr>
              <a:defRPr sz="1350" b="0">
                <a:solidFill>
                  <a:srgbClr val="587081"/>
                </a:solidFill>
              </a:defRPr>
            </a:lvl1pPr>
            <a:lvl2pPr>
              <a:defRPr sz="1350" b="0">
                <a:solidFill>
                  <a:srgbClr val="587081"/>
                </a:solidFill>
              </a:defRPr>
            </a:lvl2pPr>
            <a:lvl3pPr>
              <a:defRPr sz="1350" b="0">
                <a:solidFill>
                  <a:srgbClr val="587081"/>
                </a:solidFill>
              </a:defRPr>
            </a:lvl3pPr>
            <a:lvl4pPr>
              <a:defRPr sz="1350" b="0">
                <a:solidFill>
                  <a:srgbClr val="587081"/>
                </a:solidFill>
              </a:defRPr>
            </a:lvl4pPr>
            <a:lvl5pPr>
              <a:defRPr sz="1350" b="0">
                <a:solidFill>
                  <a:srgbClr val="587081"/>
                </a:solidFill>
              </a:defRPr>
            </a:lvl5pPr>
            <a:lvl6pPr>
              <a:defRPr sz="1350" b="0">
                <a:solidFill>
                  <a:srgbClr val="587081"/>
                </a:solidFill>
              </a:defRPr>
            </a:lvl6pPr>
            <a:lvl7pPr>
              <a:defRPr sz="1350" b="0">
                <a:solidFill>
                  <a:srgbClr val="587081"/>
                </a:solidFill>
              </a:defRPr>
            </a:lvl7pPr>
            <a:lvl8pPr>
              <a:defRPr sz="1350" b="0">
                <a:solidFill>
                  <a:srgbClr val="587081"/>
                </a:solidFill>
              </a:defRPr>
            </a:lvl8pPr>
            <a:lvl9pPr>
              <a:defRPr sz="1350" b="0">
                <a:solidFill>
                  <a:srgbClr val="587081"/>
                </a:solidFill>
              </a:defRPr>
            </a:lvl9pPr>
          </a:lstStyle>
          <a:p>
            <a:pPr>
              <a:defRPr sz="1350" b="0">
                <a:solidFill>
                  <a:srgbClr val="587081"/>
                </a:solidFill>
              </a:defRPr>
            </a:pPr>
            <a:r>
              <a:rPr sz="1350" b="0">
                <a:solidFill>
                  <a:srgbClr val="587081"/>
                </a:solidFill>
              </a:rPr>
              <a:t>Khani Solutions</a:t>
            </a:r>
          </a:p>
        </p:txBody>
      </p:sp>
      <p:sp>
        <p:nvSpPr>
          <p:cNvPr id="3" name="17 / 20">
            <a:extLst>
              <a:ext uri="{FF2B5EF4-FFF2-40B4-BE49-F238E27FC236}">
                <a16:creationId xmlns:a16="http://schemas.microsoft.com/office/drawing/2014/main" id="{F739E9EF-0FF5-43F4-B4B3-3C3956021E3F}"/>
              </a:ext>
            </a:extLst>
          </p:cNvPr>
          <p:cNvSpPr>
            <a:spLocks noGrp="1"/>
          </p:cNvSpPr>
          <p:nvPr/>
        </p:nvSpPr>
        <p:spPr>
          <a:xfrm>
            <a:off x="10896600" y="6448425"/>
            <a:ext cx="857250" cy="238125"/>
          </a:xfrm>
          <a:prstGeom prst="rect">
            <a:avLst/>
          </a:prstGeom>
          <a:noFill/>
          <a:ln w="0">
            <a:noFill/>
          </a:ln>
        </p:spPr>
        <p:txBody>
          <a:bodyPr lIns="0" tIns="0" rIns="0" bIns="0" anchor="t"/>
          <a:lstStyle>
            <a:defPPr>
              <a:defRPr sz="1350" b="0">
                <a:solidFill>
                  <a:srgbClr val="587081"/>
                </a:solidFill>
              </a:defRPr>
            </a:defPPr>
            <a:lvl1pPr>
              <a:defRPr sz="1350" b="0">
                <a:solidFill>
                  <a:srgbClr val="587081"/>
                </a:solidFill>
              </a:defRPr>
            </a:lvl1pPr>
            <a:lvl2pPr>
              <a:defRPr sz="1350" b="0">
                <a:solidFill>
                  <a:srgbClr val="587081"/>
                </a:solidFill>
              </a:defRPr>
            </a:lvl2pPr>
            <a:lvl3pPr>
              <a:defRPr sz="1350" b="0">
                <a:solidFill>
                  <a:srgbClr val="587081"/>
                </a:solidFill>
              </a:defRPr>
            </a:lvl3pPr>
            <a:lvl4pPr>
              <a:defRPr sz="1350" b="0">
                <a:solidFill>
                  <a:srgbClr val="587081"/>
                </a:solidFill>
              </a:defRPr>
            </a:lvl4pPr>
            <a:lvl5pPr>
              <a:defRPr sz="1350" b="0">
                <a:solidFill>
                  <a:srgbClr val="587081"/>
                </a:solidFill>
              </a:defRPr>
            </a:lvl5pPr>
            <a:lvl6pPr>
              <a:defRPr sz="1350" b="0">
                <a:solidFill>
                  <a:srgbClr val="587081"/>
                </a:solidFill>
              </a:defRPr>
            </a:lvl6pPr>
            <a:lvl7pPr>
              <a:defRPr sz="1350" b="0">
                <a:solidFill>
                  <a:srgbClr val="587081"/>
                </a:solidFill>
              </a:defRPr>
            </a:lvl7pPr>
            <a:lvl8pPr>
              <a:defRPr sz="1350" b="0">
                <a:solidFill>
                  <a:srgbClr val="587081"/>
                </a:solidFill>
              </a:defRPr>
            </a:lvl8pPr>
            <a:lvl9pPr>
              <a:defRPr sz="1350" b="0">
                <a:solidFill>
                  <a:srgbClr val="587081"/>
                </a:solidFill>
              </a:defRPr>
            </a:lvl9pPr>
          </a:lstStyle>
          <a:p>
            <a:pPr>
              <a:defRPr sz="1350" b="0">
                <a:solidFill>
                  <a:srgbClr val="587081"/>
                </a:solidFill>
              </a:defRPr>
            </a:pPr>
            <a:r>
              <a:rPr sz="1350" b="0">
                <a:solidFill>
                  <a:srgbClr val="587081"/>
                </a:solidFill>
              </a:rPr>
              <a:t>17 / 20</a:t>
            </a:r>
          </a:p>
        </p:txBody>
      </p:sp>
      <p:sp>
        <p:nvSpPr>
          <p:cNvPr id="4" name="Detailed evidence on the website">
            <a:extLst>
              <a:ext uri="{FF2B5EF4-FFF2-40B4-BE49-F238E27FC236}">
                <a16:creationId xmlns:a16="http://schemas.microsoft.com/office/drawing/2014/main" id="{1992248C-D917-473D-8554-D409B7458A5B}"/>
              </a:ext>
            </a:extLst>
          </p:cNvPr>
          <p:cNvSpPr>
            <a:spLocks noGrp="1"/>
          </p:cNvSpPr>
          <p:nvPr/>
        </p:nvSpPr>
        <p:spPr>
          <a:xfrm>
            <a:off x="7000875" y="6448425"/>
            <a:ext cx="3476625" cy="238125"/>
          </a:xfrm>
          <a:prstGeom prst="rect">
            <a:avLst/>
          </a:prstGeom>
          <a:noFill/>
          <a:ln w="0">
            <a:noFill/>
          </a:ln>
        </p:spPr>
        <p:txBody>
          <a:bodyPr lIns="0" tIns="0" rIns="0" bIns="0" anchor="t"/>
          <a:lstStyle>
            <a:defPPr>
              <a:defRPr sz="1350" b="0">
                <a:solidFill>
                  <a:srgbClr val="087F95"/>
                </a:solidFill>
              </a:defRPr>
            </a:defPPr>
            <a:lvl1pPr>
              <a:defRPr sz="1350" b="0">
                <a:solidFill>
                  <a:srgbClr val="087F95"/>
                </a:solidFill>
              </a:defRPr>
            </a:lvl1pPr>
            <a:lvl2pPr>
              <a:defRPr sz="1350" b="0">
                <a:solidFill>
                  <a:srgbClr val="087F95"/>
                </a:solidFill>
              </a:defRPr>
            </a:lvl2pPr>
            <a:lvl3pPr>
              <a:defRPr sz="1350" b="0">
                <a:solidFill>
                  <a:srgbClr val="087F95"/>
                </a:solidFill>
              </a:defRPr>
            </a:lvl3pPr>
            <a:lvl4pPr>
              <a:defRPr sz="1350" b="0">
                <a:solidFill>
                  <a:srgbClr val="087F95"/>
                </a:solidFill>
              </a:defRPr>
            </a:lvl4pPr>
            <a:lvl5pPr>
              <a:defRPr sz="1350" b="0">
                <a:solidFill>
                  <a:srgbClr val="087F95"/>
                </a:solidFill>
              </a:defRPr>
            </a:lvl5pPr>
            <a:lvl6pPr>
              <a:defRPr sz="1350" b="0">
                <a:solidFill>
                  <a:srgbClr val="087F95"/>
                </a:solidFill>
              </a:defRPr>
            </a:lvl6pPr>
            <a:lvl7pPr>
              <a:defRPr sz="1350" b="0">
                <a:solidFill>
                  <a:srgbClr val="087F95"/>
                </a:solidFill>
              </a:defRPr>
            </a:lvl7pPr>
            <a:lvl8pPr>
              <a:defRPr sz="1350" b="0">
                <a:solidFill>
                  <a:srgbClr val="087F95"/>
                </a:solidFill>
              </a:defRPr>
            </a:lvl8pPr>
            <a:lvl9pPr>
              <a:defRPr sz="1350" b="0">
                <a:solidFill>
                  <a:srgbClr val="087F95"/>
                </a:solidFill>
              </a:defRPr>
            </a:lvl9pPr>
          </a:lstStyle>
          <a:p>
            <a:pPr>
              <a:defRPr sz="1350" b="0">
                <a:solidFill>
                  <a:srgbClr val="087F95"/>
                </a:solidFill>
              </a:defRPr>
            </a:pPr>
            <a:r>
              <a:rPr sz="1350" b="0">
                <a:solidFill>
                  <a:srgbClr val="087F95"/>
                </a:solidFill>
                <a:hlinkClick r:id="rId3"/>
              </a:rPr>
              <a:t>Detailed evidence on the website</a:t>
            </a:r>
          </a:p>
        </p:txBody>
      </p:sp>
      <p:sp>
        <p:nvSpPr>
          <p:cNvPr id="5" name="JD-11: Simulation evidence">
            <a:extLst>
              <a:ext uri="{FF2B5EF4-FFF2-40B4-BE49-F238E27FC236}">
                <a16:creationId xmlns:a16="http://schemas.microsoft.com/office/drawing/2014/main" id="{D6A013CE-5F23-494D-9280-A57D016199A2}"/>
              </a:ext>
            </a:extLst>
          </p:cNvPr>
          <p:cNvSpPr>
            <a:spLocks noGrp="1"/>
          </p:cNvSpPr>
          <p:nvPr/>
        </p:nvSpPr>
        <p:spPr>
          <a:xfrm>
            <a:off x="533400" y="1371600"/>
            <a:ext cx="10477500" cy="276225"/>
          </a:xfrm>
          <a:prstGeom prst="rect">
            <a:avLst/>
          </a:prstGeom>
          <a:noFill/>
          <a:ln w="0">
            <a:noFill/>
          </a:ln>
        </p:spPr>
        <p:txBody>
          <a:bodyPr lIns="0" tIns="0" rIns="0" bIns="0" anchor="t"/>
          <a:lstStyle>
            <a:defPPr>
              <a:defRPr sz="1650" b="1">
                <a:solidFill>
                  <a:srgbClr val="087F95"/>
                </a:solidFill>
              </a:defRPr>
            </a:defPPr>
            <a:lvl1pPr>
              <a:defRPr sz="1650" b="1">
                <a:solidFill>
                  <a:srgbClr val="087F95"/>
                </a:solidFill>
              </a:defRPr>
            </a:lvl1pPr>
            <a:lvl2pPr>
              <a:defRPr sz="1650" b="1">
                <a:solidFill>
                  <a:srgbClr val="087F95"/>
                </a:solidFill>
              </a:defRPr>
            </a:lvl2pPr>
            <a:lvl3pPr>
              <a:defRPr sz="1650" b="1">
                <a:solidFill>
                  <a:srgbClr val="087F95"/>
                </a:solidFill>
              </a:defRPr>
            </a:lvl3pPr>
            <a:lvl4pPr>
              <a:defRPr sz="1650" b="1">
                <a:solidFill>
                  <a:srgbClr val="087F95"/>
                </a:solidFill>
              </a:defRPr>
            </a:lvl4pPr>
            <a:lvl5pPr>
              <a:defRPr sz="1650" b="1">
                <a:solidFill>
                  <a:srgbClr val="087F95"/>
                </a:solidFill>
              </a:defRPr>
            </a:lvl5pPr>
            <a:lvl6pPr>
              <a:defRPr sz="1650" b="1">
                <a:solidFill>
                  <a:srgbClr val="087F95"/>
                </a:solidFill>
              </a:defRPr>
            </a:lvl6pPr>
            <a:lvl7pPr>
              <a:defRPr sz="1650" b="1">
                <a:solidFill>
                  <a:srgbClr val="087F95"/>
                </a:solidFill>
              </a:defRPr>
            </a:lvl7pPr>
            <a:lvl8pPr>
              <a:defRPr sz="1650" b="1">
                <a:solidFill>
                  <a:srgbClr val="087F95"/>
                </a:solidFill>
              </a:defRPr>
            </a:lvl8pPr>
            <a:lvl9pPr>
              <a:defRPr sz="1650" b="1">
                <a:solidFill>
                  <a:srgbClr val="087F95"/>
                </a:solidFill>
              </a:defRPr>
            </a:lvl9pPr>
          </a:lstStyle>
          <a:p>
            <a:pPr>
              <a:defRPr sz="1650" b="1">
                <a:solidFill>
                  <a:srgbClr val="087F95"/>
                </a:solidFill>
              </a:defRPr>
            </a:pPr>
            <a:r>
              <a:rPr sz="1650" b="1">
                <a:solidFill>
                  <a:srgbClr val="087F95"/>
                </a:solidFill>
              </a:rPr>
              <a:t>JD-11: Simulation evidence</a:t>
            </a:r>
          </a:p>
        </p:txBody>
      </p:sp>
      <p:pic>
        <p:nvPicPr>
          <p:cNvPr id="6" name="Picture 5">
            <a:extLst>
              <a:ext uri="{FF2B5EF4-FFF2-40B4-BE49-F238E27FC236}">
                <a16:creationId xmlns:a16="http://schemas.microsoft.com/office/drawing/2014/main" id="{7820E5CC-D2CE-4062-A928-4F320D640C0C}"/>
              </a:ext>
            </a:extLst>
          </p:cNvPr>
          <p:cNvPicPr>
            <a:picLocks noChangeAspect="1"/>
          </p:cNvPicPr>
          <p:nvPr/>
        </p:nvPicPr>
        <p:blipFill>
          <a:blip r:embed="rId4"/>
          <a:stretch/>
        </p:blipFill>
        <p:spPr>
          <a:xfrm>
            <a:off x="1671603" y="1857375"/>
            <a:ext cx="8848794" cy="4019550"/>
          </a:xfrm>
          <a:prstGeom prst="rect">
            <a:avLst/>
          </a:prstGeom>
        </p:spPr>
      </p:pic>
      <p:sp>
        <p:nvSpPr>
          <p:cNvPr id="7" name="3D conduction snapshot. The mission model adds radiation and pres">
            <a:extLst>
              <a:ext uri="{FF2B5EF4-FFF2-40B4-BE49-F238E27FC236}">
                <a16:creationId xmlns:a16="http://schemas.microsoft.com/office/drawing/2014/main" id="{1991882F-92A9-4210-BF5E-717F833E31B6}"/>
              </a:ext>
            </a:extLst>
          </p:cNvPr>
          <p:cNvSpPr>
            <a:spLocks noGrp="1"/>
          </p:cNvSpPr>
          <p:nvPr/>
        </p:nvSpPr>
        <p:spPr>
          <a:xfrm>
            <a:off x="533400" y="5962650"/>
            <a:ext cx="11049000" cy="295275"/>
          </a:xfrm>
          <a:prstGeom prst="rect">
            <a:avLst/>
          </a:prstGeom>
          <a:noFill/>
          <a:ln w="0">
            <a:noFill/>
          </a:ln>
        </p:spPr>
        <p:txBody>
          <a:bodyPr lIns="0" tIns="0" rIns="0" bIns="0" anchor="t"/>
          <a:lstStyle>
            <a:defPPr>
              <a:defRPr sz="1650" b="0">
                <a:solidFill>
                  <a:srgbClr val="587081"/>
                </a:solidFill>
              </a:defRPr>
            </a:defPPr>
            <a:lvl1pPr>
              <a:defRPr sz="1650" b="0">
                <a:solidFill>
                  <a:srgbClr val="587081"/>
                </a:solidFill>
              </a:defRPr>
            </a:lvl1pPr>
            <a:lvl2pPr>
              <a:defRPr sz="1650" b="0">
                <a:solidFill>
                  <a:srgbClr val="587081"/>
                </a:solidFill>
              </a:defRPr>
            </a:lvl2pPr>
            <a:lvl3pPr>
              <a:defRPr sz="1650" b="0">
                <a:solidFill>
                  <a:srgbClr val="587081"/>
                </a:solidFill>
              </a:defRPr>
            </a:lvl3pPr>
            <a:lvl4pPr>
              <a:defRPr sz="1650" b="0">
                <a:solidFill>
                  <a:srgbClr val="587081"/>
                </a:solidFill>
              </a:defRPr>
            </a:lvl4pPr>
            <a:lvl5pPr>
              <a:defRPr sz="1650" b="0">
                <a:solidFill>
                  <a:srgbClr val="587081"/>
                </a:solidFill>
              </a:defRPr>
            </a:lvl5pPr>
            <a:lvl6pPr>
              <a:defRPr sz="1650" b="0">
                <a:solidFill>
                  <a:srgbClr val="587081"/>
                </a:solidFill>
              </a:defRPr>
            </a:lvl6pPr>
            <a:lvl7pPr>
              <a:defRPr sz="1650" b="0">
                <a:solidFill>
                  <a:srgbClr val="587081"/>
                </a:solidFill>
              </a:defRPr>
            </a:lvl7pPr>
            <a:lvl8pPr>
              <a:defRPr sz="1650" b="0">
                <a:solidFill>
                  <a:srgbClr val="587081"/>
                </a:solidFill>
              </a:defRPr>
            </a:lvl8pPr>
            <a:lvl9pPr>
              <a:defRPr sz="1650" b="0">
                <a:solidFill>
                  <a:srgbClr val="587081"/>
                </a:solidFill>
              </a:defRPr>
            </a:lvl9pPr>
          </a:lstStyle>
          <a:p>
            <a:pPr>
              <a:defRPr sz="1650" b="0">
                <a:solidFill>
                  <a:srgbClr val="587081"/>
                </a:solidFill>
              </a:defRPr>
            </a:pPr>
            <a:r>
              <a:rPr sz="1650" b="0">
                <a:solidFill>
                  <a:srgbClr val="587081"/>
                </a:solidFill>
              </a:rPr>
              <a:t>3D conduction snapshot. The mission model adds radiation and prescribed thin-air convection.</a:t>
            </a:r>
          </a:p>
        </p:txBody>
      </p:sp>
    </p:spTree>
    <p:extLst>
      <p:ext uri="{BB962C8B-B14F-4D97-AF65-F5344CB8AC3E}">
        <p14:creationId xmlns:p14="http://schemas.microsoft.com/office/powerpoint/2010/main" val="9715950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Equivalent open thermal-modeling tools and verification">
            <a:extLst>
              <a:ext uri="{FF2B5EF4-FFF2-40B4-BE49-F238E27FC236}">
                <a16:creationId xmlns:a16="http://schemas.microsoft.com/office/drawing/2014/main" id="{F44F39D4-A887-43E1-8C6B-4F5641570D64}"/>
              </a:ext>
            </a:extLst>
          </p:cNvPr>
          <p:cNvSpPr>
            <a:spLocks noGrp="1"/>
          </p:cNvSpPr>
          <p:nvPr/>
        </p:nvSpPr>
        <p:spPr>
          <a:xfrm>
            <a:off x="533400" y="361950"/>
            <a:ext cx="11125200" cy="1028700"/>
          </a:xfrm>
          <a:prstGeom prst="rect">
            <a:avLst/>
          </a:prstGeom>
          <a:noFill/>
          <a:ln w="0">
            <a:noFill/>
          </a:ln>
        </p:spPr>
        <p:txBody>
          <a:bodyPr lIns="0" tIns="0" rIns="0" bIns="0" anchor="t"/>
          <a:lstStyle>
            <a:defPPr>
              <a:defRPr sz="3150" b="1">
                <a:solidFill>
                  <a:srgbClr val="142B3D"/>
                </a:solidFill>
              </a:defRPr>
            </a:defPPr>
            <a:lvl1pPr>
              <a:defRPr sz="3150" b="1">
                <a:solidFill>
                  <a:srgbClr val="142B3D"/>
                </a:solidFill>
              </a:defRPr>
            </a:lvl1pPr>
            <a:lvl2pPr>
              <a:defRPr sz="3150" b="1">
                <a:solidFill>
                  <a:srgbClr val="142B3D"/>
                </a:solidFill>
              </a:defRPr>
            </a:lvl2pPr>
            <a:lvl3pPr>
              <a:defRPr sz="3150" b="1">
                <a:solidFill>
                  <a:srgbClr val="142B3D"/>
                </a:solidFill>
              </a:defRPr>
            </a:lvl3pPr>
            <a:lvl4pPr>
              <a:defRPr sz="3150" b="1">
                <a:solidFill>
                  <a:srgbClr val="142B3D"/>
                </a:solidFill>
              </a:defRPr>
            </a:lvl4pPr>
            <a:lvl5pPr>
              <a:defRPr sz="3150" b="1">
                <a:solidFill>
                  <a:srgbClr val="142B3D"/>
                </a:solidFill>
              </a:defRPr>
            </a:lvl5pPr>
            <a:lvl6pPr>
              <a:defRPr sz="3150" b="1">
                <a:solidFill>
                  <a:srgbClr val="142B3D"/>
                </a:solidFill>
              </a:defRPr>
            </a:lvl6pPr>
            <a:lvl7pPr>
              <a:defRPr sz="3150" b="1">
                <a:solidFill>
                  <a:srgbClr val="142B3D"/>
                </a:solidFill>
              </a:defRPr>
            </a:lvl7pPr>
            <a:lvl8pPr>
              <a:defRPr sz="3150" b="1">
                <a:solidFill>
                  <a:srgbClr val="142B3D"/>
                </a:solidFill>
              </a:defRPr>
            </a:lvl8pPr>
            <a:lvl9pPr>
              <a:defRPr sz="3150" b="1">
                <a:solidFill>
                  <a:srgbClr val="142B3D"/>
                </a:solidFill>
              </a:defRPr>
            </a:lvl9pPr>
          </a:lstStyle>
          <a:p>
            <a:pPr>
              <a:defRPr sz="3150" b="1">
                <a:solidFill>
                  <a:srgbClr val="142B3D"/>
                </a:solidFill>
              </a:defRPr>
            </a:pPr>
            <a:r>
              <a:rPr sz="3150" b="1">
                <a:solidFill>
                  <a:srgbClr val="142B3D"/>
                </a:solidFill>
              </a:rPr>
              <a:t>Equivalent open thermal-modeling tools and verification</a:t>
            </a:r>
          </a:p>
        </p:txBody>
      </p:sp>
      <p:sp>
        <p:nvSpPr>
          <p:cNvPr id="2" name="Khani Solutions">
            <a:extLst>
              <a:ext uri="{FF2B5EF4-FFF2-40B4-BE49-F238E27FC236}">
                <a16:creationId xmlns:a16="http://schemas.microsoft.com/office/drawing/2014/main" id="{A87EDCBD-E182-40E3-8556-E9A0A4253BB1}"/>
              </a:ext>
            </a:extLst>
          </p:cNvPr>
          <p:cNvSpPr>
            <a:spLocks noGrp="1"/>
          </p:cNvSpPr>
          <p:nvPr/>
        </p:nvSpPr>
        <p:spPr>
          <a:xfrm>
            <a:off x="533400" y="6448425"/>
            <a:ext cx="2190750" cy="238125"/>
          </a:xfrm>
          <a:prstGeom prst="rect">
            <a:avLst/>
          </a:prstGeom>
          <a:noFill/>
          <a:ln w="0">
            <a:noFill/>
          </a:ln>
        </p:spPr>
        <p:txBody>
          <a:bodyPr lIns="0" tIns="0" rIns="0" bIns="0" anchor="t"/>
          <a:lstStyle>
            <a:defPPr>
              <a:defRPr sz="1350" b="0">
                <a:solidFill>
                  <a:srgbClr val="587081"/>
                </a:solidFill>
              </a:defRPr>
            </a:defPPr>
            <a:lvl1pPr>
              <a:defRPr sz="1350" b="0">
                <a:solidFill>
                  <a:srgbClr val="587081"/>
                </a:solidFill>
              </a:defRPr>
            </a:lvl1pPr>
            <a:lvl2pPr>
              <a:defRPr sz="1350" b="0">
                <a:solidFill>
                  <a:srgbClr val="587081"/>
                </a:solidFill>
              </a:defRPr>
            </a:lvl2pPr>
            <a:lvl3pPr>
              <a:defRPr sz="1350" b="0">
                <a:solidFill>
                  <a:srgbClr val="587081"/>
                </a:solidFill>
              </a:defRPr>
            </a:lvl3pPr>
            <a:lvl4pPr>
              <a:defRPr sz="1350" b="0">
                <a:solidFill>
                  <a:srgbClr val="587081"/>
                </a:solidFill>
              </a:defRPr>
            </a:lvl4pPr>
            <a:lvl5pPr>
              <a:defRPr sz="1350" b="0">
                <a:solidFill>
                  <a:srgbClr val="587081"/>
                </a:solidFill>
              </a:defRPr>
            </a:lvl5pPr>
            <a:lvl6pPr>
              <a:defRPr sz="1350" b="0">
                <a:solidFill>
                  <a:srgbClr val="587081"/>
                </a:solidFill>
              </a:defRPr>
            </a:lvl6pPr>
            <a:lvl7pPr>
              <a:defRPr sz="1350" b="0">
                <a:solidFill>
                  <a:srgbClr val="587081"/>
                </a:solidFill>
              </a:defRPr>
            </a:lvl7pPr>
            <a:lvl8pPr>
              <a:defRPr sz="1350" b="0">
                <a:solidFill>
                  <a:srgbClr val="587081"/>
                </a:solidFill>
              </a:defRPr>
            </a:lvl8pPr>
            <a:lvl9pPr>
              <a:defRPr sz="1350" b="0">
                <a:solidFill>
                  <a:srgbClr val="587081"/>
                </a:solidFill>
              </a:defRPr>
            </a:lvl9pPr>
          </a:lstStyle>
          <a:p>
            <a:pPr>
              <a:defRPr sz="1350" b="0">
                <a:solidFill>
                  <a:srgbClr val="587081"/>
                </a:solidFill>
              </a:defRPr>
            </a:pPr>
            <a:r>
              <a:rPr sz="1350" b="0">
                <a:solidFill>
                  <a:srgbClr val="587081"/>
                </a:solidFill>
              </a:rPr>
              <a:t>Khani Solutions</a:t>
            </a:r>
          </a:p>
        </p:txBody>
      </p:sp>
      <p:sp>
        <p:nvSpPr>
          <p:cNvPr id="3" name="18 / 20">
            <a:extLst>
              <a:ext uri="{FF2B5EF4-FFF2-40B4-BE49-F238E27FC236}">
                <a16:creationId xmlns:a16="http://schemas.microsoft.com/office/drawing/2014/main" id="{B281B9CD-3BE2-49FD-9559-89B7D0BFAF10}"/>
              </a:ext>
            </a:extLst>
          </p:cNvPr>
          <p:cNvSpPr>
            <a:spLocks noGrp="1"/>
          </p:cNvSpPr>
          <p:nvPr/>
        </p:nvSpPr>
        <p:spPr>
          <a:xfrm>
            <a:off x="10896600" y="6448425"/>
            <a:ext cx="857250" cy="238125"/>
          </a:xfrm>
          <a:prstGeom prst="rect">
            <a:avLst/>
          </a:prstGeom>
          <a:noFill/>
          <a:ln w="0">
            <a:noFill/>
          </a:ln>
        </p:spPr>
        <p:txBody>
          <a:bodyPr lIns="0" tIns="0" rIns="0" bIns="0" anchor="t"/>
          <a:lstStyle>
            <a:defPPr>
              <a:defRPr sz="1350" b="0">
                <a:solidFill>
                  <a:srgbClr val="587081"/>
                </a:solidFill>
              </a:defRPr>
            </a:defPPr>
            <a:lvl1pPr>
              <a:defRPr sz="1350" b="0">
                <a:solidFill>
                  <a:srgbClr val="587081"/>
                </a:solidFill>
              </a:defRPr>
            </a:lvl1pPr>
            <a:lvl2pPr>
              <a:defRPr sz="1350" b="0">
                <a:solidFill>
                  <a:srgbClr val="587081"/>
                </a:solidFill>
              </a:defRPr>
            </a:lvl2pPr>
            <a:lvl3pPr>
              <a:defRPr sz="1350" b="0">
                <a:solidFill>
                  <a:srgbClr val="587081"/>
                </a:solidFill>
              </a:defRPr>
            </a:lvl3pPr>
            <a:lvl4pPr>
              <a:defRPr sz="1350" b="0">
                <a:solidFill>
                  <a:srgbClr val="587081"/>
                </a:solidFill>
              </a:defRPr>
            </a:lvl4pPr>
            <a:lvl5pPr>
              <a:defRPr sz="1350" b="0">
                <a:solidFill>
                  <a:srgbClr val="587081"/>
                </a:solidFill>
              </a:defRPr>
            </a:lvl5pPr>
            <a:lvl6pPr>
              <a:defRPr sz="1350" b="0">
                <a:solidFill>
                  <a:srgbClr val="587081"/>
                </a:solidFill>
              </a:defRPr>
            </a:lvl6pPr>
            <a:lvl7pPr>
              <a:defRPr sz="1350" b="0">
                <a:solidFill>
                  <a:srgbClr val="587081"/>
                </a:solidFill>
              </a:defRPr>
            </a:lvl7pPr>
            <a:lvl8pPr>
              <a:defRPr sz="1350" b="0">
                <a:solidFill>
                  <a:srgbClr val="587081"/>
                </a:solidFill>
              </a:defRPr>
            </a:lvl8pPr>
            <a:lvl9pPr>
              <a:defRPr sz="1350" b="0">
                <a:solidFill>
                  <a:srgbClr val="587081"/>
                </a:solidFill>
              </a:defRPr>
            </a:lvl9pPr>
          </a:lstStyle>
          <a:p>
            <a:pPr>
              <a:defRPr sz="1350" b="0">
                <a:solidFill>
                  <a:srgbClr val="587081"/>
                </a:solidFill>
              </a:defRPr>
            </a:pPr>
            <a:r>
              <a:rPr sz="1350" b="0">
                <a:solidFill>
                  <a:srgbClr val="587081"/>
                </a:solidFill>
              </a:rPr>
              <a:t>18 / 20</a:t>
            </a:r>
          </a:p>
        </p:txBody>
      </p:sp>
      <p:sp>
        <p:nvSpPr>
          <p:cNvPr id="4" name="Detailed evidence on the website">
            <a:extLst>
              <a:ext uri="{FF2B5EF4-FFF2-40B4-BE49-F238E27FC236}">
                <a16:creationId xmlns:a16="http://schemas.microsoft.com/office/drawing/2014/main" id="{5BF52B7A-C9C4-44D5-9F26-EA82D21ACEAC}"/>
              </a:ext>
            </a:extLst>
          </p:cNvPr>
          <p:cNvSpPr>
            <a:spLocks noGrp="1"/>
          </p:cNvSpPr>
          <p:nvPr/>
        </p:nvSpPr>
        <p:spPr>
          <a:xfrm>
            <a:off x="7000875" y="6448425"/>
            <a:ext cx="3476625" cy="238125"/>
          </a:xfrm>
          <a:prstGeom prst="rect">
            <a:avLst/>
          </a:prstGeom>
          <a:noFill/>
          <a:ln w="0">
            <a:noFill/>
          </a:ln>
        </p:spPr>
        <p:txBody>
          <a:bodyPr lIns="0" tIns="0" rIns="0" bIns="0" anchor="t"/>
          <a:lstStyle>
            <a:defPPr>
              <a:defRPr sz="1350" b="0">
                <a:solidFill>
                  <a:srgbClr val="087F95"/>
                </a:solidFill>
              </a:defRPr>
            </a:defPPr>
            <a:lvl1pPr>
              <a:defRPr sz="1350" b="0">
                <a:solidFill>
                  <a:srgbClr val="087F95"/>
                </a:solidFill>
              </a:defRPr>
            </a:lvl1pPr>
            <a:lvl2pPr>
              <a:defRPr sz="1350" b="0">
                <a:solidFill>
                  <a:srgbClr val="087F95"/>
                </a:solidFill>
              </a:defRPr>
            </a:lvl2pPr>
            <a:lvl3pPr>
              <a:defRPr sz="1350" b="0">
                <a:solidFill>
                  <a:srgbClr val="087F95"/>
                </a:solidFill>
              </a:defRPr>
            </a:lvl3pPr>
            <a:lvl4pPr>
              <a:defRPr sz="1350" b="0">
                <a:solidFill>
                  <a:srgbClr val="087F95"/>
                </a:solidFill>
              </a:defRPr>
            </a:lvl4pPr>
            <a:lvl5pPr>
              <a:defRPr sz="1350" b="0">
                <a:solidFill>
                  <a:srgbClr val="087F95"/>
                </a:solidFill>
              </a:defRPr>
            </a:lvl5pPr>
            <a:lvl6pPr>
              <a:defRPr sz="1350" b="0">
                <a:solidFill>
                  <a:srgbClr val="087F95"/>
                </a:solidFill>
              </a:defRPr>
            </a:lvl6pPr>
            <a:lvl7pPr>
              <a:defRPr sz="1350" b="0">
                <a:solidFill>
                  <a:srgbClr val="087F95"/>
                </a:solidFill>
              </a:defRPr>
            </a:lvl7pPr>
            <a:lvl8pPr>
              <a:defRPr sz="1350" b="0">
                <a:solidFill>
                  <a:srgbClr val="087F95"/>
                </a:solidFill>
              </a:defRPr>
            </a:lvl8pPr>
            <a:lvl9pPr>
              <a:defRPr sz="1350" b="0">
                <a:solidFill>
                  <a:srgbClr val="087F95"/>
                </a:solidFill>
              </a:defRPr>
            </a:lvl9pPr>
          </a:lstStyle>
          <a:p>
            <a:pPr>
              <a:defRPr sz="1350" b="0">
                <a:solidFill>
                  <a:srgbClr val="087F95"/>
                </a:solidFill>
              </a:defRPr>
            </a:pPr>
            <a:r>
              <a:rPr sz="1350" b="0">
                <a:solidFill>
                  <a:srgbClr val="087F95"/>
                </a:solidFill>
                <a:hlinkClick r:id="rId3"/>
              </a:rPr>
              <a:t>Detailed evidence on the website</a:t>
            </a:r>
          </a:p>
        </p:txBody>
      </p:sp>
      <p:sp>
        <p:nvSpPr>
          <p:cNvPr id="5" name="JD-12: Simulation evidence">
            <a:extLst>
              <a:ext uri="{FF2B5EF4-FFF2-40B4-BE49-F238E27FC236}">
                <a16:creationId xmlns:a16="http://schemas.microsoft.com/office/drawing/2014/main" id="{198571DA-FFE3-45B1-8B1E-15838D69C0DE}"/>
              </a:ext>
            </a:extLst>
          </p:cNvPr>
          <p:cNvSpPr>
            <a:spLocks noGrp="1"/>
          </p:cNvSpPr>
          <p:nvPr/>
        </p:nvSpPr>
        <p:spPr>
          <a:xfrm>
            <a:off x="533400" y="1371600"/>
            <a:ext cx="10477500" cy="276225"/>
          </a:xfrm>
          <a:prstGeom prst="rect">
            <a:avLst/>
          </a:prstGeom>
          <a:noFill/>
          <a:ln w="0">
            <a:noFill/>
          </a:ln>
        </p:spPr>
        <p:txBody>
          <a:bodyPr lIns="0" tIns="0" rIns="0" bIns="0" anchor="t"/>
          <a:lstStyle>
            <a:defPPr>
              <a:defRPr sz="1650" b="1">
                <a:solidFill>
                  <a:srgbClr val="087F95"/>
                </a:solidFill>
              </a:defRPr>
            </a:defPPr>
            <a:lvl1pPr>
              <a:defRPr sz="1650" b="1">
                <a:solidFill>
                  <a:srgbClr val="087F95"/>
                </a:solidFill>
              </a:defRPr>
            </a:lvl1pPr>
            <a:lvl2pPr>
              <a:defRPr sz="1650" b="1">
                <a:solidFill>
                  <a:srgbClr val="087F95"/>
                </a:solidFill>
              </a:defRPr>
            </a:lvl2pPr>
            <a:lvl3pPr>
              <a:defRPr sz="1650" b="1">
                <a:solidFill>
                  <a:srgbClr val="087F95"/>
                </a:solidFill>
              </a:defRPr>
            </a:lvl3pPr>
            <a:lvl4pPr>
              <a:defRPr sz="1650" b="1">
                <a:solidFill>
                  <a:srgbClr val="087F95"/>
                </a:solidFill>
              </a:defRPr>
            </a:lvl4pPr>
            <a:lvl5pPr>
              <a:defRPr sz="1650" b="1">
                <a:solidFill>
                  <a:srgbClr val="087F95"/>
                </a:solidFill>
              </a:defRPr>
            </a:lvl5pPr>
            <a:lvl6pPr>
              <a:defRPr sz="1650" b="1">
                <a:solidFill>
                  <a:srgbClr val="087F95"/>
                </a:solidFill>
              </a:defRPr>
            </a:lvl6pPr>
            <a:lvl7pPr>
              <a:defRPr sz="1650" b="1">
                <a:solidFill>
                  <a:srgbClr val="087F95"/>
                </a:solidFill>
              </a:defRPr>
            </a:lvl7pPr>
            <a:lvl8pPr>
              <a:defRPr sz="1650" b="1">
                <a:solidFill>
                  <a:srgbClr val="087F95"/>
                </a:solidFill>
              </a:defRPr>
            </a:lvl8pPr>
            <a:lvl9pPr>
              <a:defRPr sz="1650" b="1">
                <a:solidFill>
                  <a:srgbClr val="087F95"/>
                </a:solidFill>
              </a:defRPr>
            </a:lvl9pPr>
          </a:lstStyle>
          <a:p>
            <a:pPr>
              <a:defRPr sz="1650" b="1">
                <a:solidFill>
                  <a:srgbClr val="087F95"/>
                </a:solidFill>
              </a:defRPr>
            </a:pPr>
            <a:r>
              <a:rPr sz="1650" b="1">
                <a:solidFill>
                  <a:srgbClr val="087F95"/>
                </a:solidFill>
              </a:rPr>
              <a:t>JD-12: Simulation evidence</a:t>
            </a:r>
          </a:p>
        </p:txBody>
      </p:sp>
      <p:graphicFrame>
        <p:nvGraphicFramePr>
          <p:cNvPr id="6" name="Chart">
            <a:extLst>
              <a:ext uri="{FF2B5EF4-FFF2-40B4-BE49-F238E27FC236}">
                <a16:creationId xmlns:a16="http://schemas.microsoft.com/office/drawing/2014/main" id="{4E724431-A6E4-4C2F-88A8-D334B9B2E168}"/>
              </a:ext>
            </a:extLst>
          </p:cNvPr>
          <p:cNvGraphicFramePr/>
          <p:nvPr/>
        </p:nvGraphicFramePr>
        <p:xfrm>
          <a:off x="457200" y="2019300"/>
          <a:ext cx="7810500" cy="3429000"/>
        </p:xfrm>
        <a:graphic>
          <a:graphicData uri="http://schemas.openxmlformats.org/drawingml/2006/chart">
            <c:chart xmlns:c="http://schemas.openxmlformats.org/drawingml/2006/chart" xmlns:r="http://schemas.openxmlformats.org/officeDocument/2006/relationships" r:id="rId4"/>
          </a:graphicData>
        </a:graphic>
      </p:graphicFrame>
      <p:sp>
        <p:nvSpPr>
          <p:cNvPr id="7" name="1.65%">
            <a:extLst>
              <a:ext uri="{FF2B5EF4-FFF2-40B4-BE49-F238E27FC236}">
                <a16:creationId xmlns:a16="http://schemas.microsoft.com/office/drawing/2014/main" id="{EF5A64B8-0ED9-4B77-91E1-E742E565B160}"/>
              </a:ext>
            </a:extLst>
          </p:cNvPr>
          <p:cNvSpPr>
            <a:spLocks noGrp="1"/>
          </p:cNvSpPr>
          <p:nvPr/>
        </p:nvSpPr>
        <p:spPr>
          <a:xfrm>
            <a:off x="8867775" y="2324100"/>
            <a:ext cx="2809875" cy="609600"/>
          </a:xfrm>
          <a:prstGeom prst="rect">
            <a:avLst/>
          </a:prstGeom>
          <a:noFill/>
          <a:ln w="0">
            <a:noFill/>
          </a:ln>
        </p:spPr>
        <p:txBody>
          <a:bodyPr lIns="0" tIns="0" rIns="0" bIns="0" anchor="t"/>
          <a:lstStyle>
            <a:defPPr>
              <a:defRPr sz="3900" b="1">
                <a:solidFill>
                  <a:srgbClr val="087F95"/>
                </a:solidFill>
              </a:defRPr>
            </a:defPPr>
            <a:lvl1pPr>
              <a:defRPr sz="3900" b="1">
                <a:solidFill>
                  <a:srgbClr val="087F95"/>
                </a:solidFill>
              </a:defRPr>
            </a:lvl1pPr>
            <a:lvl2pPr>
              <a:defRPr sz="3900" b="1">
                <a:solidFill>
                  <a:srgbClr val="087F95"/>
                </a:solidFill>
              </a:defRPr>
            </a:lvl2pPr>
            <a:lvl3pPr>
              <a:defRPr sz="3900" b="1">
                <a:solidFill>
                  <a:srgbClr val="087F95"/>
                </a:solidFill>
              </a:defRPr>
            </a:lvl3pPr>
            <a:lvl4pPr>
              <a:defRPr sz="3900" b="1">
                <a:solidFill>
                  <a:srgbClr val="087F95"/>
                </a:solidFill>
              </a:defRPr>
            </a:lvl4pPr>
            <a:lvl5pPr>
              <a:defRPr sz="3900" b="1">
                <a:solidFill>
                  <a:srgbClr val="087F95"/>
                </a:solidFill>
              </a:defRPr>
            </a:lvl5pPr>
            <a:lvl6pPr>
              <a:defRPr sz="3900" b="1">
                <a:solidFill>
                  <a:srgbClr val="087F95"/>
                </a:solidFill>
              </a:defRPr>
            </a:lvl6pPr>
            <a:lvl7pPr>
              <a:defRPr sz="3900" b="1">
                <a:solidFill>
                  <a:srgbClr val="087F95"/>
                </a:solidFill>
              </a:defRPr>
            </a:lvl7pPr>
            <a:lvl8pPr>
              <a:defRPr sz="3900" b="1">
                <a:solidFill>
                  <a:srgbClr val="087F95"/>
                </a:solidFill>
              </a:defRPr>
            </a:lvl8pPr>
            <a:lvl9pPr>
              <a:defRPr sz="3900" b="1">
                <a:solidFill>
                  <a:srgbClr val="087F95"/>
                </a:solidFill>
              </a:defRPr>
            </a:lvl9pPr>
          </a:lstStyle>
          <a:p>
            <a:pPr>
              <a:defRPr sz="3900" b="1">
                <a:solidFill>
                  <a:srgbClr val="087F95"/>
                </a:solidFill>
              </a:defRPr>
            </a:pPr>
            <a:r>
              <a:rPr sz="3900" b="1">
                <a:solidFill>
                  <a:srgbClr val="087F95"/>
                </a:solidFill>
              </a:rPr>
              <a:t>1.65%</a:t>
            </a:r>
          </a:p>
        </p:txBody>
      </p:sp>
      <p:sp>
        <p:nvSpPr>
          <p:cNvPr id="8" name="Maximum selected heat-path matrix change on mesh refinement">
            <a:extLst>
              <a:ext uri="{FF2B5EF4-FFF2-40B4-BE49-F238E27FC236}">
                <a16:creationId xmlns:a16="http://schemas.microsoft.com/office/drawing/2014/main" id="{296DA63E-AF42-487A-A125-0019E93DAA9C}"/>
              </a:ext>
            </a:extLst>
          </p:cNvPr>
          <p:cNvSpPr>
            <a:spLocks noGrp="1"/>
          </p:cNvSpPr>
          <p:nvPr/>
        </p:nvSpPr>
        <p:spPr>
          <a:xfrm>
            <a:off x="8867775" y="2962275"/>
            <a:ext cx="2809875" cy="742950"/>
          </a:xfrm>
          <a:prstGeom prst="rect">
            <a:avLst/>
          </a:prstGeom>
          <a:noFill/>
          <a:ln w="0">
            <a:noFill/>
          </a:ln>
        </p:spPr>
        <p:txBody>
          <a:bodyPr lIns="0" tIns="0" rIns="0" bIns="0" anchor="t"/>
          <a:lstStyle>
            <a:defPPr>
              <a:defRPr sz="1725" b="0">
                <a:solidFill>
                  <a:srgbClr val="587081"/>
                </a:solidFill>
              </a:defRPr>
            </a:defPPr>
            <a:lvl1pPr>
              <a:defRPr sz="1725" b="0">
                <a:solidFill>
                  <a:srgbClr val="587081"/>
                </a:solidFill>
              </a:defRPr>
            </a:lvl1pPr>
            <a:lvl2pPr>
              <a:defRPr sz="1725" b="0">
                <a:solidFill>
                  <a:srgbClr val="587081"/>
                </a:solidFill>
              </a:defRPr>
            </a:lvl2pPr>
            <a:lvl3pPr>
              <a:defRPr sz="1725" b="0">
                <a:solidFill>
                  <a:srgbClr val="587081"/>
                </a:solidFill>
              </a:defRPr>
            </a:lvl3pPr>
            <a:lvl4pPr>
              <a:defRPr sz="1725" b="0">
                <a:solidFill>
                  <a:srgbClr val="587081"/>
                </a:solidFill>
              </a:defRPr>
            </a:lvl4pPr>
            <a:lvl5pPr>
              <a:defRPr sz="1725" b="0">
                <a:solidFill>
                  <a:srgbClr val="587081"/>
                </a:solidFill>
              </a:defRPr>
            </a:lvl5pPr>
            <a:lvl6pPr>
              <a:defRPr sz="1725" b="0">
                <a:solidFill>
                  <a:srgbClr val="587081"/>
                </a:solidFill>
              </a:defRPr>
            </a:lvl6pPr>
            <a:lvl7pPr>
              <a:defRPr sz="1725" b="0">
                <a:solidFill>
                  <a:srgbClr val="587081"/>
                </a:solidFill>
              </a:defRPr>
            </a:lvl7pPr>
            <a:lvl8pPr>
              <a:defRPr sz="1725" b="0">
                <a:solidFill>
                  <a:srgbClr val="587081"/>
                </a:solidFill>
              </a:defRPr>
            </a:lvl8pPr>
            <a:lvl9pPr>
              <a:defRPr sz="1725" b="0">
                <a:solidFill>
                  <a:srgbClr val="587081"/>
                </a:solidFill>
              </a:defRPr>
            </a:lvl9pPr>
          </a:lstStyle>
          <a:p>
            <a:pPr>
              <a:defRPr sz="1725" b="0">
                <a:solidFill>
                  <a:srgbClr val="587081"/>
                </a:solidFill>
              </a:defRPr>
            </a:pPr>
            <a:r>
              <a:rPr sz="1725" b="0">
                <a:solidFill>
                  <a:srgbClr val="587081"/>
                </a:solidFill>
              </a:rPr>
              <a:t>Maximum selected heat-path matrix change on mesh refinement</a:t>
            </a:r>
          </a:p>
        </p:txBody>
      </p:sp>
      <p:sp>
        <p:nvSpPr>
          <p:cNvPr id="9" name="FreeCAD geometry     OpenModelica mission     Spatial conduction ">
            <a:extLst>
              <a:ext uri="{FF2B5EF4-FFF2-40B4-BE49-F238E27FC236}">
                <a16:creationId xmlns:a16="http://schemas.microsoft.com/office/drawing/2014/main" id="{5C75783E-1035-450A-8107-04E2333FA196}"/>
              </a:ext>
            </a:extLst>
          </p:cNvPr>
          <p:cNvSpPr>
            <a:spLocks noGrp="1"/>
          </p:cNvSpPr>
          <p:nvPr/>
        </p:nvSpPr>
        <p:spPr>
          <a:xfrm>
            <a:off x="533400" y="5610225"/>
            <a:ext cx="11049000" cy="381000"/>
          </a:xfrm>
          <a:prstGeom prst="rect">
            <a:avLst/>
          </a:prstGeom>
          <a:noFill/>
          <a:ln w="0">
            <a:noFill/>
          </a:ln>
        </p:spPr>
        <p:txBody>
          <a:bodyPr lIns="0" tIns="0" rIns="0" bIns="0" anchor="t"/>
          <a:lstStyle>
            <a:defPPr>
              <a:defRPr sz="1950" b="1">
                <a:solidFill>
                  <a:srgbClr val="142B3D"/>
                </a:solidFill>
              </a:defRPr>
            </a:defPPr>
            <a:lvl1pPr>
              <a:defRPr sz="1950" b="1">
                <a:solidFill>
                  <a:srgbClr val="142B3D"/>
                </a:solidFill>
              </a:defRPr>
            </a:lvl1pPr>
            <a:lvl2pPr>
              <a:defRPr sz="1950" b="1">
                <a:solidFill>
                  <a:srgbClr val="142B3D"/>
                </a:solidFill>
              </a:defRPr>
            </a:lvl2pPr>
            <a:lvl3pPr>
              <a:defRPr sz="1950" b="1">
                <a:solidFill>
                  <a:srgbClr val="142B3D"/>
                </a:solidFill>
              </a:defRPr>
            </a:lvl3pPr>
            <a:lvl4pPr>
              <a:defRPr sz="1950" b="1">
                <a:solidFill>
                  <a:srgbClr val="142B3D"/>
                </a:solidFill>
              </a:defRPr>
            </a:lvl4pPr>
            <a:lvl5pPr>
              <a:defRPr sz="1950" b="1">
                <a:solidFill>
                  <a:srgbClr val="142B3D"/>
                </a:solidFill>
              </a:defRPr>
            </a:lvl5pPr>
            <a:lvl6pPr>
              <a:defRPr sz="1950" b="1">
                <a:solidFill>
                  <a:srgbClr val="142B3D"/>
                </a:solidFill>
              </a:defRPr>
            </a:lvl6pPr>
            <a:lvl7pPr>
              <a:defRPr sz="1950" b="1">
                <a:solidFill>
                  <a:srgbClr val="142B3D"/>
                </a:solidFill>
              </a:defRPr>
            </a:lvl7pPr>
            <a:lvl8pPr>
              <a:defRPr sz="1950" b="1">
                <a:solidFill>
                  <a:srgbClr val="142B3D"/>
                </a:solidFill>
              </a:defRPr>
            </a:lvl8pPr>
            <a:lvl9pPr>
              <a:defRPr sz="1950" b="1">
                <a:solidFill>
                  <a:srgbClr val="142B3D"/>
                </a:solidFill>
              </a:defRPr>
            </a:lvl9pPr>
          </a:lstStyle>
          <a:p>
            <a:pPr>
              <a:defRPr sz="1950" b="1">
                <a:solidFill>
                  <a:srgbClr val="142B3D"/>
                </a:solidFill>
              </a:defRPr>
            </a:pPr>
            <a:r>
              <a:rPr sz="1950" b="1">
                <a:solidFill>
                  <a:srgbClr val="142B3D"/>
                </a:solidFill>
              </a:rPr>
              <a:t>FreeCAD geometry     OpenModelica mission     Spatial conduction     Python checks</a:t>
            </a:r>
          </a:p>
        </p:txBody>
      </p:sp>
      <p:sp>
        <p:nvSpPr>
          <p:cNvPr id="10" name="Numerical verification is complete for the declared checks. Physi">
            <a:extLst>
              <a:ext uri="{FF2B5EF4-FFF2-40B4-BE49-F238E27FC236}">
                <a16:creationId xmlns:a16="http://schemas.microsoft.com/office/drawing/2014/main" id="{D35BFD2B-CCA3-454A-93D3-92C6584C74A0}"/>
              </a:ext>
            </a:extLst>
          </p:cNvPr>
          <p:cNvSpPr>
            <a:spLocks noGrp="1"/>
          </p:cNvSpPr>
          <p:nvPr/>
        </p:nvSpPr>
        <p:spPr>
          <a:xfrm>
            <a:off x="533400" y="6019800"/>
            <a:ext cx="11049000" cy="285750"/>
          </a:xfrm>
          <a:prstGeom prst="rect">
            <a:avLst/>
          </a:prstGeom>
          <a:noFill/>
          <a:ln w="0">
            <a:noFill/>
          </a:ln>
        </p:spPr>
        <p:txBody>
          <a:bodyPr lIns="0" tIns="0" rIns="0" bIns="0" anchor="t"/>
          <a:lstStyle>
            <a:defPPr>
              <a:defRPr sz="1650" b="0">
                <a:solidFill>
                  <a:srgbClr val="587081"/>
                </a:solidFill>
              </a:defRPr>
            </a:defPPr>
            <a:lvl1pPr>
              <a:defRPr sz="1650" b="0">
                <a:solidFill>
                  <a:srgbClr val="587081"/>
                </a:solidFill>
              </a:defRPr>
            </a:lvl1pPr>
            <a:lvl2pPr>
              <a:defRPr sz="1650" b="0">
                <a:solidFill>
                  <a:srgbClr val="587081"/>
                </a:solidFill>
              </a:defRPr>
            </a:lvl2pPr>
            <a:lvl3pPr>
              <a:defRPr sz="1650" b="0">
                <a:solidFill>
                  <a:srgbClr val="587081"/>
                </a:solidFill>
              </a:defRPr>
            </a:lvl3pPr>
            <a:lvl4pPr>
              <a:defRPr sz="1650" b="0">
                <a:solidFill>
                  <a:srgbClr val="587081"/>
                </a:solidFill>
              </a:defRPr>
            </a:lvl4pPr>
            <a:lvl5pPr>
              <a:defRPr sz="1650" b="0">
                <a:solidFill>
                  <a:srgbClr val="587081"/>
                </a:solidFill>
              </a:defRPr>
            </a:lvl5pPr>
            <a:lvl6pPr>
              <a:defRPr sz="1650" b="0">
                <a:solidFill>
                  <a:srgbClr val="587081"/>
                </a:solidFill>
              </a:defRPr>
            </a:lvl6pPr>
            <a:lvl7pPr>
              <a:defRPr sz="1650" b="0">
                <a:solidFill>
                  <a:srgbClr val="587081"/>
                </a:solidFill>
              </a:defRPr>
            </a:lvl7pPr>
            <a:lvl8pPr>
              <a:defRPr sz="1650" b="0">
                <a:solidFill>
                  <a:srgbClr val="587081"/>
                </a:solidFill>
              </a:defRPr>
            </a:lvl8pPr>
            <a:lvl9pPr>
              <a:defRPr sz="1650" b="0">
                <a:solidFill>
                  <a:srgbClr val="587081"/>
                </a:solidFill>
              </a:defRPr>
            </a:lvl9pPr>
          </a:lstStyle>
          <a:p>
            <a:pPr>
              <a:defRPr sz="1650" b="0">
                <a:solidFill>
                  <a:srgbClr val="587081"/>
                </a:solidFill>
              </a:defRPr>
            </a:pPr>
            <a:r>
              <a:rPr sz="1650" b="0">
                <a:solidFill>
                  <a:srgbClr val="587081"/>
                </a:solidFill>
              </a:rPr>
              <a:t>Numerical verification is complete for the declared checks. Physical accuracy remains open.</a:t>
            </a:r>
          </a:p>
        </p:txBody>
      </p:sp>
    </p:spTree>
    <p:extLst>
      <p:ext uri="{BB962C8B-B14F-4D97-AF65-F5344CB8AC3E}">
        <p14:creationId xmlns:p14="http://schemas.microsoft.com/office/powerpoint/2010/main" val="11846728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Hardware integration and operational readiness">
            <a:extLst>
              <a:ext uri="{FF2B5EF4-FFF2-40B4-BE49-F238E27FC236}">
                <a16:creationId xmlns:a16="http://schemas.microsoft.com/office/drawing/2014/main" id="{26FF2B8A-631E-48EC-9BC3-0AB37E349493}"/>
              </a:ext>
            </a:extLst>
          </p:cNvPr>
          <p:cNvSpPr>
            <a:spLocks noGrp="1"/>
          </p:cNvSpPr>
          <p:nvPr/>
        </p:nvSpPr>
        <p:spPr>
          <a:xfrm>
            <a:off x="533400" y="361950"/>
            <a:ext cx="11125200" cy="1028700"/>
          </a:xfrm>
          <a:prstGeom prst="rect">
            <a:avLst/>
          </a:prstGeom>
          <a:noFill/>
          <a:ln w="0">
            <a:noFill/>
          </a:ln>
        </p:spPr>
        <p:txBody>
          <a:bodyPr lIns="0" tIns="0" rIns="0" bIns="0" anchor="t"/>
          <a:lstStyle>
            <a:defPPr>
              <a:defRPr sz="3150" b="1">
                <a:solidFill>
                  <a:srgbClr val="142B3D"/>
                </a:solidFill>
              </a:defRPr>
            </a:defPPr>
            <a:lvl1pPr>
              <a:defRPr sz="3150" b="1">
                <a:solidFill>
                  <a:srgbClr val="142B3D"/>
                </a:solidFill>
              </a:defRPr>
            </a:lvl1pPr>
            <a:lvl2pPr>
              <a:defRPr sz="3150" b="1">
                <a:solidFill>
                  <a:srgbClr val="142B3D"/>
                </a:solidFill>
              </a:defRPr>
            </a:lvl2pPr>
            <a:lvl3pPr>
              <a:defRPr sz="3150" b="1">
                <a:solidFill>
                  <a:srgbClr val="142B3D"/>
                </a:solidFill>
              </a:defRPr>
            </a:lvl3pPr>
            <a:lvl4pPr>
              <a:defRPr sz="3150" b="1">
                <a:solidFill>
                  <a:srgbClr val="142B3D"/>
                </a:solidFill>
              </a:defRPr>
            </a:lvl4pPr>
            <a:lvl5pPr>
              <a:defRPr sz="3150" b="1">
                <a:solidFill>
                  <a:srgbClr val="142B3D"/>
                </a:solidFill>
              </a:defRPr>
            </a:lvl5pPr>
            <a:lvl6pPr>
              <a:defRPr sz="3150" b="1">
                <a:solidFill>
                  <a:srgbClr val="142B3D"/>
                </a:solidFill>
              </a:defRPr>
            </a:lvl6pPr>
            <a:lvl7pPr>
              <a:defRPr sz="3150" b="1">
                <a:solidFill>
                  <a:srgbClr val="142B3D"/>
                </a:solidFill>
              </a:defRPr>
            </a:lvl7pPr>
            <a:lvl8pPr>
              <a:defRPr sz="3150" b="1">
                <a:solidFill>
                  <a:srgbClr val="142B3D"/>
                </a:solidFill>
              </a:defRPr>
            </a:lvl8pPr>
            <a:lvl9pPr>
              <a:defRPr sz="3150" b="1">
                <a:solidFill>
                  <a:srgbClr val="142B3D"/>
                </a:solidFill>
              </a:defRPr>
            </a:lvl9pPr>
          </a:lstStyle>
          <a:p>
            <a:pPr>
              <a:defRPr sz="3150" b="1">
                <a:solidFill>
                  <a:srgbClr val="142B3D"/>
                </a:solidFill>
              </a:defRPr>
            </a:pPr>
            <a:r>
              <a:rPr sz="3150" b="1">
                <a:solidFill>
                  <a:srgbClr val="142B3D"/>
                </a:solidFill>
              </a:rPr>
              <a:t>Hardware integration and operational readiness</a:t>
            </a:r>
          </a:p>
        </p:txBody>
      </p:sp>
      <p:sp>
        <p:nvSpPr>
          <p:cNvPr id="2" name="Khani Solutions">
            <a:extLst>
              <a:ext uri="{FF2B5EF4-FFF2-40B4-BE49-F238E27FC236}">
                <a16:creationId xmlns:a16="http://schemas.microsoft.com/office/drawing/2014/main" id="{3FE33879-C0F7-4371-837B-366DF99C3E61}"/>
              </a:ext>
            </a:extLst>
          </p:cNvPr>
          <p:cNvSpPr>
            <a:spLocks noGrp="1"/>
          </p:cNvSpPr>
          <p:nvPr/>
        </p:nvSpPr>
        <p:spPr>
          <a:xfrm>
            <a:off x="533400" y="6448425"/>
            <a:ext cx="2190750" cy="238125"/>
          </a:xfrm>
          <a:prstGeom prst="rect">
            <a:avLst/>
          </a:prstGeom>
          <a:noFill/>
          <a:ln w="0">
            <a:noFill/>
          </a:ln>
        </p:spPr>
        <p:txBody>
          <a:bodyPr lIns="0" tIns="0" rIns="0" bIns="0" anchor="t"/>
          <a:lstStyle>
            <a:defPPr>
              <a:defRPr sz="1350" b="0">
                <a:solidFill>
                  <a:srgbClr val="587081"/>
                </a:solidFill>
              </a:defRPr>
            </a:defPPr>
            <a:lvl1pPr>
              <a:defRPr sz="1350" b="0">
                <a:solidFill>
                  <a:srgbClr val="587081"/>
                </a:solidFill>
              </a:defRPr>
            </a:lvl1pPr>
            <a:lvl2pPr>
              <a:defRPr sz="1350" b="0">
                <a:solidFill>
                  <a:srgbClr val="587081"/>
                </a:solidFill>
              </a:defRPr>
            </a:lvl2pPr>
            <a:lvl3pPr>
              <a:defRPr sz="1350" b="0">
                <a:solidFill>
                  <a:srgbClr val="587081"/>
                </a:solidFill>
              </a:defRPr>
            </a:lvl3pPr>
            <a:lvl4pPr>
              <a:defRPr sz="1350" b="0">
                <a:solidFill>
                  <a:srgbClr val="587081"/>
                </a:solidFill>
              </a:defRPr>
            </a:lvl4pPr>
            <a:lvl5pPr>
              <a:defRPr sz="1350" b="0">
                <a:solidFill>
                  <a:srgbClr val="587081"/>
                </a:solidFill>
              </a:defRPr>
            </a:lvl5pPr>
            <a:lvl6pPr>
              <a:defRPr sz="1350" b="0">
                <a:solidFill>
                  <a:srgbClr val="587081"/>
                </a:solidFill>
              </a:defRPr>
            </a:lvl6pPr>
            <a:lvl7pPr>
              <a:defRPr sz="1350" b="0">
                <a:solidFill>
                  <a:srgbClr val="587081"/>
                </a:solidFill>
              </a:defRPr>
            </a:lvl7pPr>
            <a:lvl8pPr>
              <a:defRPr sz="1350" b="0">
                <a:solidFill>
                  <a:srgbClr val="587081"/>
                </a:solidFill>
              </a:defRPr>
            </a:lvl8pPr>
            <a:lvl9pPr>
              <a:defRPr sz="1350" b="0">
                <a:solidFill>
                  <a:srgbClr val="587081"/>
                </a:solidFill>
              </a:defRPr>
            </a:lvl9pPr>
          </a:lstStyle>
          <a:p>
            <a:pPr>
              <a:defRPr sz="1350" b="0">
                <a:solidFill>
                  <a:srgbClr val="587081"/>
                </a:solidFill>
              </a:defRPr>
            </a:pPr>
            <a:r>
              <a:rPr sz="1350" b="0">
                <a:solidFill>
                  <a:srgbClr val="587081"/>
                </a:solidFill>
              </a:rPr>
              <a:t>Khani Solutions</a:t>
            </a:r>
          </a:p>
        </p:txBody>
      </p:sp>
      <p:sp>
        <p:nvSpPr>
          <p:cNvPr id="3" name="19 / 20">
            <a:extLst>
              <a:ext uri="{FF2B5EF4-FFF2-40B4-BE49-F238E27FC236}">
                <a16:creationId xmlns:a16="http://schemas.microsoft.com/office/drawing/2014/main" id="{C6AE3B8E-A647-4350-A994-53B7731A4DA0}"/>
              </a:ext>
            </a:extLst>
          </p:cNvPr>
          <p:cNvSpPr>
            <a:spLocks noGrp="1"/>
          </p:cNvSpPr>
          <p:nvPr/>
        </p:nvSpPr>
        <p:spPr>
          <a:xfrm>
            <a:off x="10896600" y="6448425"/>
            <a:ext cx="857250" cy="238125"/>
          </a:xfrm>
          <a:prstGeom prst="rect">
            <a:avLst/>
          </a:prstGeom>
          <a:noFill/>
          <a:ln w="0">
            <a:noFill/>
          </a:ln>
        </p:spPr>
        <p:txBody>
          <a:bodyPr lIns="0" tIns="0" rIns="0" bIns="0" anchor="t"/>
          <a:lstStyle>
            <a:defPPr>
              <a:defRPr sz="1350" b="0">
                <a:solidFill>
                  <a:srgbClr val="587081"/>
                </a:solidFill>
              </a:defRPr>
            </a:defPPr>
            <a:lvl1pPr>
              <a:defRPr sz="1350" b="0">
                <a:solidFill>
                  <a:srgbClr val="587081"/>
                </a:solidFill>
              </a:defRPr>
            </a:lvl1pPr>
            <a:lvl2pPr>
              <a:defRPr sz="1350" b="0">
                <a:solidFill>
                  <a:srgbClr val="587081"/>
                </a:solidFill>
              </a:defRPr>
            </a:lvl2pPr>
            <a:lvl3pPr>
              <a:defRPr sz="1350" b="0">
                <a:solidFill>
                  <a:srgbClr val="587081"/>
                </a:solidFill>
              </a:defRPr>
            </a:lvl3pPr>
            <a:lvl4pPr>
              <a:defRPr sz="1350" b="0">
                <a:solidFill>
                  <a:srgbClr val="587081"/>
                </a:solidFill>
              </a:defRPr>
            </a:lvl4pPr>
            <a:lvl5pPr>
              <a:defRPr sz="1350" b="0">
                <a:solidFill>
                  <a:srgbClr val="587081"/>
                </a:solidFill>
              </a:defRPr>
            </a:lvl5pPr>
            <a:lvl6pPr>
              <a:defRPr sz="1350" b="0">
                <a:solidFill>
                  <a:srgbClr val="587081"/>
                </a:solidFill>
              </a:defRPr>
            </a:lvl6pPr>
            <a:lvl7pPr>
              <a:defRPr sz="1350" b="0">
                <a:solidFill>
                  <a:srgbClr val="587081"/>
                </a:solidFill>
              </a:defRPr>
            </a:lvl7pPr>
            <a:lvl8pPr>
              <a:defRPr sz="1350" b="0">
                <a:solidFill>
                  <a:srgbClr val="587081"/>
                </a:solidFill>
              </a:defRPr>
            </a:lvl8pPr>
            <a:lvl9pPr>
              <a:defRPr sz="1350" b="0">
                <a:solidFill>
                  <a:srgbClr val="587081"/>
                </a:solidFill>
              </a:defRPr>
            </a:lvl9pPr>
          </a:lstStyle>
          <a:p>
            <a:pPr>
              <a:defRPr sz="1350" b="0">
                <a:solidFill>
                  <a:srgbClr val="587081"/>
                </a:solidFill>
              </a:defRPr>
            </a:pPr>
            <a:r>
              <a:rPr sz="1350" b="0">
                <a:solidFill>
                  <a:srgbClr val="587081"/>
                </a:solidFill>
              </a:rPr>
              <a:t>19 / 20</a:t>
            </a:r>
          </a:p>
        </p:txBody>
      </p:sp>
      <p:sp>
        <p:nvSpPr>
          <p:cNvPr id="4" name="Detailed evidence on the website">
            <a:extLst>
              <a:ext uri="{FF2B5EF4-FFF2-40B4-BE49-F238E27FC236}">
                <a16:creationId xmlns:a16="http://schemas.microsoft.com/office/drawing/2014/main" id="{74F8A5AC-FA38-470E-836F-16D57EDAEA86}"/>
              </a:ext>
            </a:extLst>
          </p:cNvPr>
          <p:cNvSpPr>
            <a:spLocks noGrp="1"/>
          </p:cNvSpPr>
          <p:nvPr/>
        </p:nvSpPr>
        <p:spPr>
          <a:xfrm>
            <a:off x="7000875" y="6448425"/>
            <a:ext cx="3476625" cy="238125"/>
          </a:xfrm>
          <a:prstGeom prst="rect">
            <a:avLst/>
          </a:prstGeom>
          <a:noFill/>
          <a:ln w="0">
            <a:noFill/>
          </a:ln>
        </p:spPr>
        <p:txBody>
          <a:bodyPr lIns="0" tIns="0" rIns="0" bIns="0" anchor="t"/>
          <a:lstStyle>
            <a:defPPr>
              <a:defRPr sz="1350" b="0">
                <a:solidFill>
                  <a:srgbClr val="087F95"/>
                </a:solidFill>
              </a:defRPr>
            </a:defPPr>
            <a:lvl1pPr>
              <a:defRPr sz="1350" b="0">
                <a:solidFill>
                  <a:srgbClr val="087F95"/>
                </a:solidFill>
              </a:defRPr>
            </a:lvl1pPr>
            <a:lvl2pPr>
              <a:defRPr sz="1350" b="0">
                <a:solidFill>
                  <a:srgbClr val="087F95"/>
                </a:solidFill>
              </a:defRPr>
            </a:lvl2pPr>
            <a:lvl3pPr>
              <a:defRPr sz="1350" b="0">
                <a:solidFill>
                  <a:srgbClr val="087F95"/>
                </a:solidFill>
              </a:defRPr>
            </a:lvl3pPr>
            <a:lvl4pPr>
              <a:defRPr sz="1350" b="0">
                <a:solidFill>
                  <a:srgbClr val="087F95"/>
                </a:solidFill>
              </a:defRPr>
            </a:lvl4pPr>
            <a:lvl5pPr>
              <a:defRPr sz="1350" b="0">
                <a:solidFill>
                  <a:srgbClr val="087F95"/>
                </a:solidFill>
              </a:defRPr>
            </a:lvl5pPr>
            <a:lvl6pPr>
              <a:defRPr sz="1350" b="0">
                <a:solidFill>
                  <a:srgbClr val="087F95"/>
                </a:solidFill>
              </a:defRPr>
            </a:lvl6pPr>
            <a:lvl7pPr>
              <a:defRPr sz="1350" b="0">
                <a:solidFill>
                  <a:srgbClr val="087F95"/>
                </a:solidFill>
              </a:defRPr>
            </a:lvl7pPr>
            <a:lvl8pPr>
              <a:defRPr sz="1350" b="0">
                <a:solidFill>
                  <a:srgbClr val="087F95"/>
                </a:solidFill>
              </a:defRPr>
            </a:lvl8pPr>
            <a:lvl9pPr>
              <a:defRPr sz="1350" b="0">
                <a:solidFill>
                  <a:srgbClr val="087F95"/>
                </a:solidFill>
              </a:defRPr>
            </a:lvl9pPr>
          </a:lstStyle>
          <a:p>
            <a:pPr>
              <a:defRPr sz="1350" b="0">
                <a:solidFill>
                  <a:srgbClr val="087F95"/>
                </a:solidFill>
              </a:defRPr>
            </a:pPr>
            <a:r>
              <a:rPr sz="1350" b="0">
                <a:solidFill>
                  <a:srgbClr val="087F95"/>
                </a:solidFill>
                <a:hlinkClick r:id="rId3"/>
              </a:rPr>
              <a:t>Detailed evidence on the website</a:t>
            </a:r>
          </a:p>
        </p:txBody>
      </p:sp>
      <p:sp>
        <p:nvSpPr>
          <p:cNvPr id="5" name="JD-13: Physical evidence open">
            <a:extLst>
              <a:ext uri="{FF2B5EF4-FFF2-40B4-BE49-F238E27FC236}">
                <a16:creationId xmlns:a16="http://schemas.microsoft.com/office/drawing/2014/main" id="{986BCB42-4EBC-40FA-B3C4-6E8A68E19A11}"/>
              </a:ext>
            </a:extLst>
          </p:cNvPr>
          <p:cNvSpPr>
            <a:spLocks noGrp="1"/>
          </p:cNvSpPr>
          <p:nvPr/>
        </p:nvSpPr>
        <p:spPr>
          <a:xfrm>
            <a:off x="533400" y="1371600"/>
            <a:ext cx="10477500" cy="276225"/>
          </a:xfrm>
          <a:prstGeom prst="rect">
            <a:avLst/>
          </a:prstGeom>
          <a:noFill/>
          <a:ln w="0">
            <a:noFill/>
          </a:ln>
        </p:spPr>
        <p:txBody>
          <a:bodyPr lIns="0" tIns="0" rIns="0" bIns="0" anchor="t"/>
          <a:lstStyle>
            <a:defPPr>
              <a:defRPr sz="1650" b="1">
                <a:solidFill>
                  <a:srgbClr val="B34C4C"/>
                </a:solidFill>
              </a:defRPr>
            </a:defPPr>
            <a:lvl1pPr>
              <a:defRPr sz="1650" b="1">
                <a:solidFill>
                  <a:srgbClr val="B34C4C"/>
                </a:solidFill>
              </a:defRPr>
            </a:lvl1pPr>
            <a:lvl2pPr>
              <a:defRPr sz="1650" b="1">
                <a:solidFill>
                  <a:srgbClr val="B34C4C"/>
                </a:solidFill>
              </a:defRPr>
            </a:lvl2pPr>
            <a:lvl3pPr>
              <a:defRPr sz="1650" b="1">
                <a:solidFill>
                  <a:srgbClr val="B34C4C"/>
                </a:solidFill>
              </a:defRPr>
            </a:lvl3pPr>
            <a:lvl4pPr>
              <a:defRPr sz="1650" b="1">
                <a:solidFill>
                  <a:srgbClr val="B34C4C"/>
                </a:solidFill>
              </a:defRPr>
            </a:lvl4pPr>
            <a:lvl5pPr>
              <a:defRPr sz="1650" b="1">
                <a:solidFill>
                  <a:srgbClr val="B34C4C"/>
                </a:solidFill>
              </a:defRPr>
            </a:lvl5pPr>
            <a:lvl6pPr>
              <a:defRPr sz="1650" b="1">
                <a:solidFill>
                  <a:srgbClr val="B34C4C"/>
                </a:solidFill>
              </a:defRPr>
            </a:lvl6pPr>
            <a:lvl7pPr>
              <a:defRPr sz="1650" b="1">
                <a:solidFill>
                  <a:srgbClr val="B34C4C"/>
                </a:solidFill>
              </a:defRPr>
            </a:lvl7pPr>
            <a:lvl8pPr>
              <a:defRPr sz="1650" b="1">
                <a:solidFill>
                  <a:srgbClr val="B34C4C"/>
                </a:solidFill>
              </a:defRPr>
            </a:lvl8pPr>
            <a:lvl9pPr>
              <a:defRPr sz="1650" b="1">
                <a:solidFill>
                  <a:srgbClr val="B34C4C"/>
                </a:solidFill>
              </a:defRPr>
            </a:lvl9pPr>
          </a:lstStyle>
          <a:p>
            <a:pPr>
              <a:defRPr sz="1650" b="1">
                <a:solidFill>
                  <a:srgbClr val="B34C4C"/>
                </a:solidFill>
              </a:defRPr>
            </a:pPr>
            <a:r>
              <a:rPr sz="1650" b="1" dirty="0">
                <a:solidFill>
                  <a:srgbClr val="B34C4C"/>
                </a:solidFill>
              </a:rPr>
              <a:t>JD-13: Physical evidence open</a:t>
            </a:r>
          </a:p>
        </p:txBody>
      </p:sp>
      <p:pic>
        <p:nvPicPr>
          <p:cNvPr id="6" name="Picture 5">
            <a:extLst>
              <a:ext uri="{FF2B5EF4-FFF2-40B4-BE49-F238E27FC236}">
                <a16:creationId xmlns:a16="http://schemas.microsoft.com/office/drawing/2014/main" id="{6ED3EE3C-5717-4CF1-9513-BC1739DD0716}"/>
              </a:ext>
            </a:extLst>
          </p:cNvPr>
          <p:cNvPicPr>
            <a:picLocks noChangeAspect="1"/>
          </p:cNvPicPr>
          <p:nvPr/>
        </p:nvPicPr>
        <p:blipFill>
          <a:blip r:embed="rId4"/>
          <a:stretch/>
        </p:blipFill>
        <p:spPr>
          <a:xfrm>
            <a:off x="590550" y="1920250"/>
            <a:ext cx="3952875" cy="4103350"/>
          </a:xfrm>
          <a:prstGeom prst="rect">
            <a:avLst/>
          </a:prstGeom>
        </p:spPr>
      </p:pic>
      <p:graphicFrame>
        <p:nvGraphicFramePr>
          <p:cNvPr id="7" name="Table 6">
            <a:extLst>
              <a:ext uri="{FF2B5EF4-FFF2-40B4-BE49-F238E27FC236}">
                <a16:creationId xmlns:a16="http://schemas.microsoft.com/office/drawing/2014/main" id="{BB740894-5CDF-4184-9C90-67BA8AF96658}"/>
              </a:ext>
            </a:extLst>
          </p:cNvPr>
          <p:cNvGraphicFramePr/>
          <p:nvPr/>
        </p:nvGraphicFramePr>
        <p:xfrm>
          <a:off x="4962525" y="2038350"/>
          <a:ext cx="6715125" cy="3299460"/>
        </p:xfrm>
        <a:graphic>
          <a:graphicData uri="http://schemas.openxmlformats.org/drawingml/2006/table">
            <a:tbl>
              <a:tblPr firstRow="1"/>
              <a:tblGrid>
                <a:gridCol w="2381250">
                  <a:extLst>
                    <a:ext uri="{9D8B030D-6E8A-4147-A177-3AD203B41FA5}">
                      <a16:colId xmlns:a16="http://schemas.microsoft.com/office/drawing/2014/main" val="20000"/>
                    </a:ext>
                  </a:extLst>
                </a:gridCol>
                <a:gridCol w="4333875">
                  <a:extLst>
                    <a:ext uri="{9D8B030D-6E8A-4147-A177-3AD203B41FA5}">
                      <a16:colId xmlns:a16="http://schemas.microsoft.com/office/drawing/2014/main" val="20001"/>
                    </a:ext>
                  </a:extLst>
                </a:gridCol>
              </a:tblGrid>
              <a:tr h="649605">
                <a:tc>
                  <a:txBody>
                    <a:bodyPr/>
                    <a:lstStyle/>
                    <a:p>
                      <a:r>
                        <a:rPr sz="1800" b="1">
                          <a:solidFill>
                            <a:srgbClr val="FFFFFF"/>
                          </a:solidFill>
                        </a:rPr>
                        <a:t>Gate</a:t>
                      </a:r>
                    </a:p>
                  </a:txBody>
                  <a:tcPr marL="95250" marR="95250" marT="76200" marB="76200" anchor="ctr">
                    <a:lnL w="7620">
                      <a:solidFill>
                        <a:srgbClr val="E4EBEF"/>
                      </a:solidFill>
                      <a:prstDash val="solid"/>
                    </a:lnL>
                    <a:lnR w="7620">
                      <a:solidFill>
                        <a:srgbClr val="E4EBEF"/>
                      </a:solidFill>
                      <a:prstDash val="solid"/>
                    </a:lnR>
                    <a:lnT w="7620">
                      <a:solidFill>
                        <a:srgbClr val="E4EBEF"/>
                      </a:solidFill>
                      <a:prstDash val="solid"/>
                    </a:lnT>
                    <a:lnB w="7620">
                      <a:solidFill>
                        <a:srgbClr val="E4EBEF"/>
                      </a:solidFill>
                      <a:prstDash val="solid"/>
                    </a:lnB>
                    <a:solidFill>
                      <a:srgbClr val="142B3D"/>
                    </a:solidFill>
                  </a:tcPr>
                </a:tc>
                <a:tc>
                  <a:txBody>
                    <a:bodyPr/>
                    <a:lstStyle/>
                    <a:p>
                      <a:r>
                        <a:rPr sz="1800" b="1">
                          <a:solidFill>
                            <a:srgbClr val="FFFFFF"/>
                          </a:solidFill>
                        </a:rPr>
                        <a:t>Current evidence</a:t>
                      </a:r>
                    </a:p>
                  </a:txBody>
                  <a:tcPr marL="95250" marR="95250" marT="76200" marB="76200" anchor="ctr">
                    <a:lnL w="7620" cap="flat" cmpd="sng" algn="ctr">
                      <a:solidFill>
                        <a:srgbClr val="E4EBEF"/>
                      </a:solidFill>
                      <a:prstDash val="solid"/>
                      <a:round/>
                      <a:headEnd type="none" w="med" len="med"/>
                      <a:tailEnd type="none" w="med" len="med"/>
                    </a:lnL>
                    <a:lnR w="7620">
                      <a:solidFill>
                        <a:srgbClr val="E4EBEF"/>
                      </a:solidFill>
                      <a:prstDash val="solid"/>
                    </a:lnR>
                    <a:lnT w="7620">
                      <a:solidFill>
                        <a:srgbClr val="E4EBEF"/>
                      </a:solidFill>
                      <a:prstDash val="solid"/>
                    </a:lnT>
                    <a:lnB w="7620">
                      <a:solidFill>
                        <a:srgbClr val="E4EBEF"/>
                      </a:solidFill>
                      <a:prstDash val="solid"/>
                    </a:lnB>
                    <a:solidFill>
                      <a:srgbClr val="142B3D"/>
                    </a:solidFill>
                  </a:tcPr>
                </a:tc>
                <a:extLst>
                  <a:ext uri="{0D108BD9-81ED-4DB2-BD59-A6C34878D82A}">
                    <a16:rowId xmlns:a16="http://schemas.microsoft.com/office/drawing/2014/main" val="10000"/>
                  </a:ext>
                </a:extLst>
              </a:tr>
              <a:tr h="649605">
                <a:tc>
                  <a:txBody>
                    <a:bodyPr/>
                    <a:lstStyle/>
                    <a:p>
                      <a:r>
                        <a:rPr sz="1800">
                          <a:solidFill>
                            <a:srgbClr val="142B3D"/>
                          </a:solidFill>
                        </a:rPr>
                        <a:t>Design and simulation</a:t>
                      </a:r>
                    </a:p>
                  </a:txBody>
                  <a:tcPr marL="95250" marR="95250" marT="76200" marB="76200" anchor="ctr">
                    <a:lnL w="7620">
                      <a:solidFill>
                        <a:srgbClr val="E4EBEF"/>
                      </a:solidFill>
                      <a:prstDash val="solid"/>
                    </a:lnL>
                    <a:lnR w="7620">
                      <a:solidFill>
                        <a:srgbClr val="E4EBEF"/>
                      </a:solidFill>
                      <a:prstDash val="solid"/>
                    </a:lnR>
                    <a:lnT w="7620" cap="flat" cmpd="sng" algn="ctr">
                      <a:solidFill>
                        <a:srgbClr val="E4EBEF"/>
                      </a:solidFill>
                      <a:prstDash val="solid"/>
                      <a:round/>
                      <a:headEnd type="none" w="med" len="med"/>
                      <a:tailEnd type="none" w="med" len="med"/>
                    </a:lnT>
                    <a:lnB w="7620">
                      <a:solidFill>
                        <a:srgbClr val="E4EBEF"/>
                      </a:solidFill>
                      <a:prstDash val="solid"/>
                    </a:lnB>
                    <a:solidFill>
                      <a:srgbClr val="FFFFFF"/>
                    </a:solidFill>
                  </a:tcPr>
                </a:tc>
                <a:tc>
                  <a:txBody>
                    <a:bodyPr/>
                    <a:lstStyle/>
                    <a:p>
                      <a:r>
                        <a:rPr sz="1800">
                          <a:solidFill>
                            <a:srgbClr val="142B3D"/>
                          </a:solidFill>
                        </a:rPr>
                        <a:t>Models, CAD, trades and faults</a:t>
                      </a:r>
                    </a:p>
                  </a:txBody>
                  <a:tcPr marL="95250" marR="95250" marT="76200" marB="76200" anchor="ctr">
                    <a:lnL w="7620" cap="flat" cmpd="sng" algn="ctr">
                      <a:solidFill>
                        <a:srgbClr val="E4EBEF"/>
                      </a:solidFill>
                      <a:prstDash val="solid"/>
                      <a:round/>
                      <a:headEnd type="none" w="med" len="med"/>
                      <a:tailEnd type="none" w="med" len="med"/>
                    </a:lnL>
                    <a:lnR w="7620">
                      <a:solidFill>
                        <a:srgbClr val="E4EBEF"/>
                      </a:solidFill>
                      <a:prstDash val="solid"/>
                    </a:lnR>
                    <a:lnT w="7620" cap="flat" cmpd="sng" algn="ctr">
                      <a:solidFill>
                        <a:srgbClr val="E4EBEF"/>
                      </a:solidFill>
                      <a:prstDash val="solid"/>
                      <a:round/>
                      <a:headEnd type="none" w="med" len="med"/>
                      <a:tailEnd type="none" w="med" len="med"/>
                    </a:lnT>
                    <a:lnB w="7620">
                      <a:solidFill>
                        <a:srgbClr val="E4EBEF"/>
                      </a:solidFill>
                      <a:prstDash val="solid"/>
                    </a:lnB>
                    <a:solidFill>
                      <a:srgbClr val="FFFFFF"/>
                    </a:solidFill>
                  </a:tcPr>
                </a:tc>
                <a:extLst>
                  <a:ext uri="{0D108BD9-81ED-4DB2-BD59-A6C34878D82A}">
                    <a16:rowId xmlns:a16="http://schemas.microsoft.com/office/drawing/2014/main" val="10001"/>
                  </a:ext>
                </a:extLst>
              </a:tr>
              <a:tr h="649605">
                <a:tc>
                  <a:txBody>
                    <a:bodyPr/>
                    <a:lstStyle/>
                    <a:p>
                      <a:r>
                        <a:rPr sz="1800">
                          <a:solidFill>
                            <a:srgbClr val="142B3D"/>
                          </a:solidFill>
                        </a:rPr>
                        <a:t>Test preparation</a:t>
                      </a:r>
                    </a:p>
                  </a:txBody>
                  <a:tcPr marL="95250" marR="95250" marT="76200" marB="76200" anchor="ctr">
                    <a:lnL w="7620">
                      <a:solidFill>
                        <a:srgbClr val="E4EBEF"/>
                      </a:solidFill>
                      <a:prstDash val="solid"/>
                    </a:lnL>
                    <a:lnR w="7620">
                      <a:solidFill>
                        <a:srgbClr val="E4EBEF"/>
                      </a:solidFill>
                      <a:prstDash val="solid"/>
                    </a:lnR>
                    <a:lnT w="7620" cap="flat" cmpd="sng" algn="ctr">
                      <a:solidFill>
                        <a:srgbClr val="E4EBEF"/>
                      </a:solidFill>
                      <a:prstDash val="solid"/>
                      <a:round/>
                      <a:headEnd type="none" w="med" len="med"/>
                      <a:tailEnd type="none" w="med" len="med"/>
                    </a:lnT>
                    <a:lnB w="7620">
                      <a:solidFill>
                        <a:srgbClr val="E4EBEF"/>
                      </a:solidFill>
                      <a:prstDash val="solid"/>
                    </a:lnB>
                    <a:solidFill>
                      <a:srgbClr val="FFFFFF"/>
                    </a:solidFill>
                  </a:tcPr>
                </a:tc>
                <a:tc>
                  <a:txBody>
                    <a:bodyPr/>
                    <a:lstStyle/>
                    <a:p>
                      <a:r>
                        <a:rPr sz="1800">
                          <a:solidFill>
                            <a:srgbClr val="142B3D"/>
                          </a:solidFill>
                        </a:rPr>
                        <a:t>Sensor map and chamber matrix</a:t>
                      </a:r>
                    </a:p>
                  </a:txBody>
                  <a:tcPr marL="95250" marR="95250" marT="76200" marB="76200" anchor="ctr">
                    <a:lnL w="7620" cap="flat" cmpd="sng" algn="ctr">
                      <a:solidFill>
                        <a:srgbClr val="E4EBEF"/>
                      </a:solidFill>
                      <a:prstDash val="solid"/>
                      <a:round/>
                      <a:headEnd type="none" w="med" len="med"/>
                      <a:tailEnd type="none" w="med" len="med"/>
                    </a:lnL>
                    <a:lnR w="7620">
                      <a:solidFill>
                        <a:srgbClr val="E4EBEF"/>
                      </a:solidFill>
                      <a:prstDash val="solid"/>
                    </a:lnR>
                    <a:lnT w="7620" cap="flat" cmpd="sng" algn="ctr">
                      <a:solidFill>
                        <a:srgbClr val="E4EBEF"/>
                      </a:solidFill>
                      <a:prstDash val="solid"/>
                      <a:round/>
                      <a:headEnd type="none" w="med" len="med"/>
                      <a:tailEnd type="none" w="med" len="med"/>
                    </a:lnT>
                    <a:lnB w="7620">
                      <a:solidFill>
                        <a:srgbClr val="E4EBEF"/>
                      </a:solidFill>
                      <a:prstDash val="solid"/>
                    </a:lnB>
                    <a:solidFill>
                      <a:srgbClr val="FFFFFF"/>
                    </a:solidFill>
                  </a:tcPr>
                </a:tc>
                <a:extLst>
                  <a:ext uri="{0D108BD9-81ED-4DB2-BD59-A6C34878D82A}">
                    <a16:rowId xmlns:a16="http://schemas.microsoft.com/office/drawing/2014/main" val="10002"/>
                  </a:ext>
                </a:extLst>
              </a:tr>
              <a:tr h="649605">
                <a:tc>
                  <a:txBody>
                    <a:bodyPr/>
                    <a:lstStyle/>
                    <a:p>
                      <a:r>
                        <a:rPr sz="1800">
                          <a:solidFill>
                            <a:srgbClr val="142B3D"/>
                          </a:solidFill>
                        </a:rPr>
                        <a:t>Hardware correlation</a:t>
                      </a:r>
                    </a:p>
                  </a:txBody>
                  <a:tcPr marL="95250" marR="95250" marT="76200" marB="76200" anchor="ctr">
                    <a:lnL w="7620">
                      <a:solidFill>
                        <a:srgbClr val="E4EBEF"/>
                      </a:solidFill>
                      <a:prstDash val="solid"/>
                    </a:lnL>
                    <a:lnR w="7620">
                      <a:solidFill>
                        <a:srgbClr val="E4EBEF"/>
                      </a:solidFill>
                      <a:prstDash val="solid"/>
                    </a:lnR>
                    <a:lnT w="7620" cap="flat" cmpd="sng" algn="ctr">
                      <a:solidFill>
                        <a:srgbClr val="E4EBEF"/>
                      </a:solidFill>
                      <a:prstDash val="solid"/>
                      <a:round/>
                      <a:headEnd type="none" w="med" len="med"/>
                      <a:tailEnd type="none" w="med" len="med"/>
                    </a:lnT>
                    <a:lnB w="7620">
                      <a:solidFill>
                        <a:srgbClr val="E4EBEF"/>
                      </a:solidFill>
                      <a:prstDash val="solid"/>
                    </a:lnB>
                    <a:solidFill>
                      <a:srgbClr val="FFFFFF"/>
                    </a:solidFill>
                  </a:tcPr>
                </a:tc>
                <a:tc>
                  <a:txBody>
                    <a:bodyPr/>
                    <a:lstStyle/>
                    <a:p>
                      <a:r>
                        <a:rPr sz="1800">
                          <a:solidFill>
                            <a:srgbClr val="142B3D"/>
                          </a:solidFill>
                        </a:rPr>
                        <a:t>Physical measurements required</a:t>
                      </a:r>
                    </a:p>
                  </a:txBody>
                  <a:tcPr marL="95250" marR="95250" marT="76200" marB="76200" anchor="ctr">
                    <a:lnL w="7620" cap="flat" cmpd="sng" algn="ctr">
                      <a:solidFill>
                        <a:srgbClr val="E4EBEF"/>
                      </a:solidFill>
                      <a:prstDash val="solid"/>
                      <a:round/>
                      <a:headEnd type="none" w="med" len="med"/>
                      <a:tailEnd type="none" w="med" len="med"/>
                    </a:lnL>
                    <a:lnR w="7620">
                      <a:solidFill>
                        <a:srgbClr val="E4EBEF"/>
                      </a:solidFill>
                      <a:prstDash val="solid"/>
                    </a:lnR>
                    <a:lnT w="7620" cap="flat" cmpd="sng" algn="ctr">
                      <a:solidFill>
                        <a:srgbClr val="E4EBEF"/>
                      </a:solidFill>
                      <a:prstDash val="solid"/>
                      <a:round/>
                      <a:headEnd type="none" w="med" len="med"/>
                      <a:tailEnd type="none" w="med" len="med"/>
                    </a:lnT>
                    <a:lnB w="7620">
                      <a:solidFill>
                        <a:srgbClr val="E4EBEF"/>
                      </a:solidFill>
                      <a:prstDash val="solid"/>
                    </a:lnB>
                    <a:solidFill>
                      <a:srgbClr val="FFFFFF"/>
                    </a:solidFill>
                  </a:tcPr>
                </a:tc>
                <a:extLst>
                  <a:ext uri="{0D108BD9-81ED-4DB2-BD59-A6C34878D82A}">
                    <a16:rowId xmlns:a16="http://schemas.microsoft.com/office/drawing/2014/main" val="10003"/>
                  </a:ext>
                </a:extLst>
              </a:tr>
              <a:tr h="649605">
                <a:tc>
                  <a:txBody>
                    <a:bodyPr/>
                    <a:lstStyle/>
                    <a:p>
                      <a:r>
                        <a:rPr sz="1800">
                          <a:solidFill>
                            <a:srgbClr val="142B3D"/>
                          </a:solidFill>
                        </a:rPr>
                        <a:t>Flight readiness</a:t>
                      </a:r>
                    </a:p>
                  </a:txBody>
                  <a:tcPr marL="95250" marR="95250" marT="76200" marB="76200" anchor="ctr">
                    <a:lnL w="7620">
                      <a:solidFill>
                        <a:srgbClr val="E4EBEF"/>
                      </a:solidFill>
                      <a:prstDash val="solid"/>
                    </a:lnL>
                    <a:lnR w="7620">
                      <a:solidFill>
                        <a:srgbClr val="E4EBEF"/>
                      </a:solidFill>
                      <a:prstDash val="solid"/>
                    </a:lnR>
                    <a:lnT w="7620" cap="flat" cmpd="sng" algn="ctr">
                      <a:solidFill>
                        <a:srgbClr val="E4EBEF"/>
                      </a:solidFill>
                      <a:prstDash val="solid"/>
                      <a:round/>
                      <a:headEnd type="none" w="med" len="med"/>
                      <a:tailEnd type="none" w="med" len="med"/>
                    </a:lnT>
                    <a:lnB w="7620">
                      <a:solidFill>
                        <a:srgbClr val="E4EBEF"/>
                      </a:solidFill>
                      <a:prstDash val="solid"/>
                    </a:lnB>
                    <a:solidFill>
                      <a:srgbClr val="FFFFFF"/>
                    </a:solidFill>
                  </a:tcPr>
                </a:tc>
                <a:tc>
                  <a:txBody>
                    <a:bodyPr/>
                    <a:lstStyle/>
                    <a:p>
                      <a:r>
                        <a:rPr sz="1800">
                          <a:solidFill>
                            <a:srgbClr val="142B3D"/>
                          </a:solidFill>
                        </a:rPr>
                        <a:t>Integration and qualification open</a:t>
                      </a:r>
                    </a:p>
                  </a:txBody>
                  <a:tcPr marL="95250" marR="95250" marT="76200" marB="76200" anchor="ctr">
                    <a:lnL w="7620" cap="flat" cmpd="sng" algn="ctr">
                      <a:solidFill>
                        <a:srgbClr val="E4EBEF"/>
                      </a:solidFill>
                      <a:prstDash val="solid"/>
                      <a:round/>
                      <a:headEnd type="none" w="med" len="med"/>
                      <a:tailEnd type="none" w="med" len="med"/>
                    </a:lnL>
                    <a:lnR w="7620">
                      <a:solidFill>
                        <a:srgbClr val="E4EBEF"/>
                      </a:solidFill>
                      <a:prstDash val="solid"/>
                    </a:lnR>
                    <a:lnT w="7620" cap="flat" cmpd="sng" algn="ctr">
                      <a:solidFill>
                        <a:srgbClr val="E4EBEF"/>
                      </a:solidFill>
                      <a:prstDash val="solid"/>
                      <a:round/>
                      <a:headEnd type="none" w="med" len="med"/>
                      <a:tailEnd type="none" w="med" len="med"/>
                    </a:lnT>
                    <a:lnB w="7620">
                      <a:solidFill>
                        <a:srgbClr val="E4EBEF"/>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8" name="0 physical tests in this portfolio study">
            <a:extLst>
              <a:ext uri="{FF2B5EF4-FFF2-40B4-BE49-F238E27FC236}">
                <a16:creationId xmlns:a16="http://schemas.microsoft.com/office/drawing/2014/main" id="{AEF9B712-7350-411F-9E75-E42A8C021ED8}"/>
              </a:ext>
            </a:extLst>
          </p:cNvPr>
          <p:cNvSpPr>
            <a:spLocks noGrp="1"/>
          </p:cNvSpPr>
          <p:nvPr/>
        </p:nvSpPr>
        <p:spPr>
          <a:xfrm>
            <a:off x="5000625" y="5581650"/>
            <a:ext cx="6477000" cy="542925"/>
          </a:xfrm>
          <a:prstGeom prst="rect">
            <a:avLst/>
          </a:prstGeom>
          <a:noFill/>
          <a:ln w="0">
            <a:noFill/>
          </a:ln>
        </p:spPr>
        <p:txBody>
          <a:bodyPr lIns="0" tIns="0" rIns="0" bIns="0" anchor="t"/>
          <a:lstStyle>
            <a:defPPr>
              <a:defRPr sz="2700" b="1">
                <a:solidFill>
                  <a:srgbClr val="B34C4C"/>
                </a:solidFill>
              </a:defRPr>
            </a:defPPr>
            <a:lvl1pPr>
              <a:defRPr sz="2700" b="1">
                <a:solidFill>
                  <a:srgbClr val="B34C4C"/>
                </a:solidFill>
              </a:defRPr>
            </a:lvl1pPr>
            <a:lvl2pPr>
              <a:defRPr sz="2700" b="1">
                <a:solidFill>
                  <a:srgbClr val="B34C4C"/>
                </a:solidFill>
              </a:defRPr>
            </a:lvl2pPr>
            <a:lvl3pPr>
              <a:defRPr sz="2700" b="1">
                <a:solidFill>
                  <a:srgbClr val="B34C4C"/>
                </a:solidFill>
              </a:defRPr>
            </a:lvl3pPr>
            <a:lvl4pPr>
              <a:defRPr sz="2700" b="1">
                <a:solidFill>
                  <a:srgbClr val="B34C4C"/>
                </a:solidFill>
              </a:defRPr>
            </a:lvl4pPr>
            <a:lvl5pPr>
              <a:defRPr sz="2700" b="1">
                <a:solidFill>
                  <a:srgbClr val="B34C4C"/>
                </a:solidFill>
              </a:defRPr>
            </a:lvl5pPr>
            <a:lvl6pPr>
              <a:defRPr sz="2700" b="1">
                <a:solidFill>
                  <a:srgbClr val="B34C4C"/>
                </a:solidFill>
              </a:defRPr>
            </a:lvl6pPr>
            <a:lvl7pPr>
              <a:defRPr sz="2700" b="1">
                <a:solidFill>
                  <a:srgbClr val="B34C4C"/>
                </a:solidFill>
              </a:defRPr>
            </a:lvl7pPr>
            <a:lvl8pPr>
              <a:defRPr sz="2700" b="1">
                <a:solidFill>
                  <a:srgbClr val="B34C4C"/>
                </a:solidFill>
              </a:defRPr>
            </a:lvl8pPr>
            <a:lvl9pPr>
              <a:defRPr sz="2700" b="1">
                <a:solidFill>
                  <a:srgbClr val="B34C4C"/>
                </a:solidFill>
              </a:defRPr>
            </a:lvl9pPr>
          </a:lstStyle>
          <a:p>
            <a:pPr>
              <a:defRPr sz="2700" b="1">
                <a:solidFill>
                  <a:srgbClr val="B34C4C"/>
                </a:solidFill>
              </a:defRPr>
            </a:pPr>
            <a:r>
              <a:rPr sz="2700" b="1">
                <a:solidFill>
                  <a:srgbClr val="B34C4C"/>
                </a:solidFill>
              </a:rPr>
              <a:t>0 physical tests in this portfolio study</a:t>
            </a:r>
          </a:p>
        </p:txBody>
      </p:sp>
    </p:spTree>
    <p:extLst>
      <p:ext uri="{BB962C8B-B14F-4D97-AF65-F5344CB8AC3E}">
        <p14:creationId xmlns:p14="http://schemas.microsoft.com/office/powerpoint/2010/main" val="21104327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Job requirements linked to the evidence">
            <a:extLst>
              <a:ext uri="{FF2B5EF4-FFF2-40B4-BE49-F238E27FC236}">
                <a16:creationId xmlns:a16="http://schemas.microsoft.com/office/drawing/2014/main" id="{D84BA4DF-1DFE-4DCD-AC5E-6A263256533C}"/>
              </a:ext>
            </a:extLst>
          </p:cNvPr>
          <p:cNvSpPr>
            <a:spLocks noGrp="1"/>
          </p:cNvSpPr>
          <p:nvPr/>
        </p:nvSpPr>
        <p:spPr>
          <a:xfrm>
            <a:off x="533400" y="361950"/>
            <a:ext cx="11125200" cy="1028700"/>
          </a:xfrm>
          <a:prstGeom prst="rect">
            <a:avLst/>
          </a:prstGeom>
          <a:noFill/>
          <a:ln w="0">
            <a:noFill/>
          </a:ln>
        </p:spPr>
        <p:txBody>
          <a:bodyPr lIns="0" tIns="0" rIns="0" bIns="0" anchor="t"/>
          <a:lstStyle>
            <a:defPPr>
              <a:defRPr sz="3150" b="1">
                <a:solidFill>
                  <a:srgbClr val="142B3D"/>
                </a:solidFill>
              </a:defRPr>
            </a:defPPr>
            <a:lvl1pPr>
              <a:defRPr sz="3150" b="1">
                <a:solidFill>
                  <a:srgbClr val="142B3D"/>
                </a:solidFill>
              </a:defRPr>
            </a:lvl1pPr>
            <a:lvl2pPr>
              <a:defRPr sz="3150" b="1">
                <a:solidFill>
                  <a:srgbClr val="142B3D"/>
                </a:solidFill>
              </a:defRPr>
            </a:lvl2pPr>
            <a:lvl3pPr>
              <a:defRPr sz="3150" b="1">
                <a:solidFill>
                  <a:srgbClr val="142B3D"/>
                </a:solidFill>
              </a:defRPr>
            </a:lvl3pPr>
            <a:lvl4pPr>
              <a:defRPr sz="3150" b="1">
                <a:solidFill>
                  <a:srgbClr val="142B3D"/>
                </a:solidFill>
              </a:defRPr>
            </a:lvl4pPr>
            <a:lvl5pPr>
              <a:defRPr sz="3150" b="1">
                <a:solidFill>
                  <a:srgbClr val="142B3D"/>
                </a:solidFill>
              </a:defRPr>
            </a:lvl5pPr>
            <a:lvl6pPr>
              <a:defRPr sz="3150" b="1">
                <a:solidFill>
                  <a:srgbClr val="142B3D"/>
                </a:solidFill>
              </a:defRPr>
            </a:lvl6pPr>
            <a:lvl7pPr>
              <a:defRPr sz="3150" b="1">
                <a:solidFill>
                  <a:srgbClr val="142B3D"/>
                </a:solidFill>
              </a:defRPr>
            </a:lvl7pPr>
            <a:lvl8pPr>
              <a:defRPr sz="3150" b="1">
                <a:solidFill>
                  <a:srgbClr val="142B3D"/>
                </a:solidFill>
              </a:defRPr>
            </a:lvl8pPr>
            <a:lvl9pPr>
              <a:defRPr sz="3150" b="1">
                <a:solidFill>
                  <a:srgbClr val="142B3D"/>
                </a:solidFill>
              </a:defRPr>
            </a:lvl9pPr>
          </a:lstStyle>
          <a:p>
            <a:pPr>
              <a:defRPr sz="3150" b="1">
                <a:solidFill>
                  <a:srgbClr val="142B3D"/>
                </a:solidFill>
              </a:defRPr>
            </a:pPr>
            <a:r>
              <a:rPr sz="3150" b="1">
                <a:solidFill>
                  <a:srgbClr val="142B3D"/>
                </a:solidFill>
              </a:rPr>
              <a:t>Job requirements linked to the evidence</a:t>
            </a:r>
          </a:p>
        </p:txBody>
      </p:sp>
      <p:sp>
        <p:nvSpPr>
          <p:cNvPr id="2" name="Khani Solutions">
            <a:extLst>
              <a:ext uri="{FF2B5EF4-FFF2-40B4-BE49-F238E27FC236}">
                <a16:creationId xmlns:a16="http://schemas.microsoft.com/office/drawing/2014/main" id="{42A566AB-2344-4903-A8CB-748EA457732C}"/>
              </a:ext>
            </a:extLst>
          </p:cNvPr>
          <p:cNvSpPr>
            <a:spLocks noGrp="1"/>
          </p:cNvSpPr>
          <p:nvPr/>
        </p:nvSpPr>
        <p:spPr>
          <a:xfrm>
            <a:off x="533400" y="6448425"/>
            <a:ext cx="2190750" cy="238125"/>
          </a:xfrm>
          <a:prstGeom prst="rect">
            <a:avLst/>
          </a:prstGeom>
          <a:noFill/>
          <a:ln w="0">
            <a:noFill/>
          </a:ln>
        </p:spPr>
        <p:txBody>
          <a:bodyPr lIns="0" tIns="0" rIns="0" bIns="0" anchor="t"/>
          <a:lstStyle>
            <a:defPPr>
              <a:defRPr sz="1350" b="0">
                <a:solidFill>
                  <a:srgbClr val="587081"/>
                </a:solidFill>
              </a:defRPr>
            </a:defPPr>
            <a:lvl1pPr>
              <a:defRPr sz="1350" b="0">
                <a:solidFill>
                  <a:srgbClr val="587081"/>
                </a:solidFill>
              </a:defRPr>
            </a:lvl1pPr>
            <a:lvl2pPr>
              <a:defRPr sz="1350" b="0">
                <a:solidFill>
                  <a:srgbClr val="587081"/>
                </a:solidFill>
              </a:defRPr>
            </a:lvl2pPr>
            <a:lvl3pPr>
              <a:defRPr sz="1350" b="0">
                <a:solidFill>
                  <a:srgbClr val="587081"/>
                </a:solidFill>
              </a:defRPr>
            </a:lvl3pPr>
            <a:lvl4pPr>
              <a:defRPr sz="1350" b="0">
                <a:solidFill>
                  <a:srgbClr val="587081"/>
                </a:solidFill>
              </a:defRPr>
            </a:lvl4pPr>
            <a:lvl5pPr>
              <a:defRPr sz="1350" b="0">
                <a:solidFill>
                  <a:srgbClr val="587081"/>
                </a:solidFill>
              </a:defRPr>
            </a:lvl5pPr>
            <a:lvl6pPr>
              <a:defRPr sz="1350" b="0">
                <a:solidFill>
                  <a:srgbClr val="587081"/>
                </a:solidFill>
              </a:defRPr>
            </a:lvl6pPr>
            <a:lvl7pPr>
              <a:defRPr sz="1350" b="0">
                <a:solidFill>
                  <a:srgbClr val="587081"/>
                </a:solidFill>
              </a:defRPr>
            </a:lvl7pPr>
            <a:lvl8pPr>
              <a:defRPr sz="1350" b="0">
                <a:solidFill>
                  <a:srgbClr val="587081"/>
                </a:solidFill>
              </a:defRPr>
            </a:lvl8pPr>
            <a:lvl9pPr>
              <a:defRPr sz="1350" b="0">
                <a:solidFill>
                  <a:srgbClr val="587081"/>
                </a:solidFill>
              </a:defRPr>
            </a:lvl9pPr>
          </a:lstStyle>
          <a:p>
            <a:pPr>
              <a:defRPr sz="1350" b="0">
                <a:solidFill>
                  <a:srgbClr val="587081"/>
                </a:solidFill>
              </a:defRPr>
            </a:pPr>
            <a:r>
              <a:rPr sz="1350" b="0">
                <a:solidFill>
                  <a:srgbClr val="587081"/>
                </a:solidFill>
              </a:rPr>
              <a:t>Khani Solutions</a:t>
            </a:r>
          </a:p>
        </p:txBody>
      </p:sp>
      <p:sp>
        <p:nvSpPr>
          <p:cNvPr id="3" name="20 / 20">
            <a:extLst>
              <a:ext uri="{FF2B5EF4-FFF2-40B4-BE49-F238E27FC236}">
                <a16:creationId xmlns:a16="http://schemas.microsoft.com/office/drawing/2014/main" id="{0DBA83B3-25A4-4C6F-A2C8-0B2DC2AD920D}"/>
              </a:ext>
            </a:extLst>
          </p:cNvPr>
          <p:cNvSpPr>
            <a:spLocks noGrp="1"/>
          </p:cNvSpPr>
          <p:nvPr/>
        </p:nvSpPr>
        <p:spPr>
          <a:xfrm>
            <a:off x="10896600" y="6448425"/>
            <a:ext cx="857250" cy="238125"/>
          </a:xfrm>
          <a:prstGeom prst="rect">
            <a:avLst/>
          </a:prstGeom>
          <a:noFill/>
          <a:ln w="0">
            <a:noFill/>
          </a:ln>
        </p:spPr>
        <p:txBody>
          <a:bodyPr lIns="0" tIns="0" rIns="0" bIns="0" anchor="t"/>
          <a:lstStyle>
            <a:defPPr>
              <a:defRPr sz="1350" b="0">
                <a:solidFill>
                  <a:srgbClr val="587081"/>
                </a:solidFill>
              </a:defRPr>
            </a:defPPr>
            <a:lvl1pPr>
              <a:defRPr sz="1350" b="0">
                <a:solidFill>
                  <a:srgbClr val="587081"/>
                </a:solidFill>
              </a:defRPr>
            </a:lvl1pPr>
            <a:lvl2pPr>
              <a:defRPr sz="1350" b="0">
                <a:solidFill>
                  <a:srgbClr val="587081"/>
                </a:solidFill>
              </a:defRPr>
            </a:lvl2pPr>
            <a:lvl3pPr>
              <a:defRPr sz="1350" b="0">
                <a:solidFill>
                  <a:srgbClr val="587081"/>
                </a:solidFill>
              </a:defRPr>
            </a:lvl3pPr>
            <a:lvl4pPr>
              <a:defRPr sz="1350" b="0">
                <a:solidFill>
                  <a:srgbClr val="587081"/>
                </a:solidFill>
              </a:defRPr>
            </a:lvl4pPr>
            <a:lvl5pPr>
              <a:defRPr sz="1350" b="0">
                <a:solidFill>
                  <a:srgbClr val="587081"/>
                </a:solidFill>
              </a:defRPr>
            </a:lvl5pPr>
            <a:lvl6pPr>
              <a:defRPr sz="1350" b="0">
                <a:solidFill>
                  <a:srgbClr val="587081"/>
                </a:solidFill>
              </a:defRPr>
            </a:lvl6pPr>
            <a:lvl7pPr>
              <a:defRPr sz="1350" b="0">
                <a:solidFill>
                  <a:srgbClr val="587081"/>
                </a:solidFill>
              </a:defRPr>
            </a:lvl7pPr>
            <a:lvl8pPr>
              <a:defRPr sz="1350" b="0">
                <a:solidFill>
                  <a:srgbClr val="587081"/>
                </a:solidFill>
              </a:defRPr>
            </a:lvl8pPr>
            <a:lvl9pPr>
              <a:defRPr sz="1350" b="0">
                <a:solidFill>
                  <a:srgbClr val="587081"/>
                </a:solidFill>
              </a:defRPr>
            </a:lvl9pPr>
          </a:lstStyle>
          <a:p>
            <a:pPr>
              <a:defRPr sz="1350" b="0">
                <a:solidFill>
                  <a:srgbClr val="587081"/>
                </a:solidFill>
              </a:defRPr>
            </a:pPr>
            <a:r>
              <a:rPr sz="1350" b="0">
                <a:solidFill>
                  <a:srgbClr val="587081"/>
                </a:solidFill>
              </a:rPr>
              <a:t>20 / 20</a:t>
            </a:r>
          </a:p>
        </p:txBody>
      </p:sp>
      <p:sp>
        <p:nvSpPr>
          <p:cNvPr id="4" name="Detailed evidence on the website">
            <a:extLst>
              <a:ext uri="{FF2B5EF4-FFF2-40B4-BE49-F238E27FC236}">
                <a16:creationId xmlns:a16="http://schemas.microsoft.com/office/drawing/2014/main" id="{BB410EBA-805F-4D8C-AD7B-311215E333C1}"/>
              </a:ext>
            </a:extLst>
          </p:cNvPr>
          <p:cNvSpPr>
            <a:spLocks noGrp="1"/>
          </p:cNvSpPr>
          <p:nvPr/>
        </p:nvSpPr>
        <p:spPr>
          <a:xfrm>
            <a:off x="7000875" y="6448425"/>
            <a:ext cx="3476625" cy="238125"/>
          </a:xfrm>
          <a:prstGeom prst="rect">
            <a:avLst/>
          </a:prstGeom>
          <a:noFill/>
          <a:ln w="0">
            <a:noFill/>
          </a:ln>
        </p:spPr>
        <p:txBody>
          <a:bodyPr lIns="0" tIns="0" rIns="0" bIns="0" anchor="t"/>
          <a:lstStyle>
            <a:defPPr>
              <a:defRPr sz="1350" b="0">
                <a:solidFill>
                  <a:srgbClr val="087F95"/>
                </a:solidFill>
              </a:defRPr>
            </a:defPPr>
            <a:lvl1pPr>
              <a:defRPr sz="1350" b="0">
                <a:solidFill>
                  <a:srgbClr val="087F95"/>
                </a:solidFill>
              </a:defRPr>
            </a:lvl1pPr>
            <a:lvl2pPr>
              <a:defRPr sz="1350" b="0">
                <a:solidFill>
                  <a:srgbClr val="087F95"/>
                </a:solidFill>
              </a:defRPr>
            </a:lvl2pPr>
            <a:lvl3pPr>
              <a:defRPr sz="1350" b="0">
                <a:solidFill>
                  <a:srgbClr val="087F95"/>
                </a:solidFill>
              </a:defRPr>
            </a:lvl3pPr>
            <a:lvl4pPr>
              <a:defRPr sz="1350" b="0">
                <a:solidFill>
                  <a:srgbClr val="087F95"/>
                </a:solidFill>
              </a:defRPr>
            </a:lvl4pPr>
            <a:lvl5pPr>
              <a:defRPr sz="1350" b="0">
                <a:solidFill>
                  <a:srgbClr val="087F95"/>
                </a:solidFill>
              </a:defRPr>
            </a:lvl5pPr>
            <a:lvl6pPr>
              <a:defRPr sz="1350" b="0">
                <a:solidFill>
                  <a:srgbClr val="087F95"/>
                </a:solidFill>
              </a:defRPr>
            </a:lvl6pPr>
            <a:lvl7pPr>
              <a:defRPr sz="1350" b="0">
                <a:solidFill>
                  <a:srgbClr val="087F95"/>
                </a:solidFill>
              </a:defRPr>
            </a:lvl7pPr>
            <a:lvl8pPr>
              <a:defRPr sz="1350" b="0">
                <a:solidFill>
                  <a:srgbClr val="087F95"/>
                </a:solidFill>
              </a:defRPr>
            </a:lvl8pPr>
            <a:lvl9pPr>
              <a:defRPr sz="1350" b="0">
                <a:solidFill>
                  <a:srgbClr val="087F95"/>
                </a:solidFill>
              </a:defRPr>
            </a:lvl9pPr>
          </a:lstStyle>
          <a:p>
            <a:pPr>
              <a:defRPr sz="1350" b="0">
                <a:solidFill>
                  <a:srgbClr val="087F95"/>
                </a:solidFill>
              </a:defRPr>
            </a:pPr>
            <a:r>
              <a:rPr sz="1350" b="0">
                <a:solidFill>
                  <a:srgbClr val="087F95"/>
                </a:solidFill>
                <a:hlinkClick r:id="rId3"/>
              </a:rPr>
              <a:t>Detailed evidence on the website</a:t>
            </a:r>
          </a:p>
        </p:txBody>
      </p:sp>
      <p:graphicFrame>
        <p:nvGraphicFramePr>
          <p:cNvPr id="5" name="Table 4">
            <a:extLst>
              <a:ext uri="{FF2B5EF4-FFF2-40B4-BE49-F238E27FC236}">
                <a16:creationId xmlns:a16="http://schemas.microsoft.com/office/drawing/2014/main" id="{A4DBCF82-CF6D-4705-A42D-7DB8CE53FFA8}"/>
              </a:ext>
            </a:extLst>
          </p:cNvPr>
          <p:cNvGraphicFramePr/>
          <p:nvPr/>
        </p:nvGraphicFramePr>
        <p:xfrm>
          <a:off x="533400" y="1695450"/>
          <a:ext cx="5372100" cy="3857624"/>
        </p:xfrm>
        <a:graphic>
          <a:graphicData uri="http://schemas.openxmlformats.org/drawingml/2006/table">
            <a:tbl>
              <a:tblPr firstRow="1"/>
              <a:tblGrid>
                <a:gridCol w="3943350">
                  <a:extLst>
                    <a:ext uri="{9D8B030D-6E8A-4147-A177-3AD203B41FA5}">
                      <a16:colId xmlns:a16="http://schemas.microsoft.com/office/drawing/2014/main" val="20000"/>
                    </a:ext>
                  </a:extLst>
                </a:gridCol>
                <a:gridCol w="1428750">
                  <a:extLst>
                    <a:ext uri="{9D8B030D-6E8A-4147-A177-3AD203B41FA5}">
                      <a16:colId xmlns:a16="http://schemas.microsoft.com/office/drawing/2014/main" val="20001"/>
                    </a:ext>
                  </a:extLst>
                </a:gridCol>
              </a:tblGrid>
              <a:tr h="482203">
                <a:tc>
                  <a:txBody>
                    <a:bodyPr/>
                    <a:lstStyle/>
                    <a:p>
                      <a:r>
                        <a:rPr sz="1650" b="1">
                          <a:solidFill>
                            <a:srgbClr val="FFFFFF"/>
                          </a:solidFill>
                        </a:rPr>
                        <a:t>Requirement</a:t>
                      </a:r>
                    </a:p>
                  </a:txBody>
                  <a:tcPr marL="95250" marR="95250" marT="76200" marB="76200" anchor="ctr">
                    <a:lnL w="7620">
                      <a:solidFill>
                        <a:srgbClr val="E4EBEF"/>
                      </a:solidFill>
                      <a:prstDash val="solid"/>
                    </a:lnL>
                    <a:lnR w="7620">
                      <a:solidFill>
                        <a:srgbClr val="E4EBEF"/>
                      </a:solidFill>
                      <a:prstDash val="solid"/>
                    </a:lnR>
                    <a:lnT w="7620">
                      <a:solidFill>
                        <a:srgbClr val="E4EBEF"/>
                      </a:solidFill>
                      <a:prstDash val="solid"/>
                    </a:lnT>
                    <a:lnB w="7620">
                      <a:solidFill>
                        <a:srgbClr val="E4EBEF"/>
                      </a:solidFill>
                      <a:prstDash val="solid"/>
                    </a:lnB>
                    <a:solidFill>
                      <a:srgbClr val="142B3D"/>
                    </a:solidFill>
                  </a:tcPr>
                </a:tc>
                <a:tc>
                  <a:txBody>
                    <a:bodyPr/>
                    <a:lstStyle/>
                    <a:p>
                      <a:r>
                        <a:rPr sz="1650" b="1">
                          <a:solidFill>
                            <a:srgbClr val="FFFFFF"/>
                          </a:solidFill>
                        </a:rPr>
                        <a:t>Status</a:t>
                      </a:r>
                    </a:p>
                  </a:txBody>
                  <a:tcPr marL="95250" marR="95250" marT="76200" marB="76200" anchor="ctr">
                    <a:lnL w="7620" cap="flat" cmpd="sng" algn="ctr">
                      <a:solidFill>
                        <a:srgbClr val="E4EBEF"/>
                      </a:solidFill>
                      <a:prstDash val="solid"/>
                      <a:round/>
                      <a:headEnd type="none" w="med" len="med"/>
                      <a:tailEnd type="none" w="med" len="med"/>
                    </a:lnL>
                    <a:lnR w="7620">
                      <a:solidFill>
                        <a:srgbClr val="E4EBEF"/>
                      </a:solidFill>
                      <a:prstDash val="solid"/>
                    </a:lnR>
                    <a:lnT w="7620">
                      <a:solidFill>
                        <a:srgbClr val="E4EBEF"/>
                      </a:solidFill>
                      <a:prstDash val="solid"/>
                    </a:lnT>
                    <a:lnB w="7620">
                      <a:solidFill>
                        <a:srgbClr val="E4EBEF"/>
                      </a:solidFill>
                      <a:prstDash val="solid"/>
                    </a:lnB>
                    <a:solidFill>
                      <a:srgbClr val="142B3D"/>
                    </a:solidFill>
                  </a:tcPr>
                </a:tc>
                <a:extLst>
                  <a:ext uri="{0D108BD9-81ED-4DB2-BD59-A6C34878D82A}">
                    <a16:rowId xmlns:a16="http://schemas.microsoft.com/office/drawing/2014/main" val="10000"/>
                  </a:ext>
                </a:extLst>
              </a:tr>
              <a:tr h="482203">
                <a:tc>
                  <a:txBody>
                    <a:bodyPr/>
                    <a:lstStyle/>
                    <a:p>
                      <a:r>
                        <a:rPr sz="1650">
                          <a:solidFill>
                            <a:srgbClr val="087F95"/>
                          </a:solidFill>
                          <a:hlinkClick r:id="rId4"/>
                        </a:rPr>
                        <a:t>01  Active / passive control</a:t>
                      </a:r>
                    </a:p>
                  </a:txBody>
                  <a:tcPr marL="95250" marR="95250" marT="76200" marB="76200" anchor="ctr">
                    <a:lnL w="7620">
                      <a:solidFill>
                        <a:srgbClr val="E4EBEF"/>
                      </a:solidFill>
                      <a:prstDash val="solid"/>
                    </a:lnL>
                    <a:lnR w="7620">
                      <a:solidFill>
                        <a:srgbClr val="E4EBEF"/>
                      </a:solidFill>
                      <a:prstDash val="solid"/>
                    </a:lnR>
                    <a:lnT w="7620" cap="flat" cmpd="sng" algn="ctr">
                      <a:solidFill>
                        <a:srgbClr val="E4EBEF"/>
                      </a:solidFill>
                      <a:prstDash val="solid"/>
                      <a:round/>
                      <a:headEnd type="none" w="med" len="med"/>
                      <a:tailEnd type="none" w="med" len="med"/>
                    </a:lnT>
                    <a:lnB w="7620">
                      <a:solidFill>
                        <a:srgbClr val="E4EBEF"/>
                      </a:solidFill>
                      <a:prstDash val="solid"/>
                    </a:lnB>
                    <a:solidFill>
                      <a:srgbClr val="FFFFFF"/>
                    </a:solidFill>
                  </a:tcPr>
                </a:tc>
                <a:tc>
                  <a:txBody>
                    <a:bodyPr/>
                    <a:lstStyle/>
                    <a:p>
                      <a:r>
                        <a:rPr sz="1650">
                          <a:solidFill>
                            <a:srgbClr val="142B3D"/>
                          </a:solidFill>
                        </a:rPr>
                        <a:t>Simulated</a:t>
                      </a:r>
                    </a:p>
                  </a:txBody>
                  <a:tcPr marL="95250" marR="95250" marT="76200" marB="76200" anchor="ctr">
                    <a:lnL w="7620" cap="flat" cmpd="sng" algn="ctr">
                      <a:solidFill>
                        <a:srgbClr val="E4EBEF"/>
                      </a:solidFill>
                      <a:prstDash val="solid"/>
                      <a:round/>
                      <a:headEnd type="none" w="med" len="med"/>
                      <a:tailEnd type="none" w="med" len="med"/>
                    </a:lnL>
                    <a:lnR w="7620">
                      <a:solidFill>
                        <a:srgbClr val="E4EBEF"/>
                      </a:solidFill>
                      <a:prstDash val="solid"/>
                    </a:lnR>
                    <a:lnT w="7620" cap="flat" cmpd="sng" algn="ctr">
                      <a:solidFill>
                        <a:srgbClr val="E4EBEF"/>
                      </a:solidFill>
                      <a:prstDash val="solid"/>
                      <a:round/>
                      <a:headEnd type="none" w="med" len="med"/>
                      <a:tailEnd type="none" w="med" len="med"/>
                    </a:lnT>
                    <a:lnB w="7620">
                      <a:solidFill>
                        <a:srgbClr val="E4EBEF"/>
                      </a:solidFill>
                      <a:prstDash val="solid"/>
                    </a:lnB>
                    <a:solidFill>
                      <a:srgbClr val="FFFFFF"/>
                    </a:solidFill>
                  </a:tcPr>
                </a:tc>
                <a:extLst>
                  <a:ext uri="{0D108BD9-81ED-4DB2-BD59-A6C34878D82A}">
                    <a16:rowId xmlns:a16="http://schemas.microsoft.com/office/drawing/2014/main" val="10001"/>
                  </a:ext>
                </a:extLst>
              </a:tr>
              <a:tr h="482203">
                <a:tc>
                  <a:txBody>
                    <a:bodyPr/>
                    <a:lstStyle/>
                    <a:p>
                      <a:r>
                        <a:rPr sz="1650">
                          <a:solidFill>
                            <a:srgbClr val="087F95"/>
                          </a:solidFill>
                          <a:hlinkClick r:id="rId5"/>
                        </a:rPr>
                        <a:t>02  Steady / transient analysis</a:t>
                      </a:r>
                    </a:p>
                  </a:txBody>
                  <a:tcPr marL="95250" marR="95250" marT="76200" marB="76200" anchor="ctr">
                    <a:lnL w="7620">
                      <a:solidFill>
                        <a:srgbClr val="E4EBEF"/>
                      </a:solidFill>
                      <a:prstDash val="solid"/>
                    </a:lnL>
                    <a:lnR w="7620">
                      <a:solidFill>
                        <a:srgbClr val="E4EBEF"/>
                      </a:solidFill>
                      <a:prstDash val="solid"/>
                    </a:lnR>
                    <a:lnT w="7620" cap="flat" cmpd="sng" algn="ctr">
                      <a:solidFill>
                        <a:srgbClr val="E4EBEF"/>
                      </a:solidFill>
                      <a:prstDash val="solid"/>
                      <a:round/>
                      <a:headEnd type="none" w="med" len="med"/>
                      <a:tailEnd type="none" w="med" len="med"/>
                    </a:lnT>
                    <a:lnB w="7620">
                      <a:solidFill>
                        <a:srgbClr val="E4EBEF"/>
                      </a:solidFill>
                      <a:prstDash val="solid"/>
                    </a:lnB>
                    <a:solidFill>
                      <a:srgbClr val="FFFFFF"/>
                    </a:solidFill>
                  </a:tcPr>
                </a:tc>
                <a:tc>
                  <a:txBody>
                    <a:bodyPr/>
                    <a:lstStyle/>
                    <a:p>
                      <a:r>
                        <a:rPr sz="1650">
                          <a:solidFill>
                            <a:srgbClr val="142B3D"/>
                          </a:solidFill>
                        </a:rPr>
                        <a:t>Simulated</a:t>
                      </a:r>
                    </a:p>
                  </a:txBody>
                  <a:tcPr marL="95250" marR="95250" marT="76200" marB="76200" anchor="ctr">
                    <a:lnL w="7620" cap="flat" cmpd="sng" algn="ctr">
                      <a:solidFill>
                        <a:srgbClr val="E4EBEF"/>
                      </a:solidFill>
                      <a:prstDash val="solid"/>
                      <a:round/>
                      <a:headEnd type="none" w="med" len="med"/>
                      <a:tailEnd type="none" w="med" len="med"/>
                    </a:lnL>
                    <a:lnR w="7620">
                      <a:solidFill>
                        <a:srgbClr val="E4EBEF"/>
                      </a:solidFill>
                      <a:prstDash val="solid"/>
                    </a:lnR>
                    <a:lnT w="7620" cap="flat" cmpd="sng" algn="ctr">
                      <a:solidFill>
                        <a:srgbClr val="E4EBEF"/>
                      </a:solidFill>
                      <a:prstDash val="solid"/>
                      <a:round/>
                      <a:headEnd type="none" w="med" len="med"/>
                      <a:tailEnd type="none" w="med" len="med"/>
                    </a:lnT>
                    <a:lnB w="7620">
                      <a:solidFill>
                        <a:srgbClr val="E4EBEF"/>
                      </a:solidFill>
                      <a:prstDash val="solid"/>
                    </a:lnB>
                    <a:solidFill>
                      <a:srgbClr val="FFFFFF"/>
                    </a:solidFill>
                  </a:tcPr>
                </a:tc>
                <a:extLst>
                  <a:ext uri="{0D108BD9-81ED-4DB2-BD59-A6C34878D82A}">
                    <a16:rowId xmlns:a16="http://schemas.microsoft.com/office/drawing/2014/main" val="10002"/>
                  </a:ext>
                </a:extLst>
              </a:tr>
              <a:tr h="482203">
                <a:tc>
                  <a:txBody>
                    <a:bodyPr/>
                    <a:lstStyle/>
                    <a:p>
                      <a:r>
                        <a:rPr sz="1650" dirty="0">
                          <a:solidFill>
                            <a:srgbClr val="087F95"/>
                          </a:solidFill>
                          <a:hlinkClick r:id="rId6"/>
                        </a:rPr>
                        <a:t>03  Mission model maintenance</a:t>
                      </a:r>
                    </a:p>
                  </a:txBody>
                  <a:tcPr marL="95250" marR="95250" marT="76200" marB="76200" anchor="ctr">
                    <a:lnL w="7620">
                      <a:solidFill>
                        <a:srgbClr val="E4EBEF"/>
                      </a:solidFill>
                      <a:prstDash val="solid"/>
                    </a:lnL>
                    <a:lnR w="7620">
                      <a:solidFill>
                        <a:srgbClr val="E4EBEF"/>
                      </a:solidFill>
                      <a:prstDash val="solid"/>
                    </a:lnR>
                    <a:lnT w="7620" cap="flat" cmpd="sng" algn="ctr">
                      <a:solidFill>
                        <a:srgbClr val="E4EBEF"/>
                      </a:solidFill>
                      <a:prstDash val="solid"/>
                      <a:round/>
                      <a:headEnd type="none" w="med" len="med"/>
                      <a:tailEnd type="none" w="med" len="med"/>
                    </a:lnT>
                    <a:lnB w="7620">
                      <a:solidFill>
                        <a:srgbClr val="E4EBEF"/>
                      </a:solidFill>
                      <a:prstDash val="solid"/>
                    </a:lnB>
                    <a:solidFill>
                      <a:srgbClr val="FFFFFF"/>
                    </a:solidFill>
                  </a:tcPr>
                </a:tc>
                <a:tc>
                  <a:txBody>
                    <a:bodyPr/>
                    <a:lstStyle/>
                    <a:p>
                      <a:r>
                        <a:rPr sz="1650">
                          <a:solidFill>
                            <a:srgbClr val="142B3D"/>
                          </a:solidFill>
                        </a:rPr>
                        <a:t>Simulated</a:t>
                      </a:r>
                    </a:p>
                  </a:txBody>
                  <a:tcPr marL="95250" marR="95250" marT="76200" marB="76200" anchor="ctr">
                    <a:lnL w="7620" cap="flat" cmpd="sng" algn="ctr">
                      <a:solidFill>
                        <a:srgbClr val="E4EBEF"/>
                      </a:solidFill>
                      <a:prstDash val="solid"/>
                      <a:round/>
                      <a:headEnd type="none" w="med" len="med"/>
                      <a:tailEnd type="none" w="med" len="med"/>
                    </a:lnL>
                    <a:lnR w="7620">
                      <a:solidFill>
                        <a:srgbClr val="E4EBEF"/>
                      </a:solidFill>
                      <a:prstDash val="solid"/>
                    </a:lnR>
                    <a:lnT w="7620" cap="flat" cmpd="sng" algn="ctr">
                      <a:solidFill>
                        <a:srgbClr val="E4EBEF"/>
                      </a:solidFill>
                      <a:prstDash val="solid"/>
                      <a:round/>
                      <a:headEnd type="none" w="med" len="med"/>
                      <a:tailEnd type="none" w="med" len="med"/>
                    </a:lnT>
                    <a:lnB w="7620">
                      <a:solidFill>
                        <a:srgbClr val="E4EBEF"/>
                      </a:solidFill>
                      <a:prstDash val="solid"/>
                    </a:lnB>
                    <a:solidFill>
                      <a:srgbClr val="FFFFFF"/>
                    </a:solidFill>
                  </a:tcPr>
                </a:tc>
                <a:extLst>
                  <a:ext uri="{0D108BD9-81ED-4DB2-BD59-A6C34878D82A}">
                    <a16:rowId xmlns:a16="http://schemas.microsoft.com/office/drawing/2014/main" val="10003"/>
                  </a:ext>
                </a:extLst>
              </a:tr>
              <a:tr h="482203">
                <a:tc>
                  <a:txBody>
                    <a:bodyPr/>
                    <a:lstStyle/>
                    <a:p>
                      <a:r>
                        <a:rPr sz="1650">
                          <a:solidFill>
                            <a:srgbClr val="087F95"/>
                          </a:solidFill>
                          <a:hlinkClick r:id="rId7"/>
                        </a:rPr>
                        <a:t>04  Materials and interfaces</a:t>
                      </a:r>
                    </a:p>
                  </a:txBody>
                  <a:tcPr marL="95250" marR="95250" marT="76200" marB="76200" anchor="ctr">
                    <a:lnL w="7620">
                      <a:solidFill>
                        <a:srgbClr val="E4EBEF"/>
                      </a:solidFill>
                      <a:prstDash val="solid"/>
                    </a:lnL>
                    <a:lnR w="7620">
                      <a:solidFill>
                        <a:srgbClr val="E4EBEF"/>
                      </a:solidFill>
                      <a:prstDash val="solid"/>
                    </a:lnR>
                    <a:lnT w="7620" cap="flat" cmpd="sng" algn="ctr">
                      <a:solidFill>
                        <a:srgbClr val="E4EBEF"/>
                      </a:solidFill>
                      <a:prstDash val="solid"/>
                      <a:round/>
                      <a:headEnd type="none" w="med" len="med"/>
                      <a:tailEnd type="none" w="med" len="med"/>
                    </a:lnT>
                    <a:lnB w="7620">
                      <a:solidFill>
                        <a:srgbClr val="E4EBEF"/>
                      </a:solidFill>
                      <a:prstDash val="solid"/>
                    </a:lnB>
                    <a:solidFill>
                      <a:srgbClr val="FFFFFF"/>
                    </a:solidFill>
                  </a:tcPr>
                </a:tc>
                <a:tc>
                  <a:txBody>
                    <a:bodyPr/>
                    <a:lstStyle/>
                    <a:p>
                      <a:r>
                        <a:rPr sz="1650">
                          <a:solidFill>
                            <a:srgbClr val="142B3D"/>
                          </a:solidFill>
                        </a:rPr>
                        <a:t>Simulated</a:t>
                      </a:r>
                    </a:p>
                  </a:txBody>
                  <a:tcPr marL="95250" marR="95250" marT="76200" marB="76200" anchor="ctr">
                    <a:lnL w="7620" cap="flat" cmpd="sng" algn="ctr">
                      <a:solidFill>
                        <a:srgbClr val="E4EBEF"/>
                      </a:solidFill>
                      <a:prstDash val="solid"/>
                      <a:round/>
                      <a:headEnd type="none" w="med" len="med"/>
                      <a:tailEnd type="none" w="med" len="med"/>
                    </a:lnL>
                    <a:lnR w="7620">
                      <a:solidFill>
                        <a:srgbClr val="E4EBEF"/>
                      </a:solidFill>
                      <a:prstDash val="solid"/>
                    </a:lnR>
                    <a:lnT w="7620" cap="flat" cmpd="sng" algn="ctr">
                      <a:solidFill>
                        <a:srgbClr val="E4EBEF"/>
                      </a:solidFill>
                      <a:prstDash val="solid"/>
                      <a:round/>
                      <a:headEnd type="none" w="med" len="med"/>
                      <a:tailEnd type="none" w="med" len="med"/>
                    </a:lnT>
                    <a:lnB w="7620">
                      <a:solidFill>
                        <a:srgbClr val="E4EBEF"/>
                      </a:solidFill>
                      <a:prstDash val="solid"/>
                    </a:lnB>
                    <a:solidFill>
                      <a:srgbClr val="FFFFFF"/>
                    </a:solidFill>
                  </a:tcPr>
                </a:tc>
                <a:extLst>
                  <a:ext uri="{0D108BD9-81ED-4DB2-BD59-A6C34878D82A}">
                    <a16:rowId xmlns:a16="http://schemas.microsoft.com/office/drawing/2014/main" val="10004"/>
                  </a:ext>
                </a:extLst>
              </a:tr>
              <a:tr h="482203">
                <a:tc>
                  <a:txBody>
                    <a:bodyPr/>
                    <a:lstStyle/>
                    <a:p>
                      <a:r>
                        <a:rPr sz="1650">
                          <a:solidFill>
                            <a:srgbClr val="087F95"/>
                          </a:solidFill>
                          <a:hlinkClick r:id="rId6"/>
                        </a:rPr>
                        <a:t>05  Requirements and margins</a:t>
                      </a:r>
                    </a:p>
                  </a:txBody>
                  <a:tcPr marL="95250" marR="95250" marT="76200" marB="76200" anchor="ctr">
                    <a:lnL w="7620">
                      <a:solidFill>
                        <a:srgbClr val="E4EBEF"/>
                      </a:solidFill>
                      <a:prstDash val="solid"/>
                    </a:lnL>
                    <a:lnR w="7620">
                      <a:solidFill>
                        <a:srgbClr val="E4EBEF"/>
                      </a:solidFill>
                      <a:prstDash val="solid"/>
                    </a:lnR>
                    <a:lnT w="7620" cap="flat" cmpd="sng" algn="ctr">
                      <a:solidFill>
                        <a:srgbClr val="E4EBEF"/>
                      </a:solidFill>
                      <a:prstDash val="solid"/>
                      <a:round/>
                      <a:headEnd type="none" w="med" len="med"/>
                      <a:tailEnd type="none" w="med" len="med"/>
                    </a:lnT>
                    <a:lnB w="7620">
                      <a:solidFill>
                        <a:srgbClr val="E4EBEF"/>
                      </a:solidFill>
                      <a:prstDash val="solid"/>
                    </a:lnB>
                    <a:solidFill>
                      <a:srgbClr val="FFFFFF"/>
                    </a:solidFill>
                  </a:tcPr>
                </a:tc>
                <a:tc>
                  <a:txBody>
                    <a:bodyPr/>
                    <a:lstStyle/>
                    <a:p>
                      <a:r>
                        <a:rPr sz="1650">
                          <a:solidFill>
                            <a:srgbClr val="142B3D"/>
                          </a:solidFill>
                        </a:rPr>
                        <a:t>Simulated</a:t>
                      </a:r>
                    </a:p>
                  </a:txBody>
                  <a:tcPr marL="95250" marR="95250" marT="76200" marB="76200" anchor="ctr">
                    <a:lnL w="7620" cap="flat" cmpd="sng" algn="ctr">
                      <a:solidFill>
                        <a:srgbClr val="E4EBEF"/>
                      </a:solidFill>
                      <a:prstDash val="solid"/>
                      <a:round/>
                      <a:headEnd type="none" w="med" len="med"/>
                      <a:tailEnd type="none" w="med" len="med"/>
                    </a:lnL>
                    <a:lnR w="7620">
                      <a:solidFill>
                        <a:srgbClr val="E4EBEF"/>
                      </a:solidFill>
                      <a:prstDash val="solid"/>
                    </a:lnR>
                    <a:lnT w="7620" cap="flat" cmpd="sng" algn="ctr">
                      <a:solidFill>
                        <a:srgbClr val="E4EBEF"/>
                      </a:solidFill>
                      <a:prstDash val="solid"/>
                      <a:round/>
                      <a:headEnd type="none" w="med" len="med"/>
                      <a:tailEnd type="none" w="med" len="med"/>
                    </a:lnT>
                    <a:lnB w="7620">
                      <a:solidFill>
                        <a:srgbClr val="E4EBEF"/>
                      </a:solidFill>
                      <a:prstDash val="solid"/>
                    </a:lnB>
                    <a:solidFill>
                      <a:srgbClr val="FFFFFF"/>
                    </a:solidFill>
                  </a:tcPr>
                </a:tc>
                <a:extLst>
                  <a:ext uri="{0D108BD9-81ED-4DB2-BD59-A6C34878D82A}">
                    <a16:rowId xmlns:a16="http://schemas.microsoft.com/office/drawing/2014/main" val="10005"/>
                  </a:ext>
                </a:extLst>
              </a:tr>
              <a:tr h="482203">
                <a:tc>
                  <a:txBody>
                    <a:bodyPr/>
                    <a:lstStyle/>
                    <a:p>
                      <a:r>
                        <a:rPr sz="1650">
                          <a:solidFill>
                            <a:srgbClr val="087F95"/>
                          </a:solidFill>
                          <a:hlinkClick r:id="rId8"/>
                        </a:rPr>
                        <a:t>06  Environmental testing</a:t>
                      </a:r>
                    </a:p>
                  </a:txBody>
                  <a:tcPr marL="95250" marR="95250" marT="76200" marB="76200" anchor="ctr">
                    <a:lnL w="7620">
                      <a:solidFill>
                        <a:srgbClr val="E4EBEF"/>
                      </a:solidFill>
                      <a:prstDash val="solid"/>
                    </a:lnL>
                    <a:lnR w="7620">
                      <a:solidFill>
                        <a:srgbClr val="E4EBEF"/>
                      </a:solidFill>
                      <a:prstDash val="solid"/>
                    </a:lnR>
                    <a:lnT w="7620" cap="flat" cmpd="sng" algn="ctr">
                      <a:solidFill>
                        <a:srgbClr val="E4EBEF"/>
                      </a:solidFill>
                      <a:prstDash val="solid"/>
                      <a:round/>
                      <a:headEnd type="none" w="med" len="med"/>
                      <a:tailEnd type="none" w="med" len="med"/>
                    </a:lnT>
                    <a:lnB w="7620">
                      <a:solidFill>
                        <a:srgbClr val="E4EBEF"/>
                      </a:solidFill>
                      <a:prstDash val="solid"/>
                    </a:lnB>
                    <a:solidFill>
                      <a:srgbClr val="FFFFFF"/>
                    </a:solidFill>
                  </a:tcPr>
                </a:tc>
                <a:tc>
                  <a:txBody>
                    <a:bodyPr/>
                    <a:lstStyle/>
                    <a:p>
                      <a:r>
                        <a:rPr sz="1650">
                          <a:solidFill>
                            <a:srgbClr val="AD7A22"/>
                          </a:solidFill>
                        </a:rPr>
                        <a:t>Planned</a:t>
                      </a:r>
                    </a:p>
                  </a:txBody>
                  <a:tcPr marL="95250" marR="95250" marT="76200" marB="76200" anchor="ctr">
                    <a:lnL w="7620" cap="flat" cmpd="sng" algn="ctr">
                      <a:solidFill>
                        <a:srgbClr val="E4EBEF"/>
                      </a:solidFill>
                      <a:prstDash val="solid"/>
                      <a:round/>
                      <a:headEnd type="none" w="med" len="med"/>
                      <a:tailEnd type="none" w="med" len="med"/>
                    </a:lnL>
                    <a:lnR w="7620">
                      <a:solidFill>
                        <a:srgbClr val="E4EBEF"/>
                      </a:solidFill>
                      <a:prstDash val="solid"/>
                    </a:lnR>
                    <a:lnT w="7620" cap="flat" cmpd="sng" algn="ctr">
                      <a:solidFill>
                        <a:srgbClr val="E4EBEF"/>
                      </a:solidFill>
                      <a:prstDash val="solid"/>
                      <a:round/>
                      <a:headEnd type="none" w="med" len="med"/>
                      <a:tailEnd type="none" w="med" len="med"/>
                    </a:lnT>
                    <a:lnB w="7620">
                      <a:solidFill>
                        <a:srgbClr val="E4EBEF"/>
                      </a:solidFill>
                      <a:prstDash val="solid"/>
                    </a:lnB>
                    <a:solidFill>
                      <a:srgbClr val="FFFFFF"/>
                    </a:solidFill>
                  </a:tcPr>
                </a:tc>
                <a:extLst>
                  <a:ext uri="{0D108BD9-81ED-4DB2-BD59-A6C34878D82A}">
                    <a16:rowId xmlns:a16="http://schemas.microsoft.com/office/drawing/2014/main" val="10006"/>
                  </a:ext>
                </a:extLst>
              </a:tr>
              <a:tr h="482203">
                <a:tc>
                  <a:txBody>
                    <a:bodyPr/>
                    <a:lstStyle/>
                    <a:p>
                      <a:r>
                        <a:rPr sz="1650">
                          <a:solidFill>
                            <a:srgbClr val="087F95"/>
                          </a:solidFill>
                          <a:hlinkClick r:id="rId9"/>
                        </a:rPr>
                        <a:t>07  Model correlation</a:t>
                      </a:r>
                    </a:p>
                  </a:txBody>
                  <a:tcPr marL="95250" marR="95250" marT="76200" marB="76200" anchor="ctr">
                    <a:lnL w="7620">
                      <a:solidFill>
                        <a:srgbClr val="E4EBEF"/>
                      </a:solidFill>
                      <a:prstDash val="solid"/>
                    </a:lnL>
                    <a:lnR w="7620">
                      <a:solidFill>
                        <a:srgbClr val="E4EBEF"/>
                      </a:solidFill>
                      <a:prstDash val="solid"/>
                    </a:lnR>
                    <a:lnT w="7620" cap="flat" cmpd="sng" algn="ctr">
                      <a:solidFill>
                        <a:srgbClr val="E4EBEF"/>
                      </a:solidFill>
                      <a:prstDash val="solid"/>
                      <a:round/>
                      <a:headEnd type="none" w="med" len="med"/>
                      <a:tailEnd type="none" w="med" len="med"/>
                    </a:lnT>
                    <a:lnB w="7620">
                      <a:solidFill>
                        <a:srgbClr val="E4EBEF"/>
                      </a:solidFill>
                      <a:prstDash val="solid"/>
                    </a:lnB>
                    <a:solidFill>
                      <a:srgbClr val="FFFFFF"/>
                    </a:solidFill>
                  </a:tcPr>
                </a:tc>
                <a:tc>
                  <a:txBody>
                    <a:bodyPr/>
                    <a:lstStyle/>
                    <a:p>
                      <a:r>
                        <a:rPr sz="1650" dirty="0">
                          <a:solidFill>
                            <a:srgbClr val="142B3D"/>
                          </a:solidFill>
                        </a:rPr>
                        <a:t>Synthetic</a:t>
                      </a:r>
                    </a:p>
                  </a:txBody>
                  <a:tcPr marL="95250" marR="95250" marT="76200" marB="76200" anchor="ctr">
                    <a:lnL w="7620" cap="flat" cmpd="sng" algn="ctr">
                      <a:solidFill>
                        <a:srgbClr val="E4EBEF"/>
                      </a:solidFill>
                      <a:prstDash val="solid"/>
                      <a:round/>
                      <a:headEnd type="none" w="med" len="med"/>
                      <a:tailEnd type="none" w="med" len="med"/>
                    </a:lnL>
                    <a:lnR w="7620">
                      <a:solidFill>
                        <a:srgbClr val="E4EBEF"/>
                      </a:solidFill>
                      <a:prstDash val="solid"/>
                    </a:lnR>
                    <a:lnT w="7620" cap="flat" cmpd="sng" algn="ctr">
                      <a:solidFill>
                        <a:srgbClr val="E4EBEF"/>
                      </a:solidFill>
                      <a:prstDash val="solid"/>
                      <a:round/>
                      <a:headEnd type="none" w="med" len="med"/>
                      <a:tailEnd type="none" w="med" len="med"/>
                    </a:lnT>
                    <a:lnB w="7620">
                      <a:solidFill>
                        <a:srgbClr val="E4EBEF"/>
                      </a:solidFill>
                      <a:prstDash val="solid"/>
                    </a:lnB>
                    <a:solidFill>
                      <a:srgbClr val="FFFFFF"/>
                    </a:solidFill>
                  </a:tcPr>
                </a:tc>
                <a:extLst>
                  <a:ext uri="{0D108BD9-81ED-4DB2-BD59-A6C34878D82A}">
                    <a16:rowId xmlns:a16="http://schemas.microsoft.com/office/drawing/2014/main" val="10007"/>
                  </a:ext>
                </a:extLst>
              </a:tr>
            </a:tbl>
          </a:graphicData>
        </a:graphic>
      </p:graphicFrame>
      <p:graphicFrame>
        <p:nvGraphicFramePr>
          <p:cNvPr id="6" name="Table 5">
            <a:extLst>
              <a:ext uri="{FF2B5EF4-FFF2-40B4-BE49-F238E27FC236}">
                <a16:creationId xmlns:a16="http://schemas.microsoft.com/office/drawing/2014/main" id="{3B679833-FB5A-44F9-905A-C3303E4BC218}"/>
              </a:ext>
            </a:extLst>
          </p:cNvPr>
          <p:cNvGraphicFramePr/>
          <p:nvPr/>
        </p:nvGraphicFramePr>
        <p:xfrm>
          <a:off x="6286500" y="1695450"/>
          <a:ext cx="5372100" cy="3381378"/>
        </p:xfrm>
        <a:graphic>
          <a:graphicData uri="http://schemas.openxmlformats.org/drawingml/2006/table">
            <a:tbl>
              <a:tblPr firstRow="1"/>
              <a:tblGrid>
                <a:gridCol w="3943350">
                  <a:extLst>
                    <a:ext uri="{9D8B030D-6E8A-4147-A177-3AD203B41FA5}">
                      <a16:colId xmlns:a16="http://schemas.microsoft.com/office/drawing/2014/main" val="20000"/>
                    </a:ext>
                  </a:extLst>
                </a:gridCol>
                <a:gridCol w="1428750">
                  <a:extLst>
                    <a:ext uri="{9D8B030D-6E8A-4147-A177-3AD203B41FA5}">
                      <a16:colId xmlns:a16="http://schemas.microsoft.com/office/drawing/2014/main" val="20001"/>
                    </a:ext>
                  </a:extLst>
                </a:gridCol>
              </a:tblGrid>
              <a:tr h="483054">
                <a:tc>
                  <a:txBody>
                    <a:bodyPr/>
                    <a:lstStyle/>
                    <a:p>
                      <a:r>
                        <a:rPr sz="1650" b="1">
                          <a:solidFill>
                            <a:srgbClr val="FFFFFF"/>
                          </a:solidFill>
                        </a:rPr>
                        <a:t>Requirement</a:t>
                      </a:r>
                    </a:p>
                  </a:txBody>
                  <a:tcPr marL="95250" marR="95250" marT="76200" marB="76200" anchor="ctr">
                    <a:lnL w="7620">
                      <a:solidFill>
                        <a:srgbClr val="E4EBEF"/>
                      </a:solidFill>
                      <a:prstDash val="solid"/>
                    </a:lnL>
                    <a:lnR w="7620">
                      <a:solidFill>
                        <a:srgbClr val="E4EBEF"/>
                      </a:solidFill>
                      <a:prstDash val="solid"/>
                    </a:lnR>
                    <a:lnT w="7620">
                      <a:solidFill>
                        <a:srgbClr val="E4EBEF"/>
                      </a:solidFill>
                      <a:prstDash val="solid"/>
                    </a:lnT>
                    <a:lnB w="7620">
                      <a:solidFill>
                        <a:srgbClr val="E4EBEF"/>
                      </a:solidFill>
                      <a:prstDash val="solid"/>
                    </a:lnB>
                    <a:solidFill>
                      <a:srgbClr val="142B3D"/>
                    </a:solidFill>
                  </a:tcPr>
                </a:tc>
                <a:tc>
                  <a:txBody>
                    <a:bodyPr/>
                    <a:lstStyle/>
                    <a:p>
                      <a:r>
                        <a:rPr sz="1650" b="1">
                          <a:solidFill>
                            <a:srgbClr val="FFFFFF"/>
                          </a:solidFill>
                        </a:rPr>
                        <a:t>Status</a:t>
                      </a:r>
                    </a:p>
                  </a:txBody>
                  <a:tcPr marL="95250" marR="95250" marT="76200" marB="76200" anchor="ctr">
                    <a:lnL w="7620" cap="flat" cmpd="sng" algn="ctr">
                      <a:solidFill>
                        <a:srgbClr val="E4EBEF"/>
                      </a:solidFill>
                      <a:prstDash val="solid"/>
                      <a:round/>
                      <a:headEnd type="none" w="med" len="med"/>
                      <a:tailEnd type="none" w="med" len="med"/>
                    </a:lnL>
                    <a:lnR w="7620">
                      <a:solidFill>
                        <a:srgbClr val="E4EBEF"/>
                      </a:solidFill>
                      <a:prstDash val="solid"/>
                    </a:lnR>
                    <a:lnT w="7620">
                      <a:solidFill>
                        <a:srgbClr val="E4EBEF"/>
                      </a:solidFill>
                      <a:prstDash val="solid"/>
                    </a:lnT>
                    <a:lnB w="7620">
                      <a:solidFill>
                        <a:srgbClr val="E4EBEF"/>
                      </a:solidFill>
                      <a:prstDash val="solid"/>
                    </a:lnB>
                    <a:solidFill>
                      <a:srgbClr val="142B3D"/>
                    </a:solidFill>
                  </a:tcPr>
                </a:tc>
                <a:extLst>
                  <a:ext uri="{0D108BD9-81ED-4DB2-BD59-A6C34878D82A}">
                    <a16:rowId xmlns:a16="http://schemas.microsoft.com/office/drawing/2014/main" val="10000"/>
                  </a:ext>
                </a:extLst>
              </a:tr>
              <a:tr h="483054">
                <a:tc>
                  <a:txBody>
                    <a:bodyPr/>
                    <a:lstStyle/>
                    <a:p>
                      <a:r>
                        <a:rPr sz="1650">
                          <a:solidFill>
                            <a:srgbClr val="087F95"/>
                          </a:solidFill>
                          <a:hlinkClick r:id="rId10"/>
                        </a:rPr>
                        <a:t>08  Cross-functional integration</a:t>
                      </a:r>
                    </a:p>
                  </a:txBody>
                  <a:tcPr marL="95250" marR="95250" marT="76200" marB="76200" anchor="ctr">
                    <a:lnL w="7620">
                      <a:solidFill>
                        <a:srgbClr val="E4EBEF"/>
                      </a:solidFill>
                      <a:prstDash val="solid"/>
                    </a:lnL>
                    <a:lnR w="7620">
                      <a:solidFill>
                        <a:srgbClr val="E4EBEF"/>
                      </a:solidFill>
                      <a:prstDash val="solid"/>
                    </a:lnR>
                    <a:lnT w="7620" cap="flat" cmpd="sng" algn="ctr">
                      <a:solidFill>
                        <a:srgbClr val="E4EBEF"/>
                      </a:solidFill>
                      <a:prstDash val="solid"/>
                      <a:round/>
                      <a:headEnd type="none" w="med" len="med"/>
                      <a:tailEnd type="none" w="med" len="med"/>
                    </a:lnT>
                    <a:lnB w="7620">
                      <a:solidFill>
                        <a:srgbClr val="E4EBEF"/>
                      </a:solidFill>
                      <a:prstDash val="solid"/>
                    </a:lnB>
                    <a:solidFill>
                      <a:srgbClr val="FFFFFF"/>
                    </a:solidFill>
                  </a:tcPr>
                </a:tc>
                <a:tc>
                  <a:txBody>
                    <a:bodyPr/>
                    <a:lstStyle/>
                    <a:p>
                      <a:r>
                        <a:rPr sz="1650">
                          <a:solidFill>
                            <a:srgbClr val="AD7A22"/>
                          </a:solidFill>
                        </a:rPr>
                        <a:t>Planned</a:t>
                      </a:r>
                    </a:p>
                  </a:txBody>
                  <a:tcPr marL="95250" marR="95250" marT="76200" marB="76200" anchor="ctr">
                    <a:lnL w="7620" cap="flat" cmpd="sng" algn="ctr">
                      <a:solidFill>
                        <a:srgbClr val="E4EBEF"/>
                      </a:solidFill>
                      <a:prstDash val="solid"/>
                      <a:round/>
                      <a:headEnd type="none" w="med" len="med"/>
                      <a:tailEnd type="none" w="med" len="med"/>
                    </a:lnL>
                    <a:lnR w="7620">
                      <a:solidFill>
                        <a:srgbClr val="E4EBEF"/>
                      </a:solidFill>
                      <a:prstDash val="solid"/>
                    </a:lnR>
                    <a:lnT w="7620" cap="flat" cmpd="sng" algn="ctr">
                      <a:solidFill>
                        <a:srgbClr val="E4EBEF"/>
                      </a:solidFill>
                      <a:prstDash val="solid"/>
                      <a:round/>
                      <a:headEnd type="none" w="med" len="med"/>
                      <a:tailEnd type="none" w="med" len="med"/>
                    </a:lnT>
                    <a:lnB w="7620">
                      <a:solidFill>
                        <a:srgbClr val="E4EBEF"/>
                      </a:solidFill>
                      <a:prstDash val="solid"/>
                    </a:lnB>
                    <a:solidFill>
                      <a:srgbClr val="FFFFFF"/>
                    </a:solidFill>
                  </a:tcPr>
                </a:tc>
                <a:extLst>
                  <a:ext uri="{0D108BD9-81ED-4DB2-BD59-A6C34878D82A}">
                    <a16:rowId xmlns:a16="http://schemas.microsoft.com/office/drawing/2014/main" val="10001"/>
                  </a:ext>
                </a:extLst>
              </a:tr>
              <a:tr h="483054">
                <a:tc>
                  <a:txBody>
                    <a:bodyPr/>
                    <a:lstStyle/>
                    <a:p>
                      <a:r>
                        <a:rPr sz="1650">
                          <a:solidFill>
                            <a:srgbClr val="087F95"/>
                          </a:solidFill>
                          <a:hlinkClick r:id="rId6"/>
                        </a:rPr>
                        <a:t>09  Documentation / standards</a:t>
                      </a:r>
                    </a:p>
                  </a:txBody>
                  <a:tcPr marL="95250" marR="95250" marT="76200" marB="76200" anchor="ctr">
                    <a:lnL w="7620">
                      <a:solidFill>
                        <a:srgbClr val="E4EBEF"/>
                      </a:solidFill>
                      <a:prstDash val="solid"/>
                    </a:lnL>
                    <a:lnR w="7620">
                      <a:solidFill>
                        <a:srgbClr val="E4EBEF"/>
                      </a:solidFill>
                      <a:prstDash val="solid"/>
                    </a:lnR>
                    <a:lnT w="7620" cap="flat" cmpd="sng" algn="ctr">
                      <a:solidFill>
                        <a:srgbClr val="E4EBEF"/>
                      </a:solidFill>
                      <a:prstDash val="solid"/>
                      <a:round/>
                      <a:headEnd type="none" w="med" len="med"/>
                      <a:tailEnd type="none" w="med" len="med"/>
                    </a:lnT>
                    <a:lnB w="7620">
                      <a:solidFill>
                        <a:srgbClr val="E4EBEF"/>
                      </a:solidFill>
                      <a:prstDash val="solid"/>
                    </a:lnB>
                    <a:solidFill>
                      <a:srgbClr val="FFFFFF"/>
                    </a:solidFill>
                  </a:tcPr>
                </a:tc>
                <a:tc>
                  <a:txBody>
                    <a:bodyPr/>
                    <a:lstStyle/>
                    <a:p>
                      <a:r>
                        <a:rPr sz="1650">
                          <a:solidFill>
                            <a:srgbClr val="142B3D"/>
                          </a:solidFill>
                        </a:rPr>
                        <a:t>Simulated</a:t>
                      </a:r>
                    </a:p>
                  </a:txBody>
                  <a:tcPr marL="95250" marR="95250" marT="76200" marB="76200" anchor="ctr">
                    <a:lnL w="7620" cap="flat" cmpd="sng" algn="ctr">
                      <a:solidFill>
                        <a:srgbClr val="E4EBEF"/>
                      </a:solidFill>
                      <a:prstDash val="solid"/>
                      <a:round/>
                      <a:headEnd type="none" w="med" len="med"/>
                      <a:tailEnd type="none" w="med" len="med"/>
                    </a:lnL>
                    <a:lnR w="7620">
                      <a:solidFill>
                        <a:srgbClr val="E4EBEF"/>
                      </a:solidFill>
                      <a:prstDash val="solid"/>
                    </a:lnR>
                    <a:lnT w="7620" cap="flat" cmpd="sng" algn="ctr">
                      <a:solidFill>
                        <a:srgbClr val="E4EBEF"/>
                      </a:solidFill>
                      <a:prstDash val="solid"/>
                      <a:round/>
                      <a:headEnd type="none" w="med" len="med"/>
                      <a:tailEnd type="none" w="med" len="med"/>
                    </a:lnT>
                    <a:lnB w="7620">
                      <a:solidFill>
                        <a:srgbClr val="E4EBEF"/>
                      </a:solidFill>
                      <a:prstDash val="solid"/>
                    </a:lnB>
                    <a:solidFill>
                      <a:srgbClr val="FFFFFF"/>
                    </a:solidFill>
                  </a:tcPr>
                </a:tc>
                <a:extLst>
                  <a:ext uri="{0D108BD9-81ED-4DB2-BD59-A6C34878D82A}">
                    <a16:rowId xmlns:a16="http://schemas.microsoft.com/office/drawing/2014/main" val="10002"/>
                  </a:ext>
                </a:extLst>
              </a:tr>
              <a:tr h="483054">
                <a:tc>
                  <a:txBody>
                    <a:bodyPr/>
                    <a:lstStyle/>
                    <a:p>
                      <a:r>
                        <a:rPr sz="1650">
                          <a:solidFill>
                            <a:srgbClr val="087F95"/>
                          </a:solidFill>
                          <a:hlinkClick r:id="rId11"/>
                        </a:rPr>
                        <a:t>10  Risk and design review</a:t>
                      </a:r>
                    </a:p>
                  </a:txBody>
                  <a:tcPr marL="95250" marR="95250" marT="76200" marB="76200" anchor="ctr">
                    <a:lnL w="7620">
                      <a:solidFill>
                        <a:srgbClr val="E4EBEF"/>
                      </a:solidFill>
                      <a:prstDash val="solid"/>
                    </a:lnL>
                    <a:lnR w="7620">
                      <a:solidFill>
                        <a:srgbClr val="E4EBEF"/>
                      </a:solidFill>
                      <a:prstDash val="solid"/>
                    </a:lnR>
                    <a:lnT w="7620" cap="flat" cmpd="sng" algn="ctr">
                      <a:solidFill>
                        <a:srgbClr val="E4EBEF"/>
                      </a:solidFill>
                      <a:prstDash val="solid"/>
                      <a:round/>
                      <a:headEnd type="none" w="med" len="med"/>
                      <a:tailEnd type="none" w="med" len="med"/>
                    </a:lnT>
                    <a:lnB w="7620">
                      <a:solidFill>
                        <a:srgbClr val="E4EBEF"/>
                      </a:solidFill>
                      <a:prstDash val="solid"/>
                    </a:lnB>
                    <a:solidFill>
                      <a:srgbClr val="FFFFFF"/>
                    </a:solidFill>
                  </a:tcPr>
                </a:tc>
                <a:tc>
                  <a:txBody>
                    <a:bodyPr/>
                    <a:lstStyle/>
                    <a:p>
                      <a:r>
                        <a:rPr sz="1650">
                          <a:solidFill>
                            <a:srgbClr val="142B3D"/>
                          </a:solidFill>
                        </a:rPr>
                        <a:t>Simulated</a:t>
                      </a:r>
                    </a:p>
                  </a:txBody>
                  <a:tcPr marL="95250" marR="95250" marT="76200" marB="76200" anchor="ctr">
                    <a:lnL w="7620" cap="flat" cmpd="sng" algn="ctr">
                      <a:solidFill>
                        <a:srgbClr val="E4EBEF"/>
                      </a:solidFill>
                      <a:prstDash val="solid"/>
                      <a:round/>
                      <a:headEnd type="none" w="med" len="med"/>
                      <a:tailEnd type="none" w="med" len="med"/>
                    </a:lnL>
                    <a:lnR w="7620">
                      <a:solidFill>
                        <a:srgbClr val="E4EBEF"/>
                      </a:solidFill>
                      <a:prstDash val="solid"/>
                    </a:lnR>
                    <a:lnT w="7620" cap="flat" cmpd="sng" algn="ctr">
                      <a:solidFill>
                        <a:srgbClr val="E4EBEF"/>
                      </a:solidFill>
                      <a:prstDash val="solid"/>
                      <a:round/>
                      <a:headEnd type="none" w="med" len="med"/>
                      <a:tailEnd type="none" w="med" len="med"/>
                    </a:lnT>
                    <a:lnB w="7620">
                      <a:solidFill>
                        <a:srgbClr val="E4EBEF"/>
                      </a:solidFill>
                      <a:prstDash val="solid"/>
                    </a:lnB>
                    <a:solidFill>
                      <a:srgbClr val="FFFFFF"/>
                    </a:solidFill>
                  </a:tcPr>
                </a:tc>
                <a:extLst>
                  <a:ext uri="{0D108BD9-81ED-4DB2-BD59-A6C34878D82A}">
                    <a16:rowId xmlns:a16="http://schemas.microsoft.com/office/drawing/2014/main" val="10003"/>
                  </a:ext>
                </a:extLst>
              </a:tr>
              <a:tr h="483054">
                <a:tc>
                  <a:txBody>
                    <a:bodyPr/>
                    <a:lstStyle/>
                    <a:p>
                      <a:r>
                        <a:rPr sz="1650">
                          <a:solidFill>
                            <a:srgbClr val="087F95"/>
                          </a:solidFill>
                          <a:hlinkClick r:id="rId7"/>
                        </a:rPr>
                        <a:t>11  Low-density heat transfer</a:t>
                      </a:r>
                    </a:p>
                  </a:txBody>
                  <a:tcPr marL="95250" marR="95250" marT="76200" marB="76200" anchor="ctr">
                    <a:lnL w="7620">
                      <a:solidFill>
                        <a:srgbClr val="E4EBEF"/>
                      </a:solidFill>
                      <a:prstDash val="solid"/>
                    </a:lnL>
                    <a:lnR w="7620">
                      <a:solidFill>
                        <a:srgbClr val="E4EBEF"/>
                      </a:solidFill>
                      <a:prstDash val="solid"/>
                    </a:lnR>
                    <a:lnT w="7620" cap="flat" cmpd="sng" algn="ctr">
                      <a:solidFill>
                        <a:srgbClr val="E4EBEF"/>
                      </a:solidFill>
                      <a:prstDash val="solid"/>
                      <a:round/>
                      <a:headEnd type="none" w="med" len="med"/>
                      <a:tailEnd type="none" w="med" len="med"/>
                    </a:lnT>
                    <a:lnB w="7620">
                      <a:solidFill>
                        <a:srgbClr val="E4EBEF"/>
                      </a:solidFill>
                      <a:prstDash val="solid"/>
                    </a:lnB>
                    <a:solidFill>
                      <a:srgbClr val="FFFFFF"/>
                    </a:solidFill>
                  </a:tcPr>
                </a:tc>
                <a:tc>
                  <a:txBody>
                    <a:bodyPr/>
                    <a:lstStyle/>
                    <a:p>
                      <a:r>
                        <a:rPr sz="1650">
                          <a:solidFill>
                            <a:srgbClr val="142B3D"/>
                          </a:solidFill>
                        </a:rPr>
                        <a:t>Simulated</a:t>
                      </a:r>
                    </a:p>
                  </a:txBody>
                  <a:tcPr marL="95250" marR="95250" marT="76200" marB="76200" anchor="ctr">
                    <a:lnL w="7620" cap="flat" cmpd="sng" algn="ctr">
                      <a:solidFill>
                        <a:srgbClr val="E4EBEF"/>
                      </a:solidFill>
                      <a:prstDash val="solid"/>
                      <a:round/>
                      <a:headEnd type="none" w="med" len="med"/>
                      <a:tailEnd type="none" w="med" len="med"/>
                    </a:lnL>
                    <a:lnR w="7620">
                      <a:solidFill>
                        <a:srgbClr val="E4EBEF"/>
                      </a:solidFill>
                      <a:prstDash val="solid"/>
                    </a:lnR>
                    <a:lnT w="7620" cap="flat" cmpd="sng" algn="ctr">
                      <a:solidFill>
                        <a:srgbClr val="E4EBEF"/>
                      </a:solidFill>
                      <a:prstDash val="solid"/>
                      <a:round/>
                      <a:headEnd type="none" w="med" len="med"/>
                      <a:tailEnd type="none" w="med" len="med"/>
                    </a:lnT>
                    <a:lnB w="7620">
                      <a:solidFill>
                        <a:srgbClr val="E4EBEF"/>
                      </a:solidFill>
                      <a:prstDash val="solid"/>
                    </a:lnB>
                    <a:solidFill>
                      <a:srgbClr val="FFFFFF"/>
                    </a:solidFill>
                  </a:tcPr>
                </a:tc>
                <a:extLst>
                  <a:ext uri="{0D108BD9-81ED-4DB2-BD59-A6C34878D82A}">
                    <a16:rowId xmlns:a16="http://schemas.microsoft.com/office/drawing/2014/main" val="10004"/>
                  </a:ext>
                </a:extLst>
              </a:tr>
              <a:tr h="483054">
                <a:tc>
                  <a:txBody>
                    <a:bodyPr/>
                    <a:lstStyle/>
                    <a:p>
                      <a:r>
                        <a:rPr sz="1650">
                          <a:solidFill>
                            <a:srgbClr val="087F95"/>
                          </a:solidFill>
                          <a:hlinkClick r:id="rId12"/>
                        </a:rPr>
                        <a:t>12  Equivalent thermal tools</a:t>
                      </a:r>
                    </a:p>
                  </a:txBody>
                  <a:tcPr marL="95250" marR="95250" marT="76200" marB="76200" anchor="ctr">
                    <a:lnL w="7620">
                      <a:solidFill>
                        <a:srgbClr val="E4EBEF"/>
                      </a:solidFill>
                      <a:prstDash val="solid"/>
                    </a:lnL>
                    <a:lnR w="7620">
                      <a:solidFill>
                        <a:srgbClr val="E4EBEF"/>
                      </a:solidFill>
                      <a:prstDash val="solid"/>
                    </a:lnR>
                    <a:lnT w="7620" cap="flat" cmpd="sng" algn="ctr">
                      <a:solidFill>
                        <a:srgbClr val="E4EBEF"/>
                      </a:solidFill>
                      <a:prstDash val="solid"/>
                      <a:round/>
                      <a:headEnd type="none" w="med" len="med"/>
                      <a:tailEnd type="none" w="med" len="med"/>
                    </a:lnT>
                    <a:lnB w="7620">
                      <a:solidFill>
                        <a:srgbClr val="E4EBEF"/>
                      </a:solidFill>
                      <a:prstDash val="solid"/>
                    </a:lnB>
                    <a:solidFill>
                      <a:srgbClr val="FFFFFF"/>
                    </a:solidFill>
                  </a:tcPr>
                </a:tc>
                <a:tc>
                  <a:txBody>
                    <a:bodyPr/>
                    <a:lstStyle/>
                    <a:p>
                      <a:r>
                        <a:rPr sz="1650">
                          <a:solidFill>
                            <a:srgbClr val="142B3D"/>
                          </a:solidFill>
                        </a:rPr>
                        <a:t>Simulated</a:t>
                      </a:r>
                    </a:p>
                  </a:txBody>
                  <a:tcPr marL="95250" marR="95250" marT="76200" marB="76200" anchor="ctr">
                    <a:lnL w="7620" cap="flat" cmpd="sng" algn="ctr">
                      <a:solidFill>
                        <a:srgbClr val="E4EBEF"/>
                      </a:solidFill>
                      <a:prstDash val="solid"/>
                      <a:round/>
                      <a:headEnd type="none" w="med" len="med"/>
                      <a:tailEnd type="none" w="med" len="med"/>
                    </a:lnL>
                    <a:lnR w="7620">
                      <a:solidFill>
                        <a:srgbClr val="E4EBEF"/>
                      </a:solidFill>
                      <a:prstDash val="solid"/>
                    </a:lnR>
                    <a:lnT w="7620" cap="flat" cmpd="sng" algn="ctr">
                      <a:solidFill>
                        <a:srgbClr val="E4EBEF"/>
                      </a:solidFill>
                      <a:prstDash val="solid"/>
                      <a:round/>
                      <a:headEnd type="none" w="med" len="med"/>
                      <a:tailEnd type="none" w="med" len="med"/>
                    </a:lnT>
                    <a:lnB w="7620">
                      <a:solidFill>
                        <a:srgbClr val="E4EBEF"/>
                      </a:solidFill>
                      <a:prstDash val="solid"/>
                    </a:lnB>
                    <a:solidFill>
                      <a:srgbClr val="FFFFFF"/>
                    </a:solidFill>
                  </a:tcPr>
                </a:tc>
                <a:extLst>
                  <a:ext uri="{0D108BD9-81ED-4DB2-BD59-A6C34878D82A}">
                    <a16:rowId xmlns:a16="http://schemas.microsoft.com/office/drawing/2014/main" val="10005"/>
                  </a:ext>
                </a:extLst>
              </a:tr>
              <a:tr h="483054">
                <a:tc>
                  <a:txBody>
                    <a:bodyPr/>
                    <a:lstStyle/>
                    <a:p>
                      <a:r>
                        <a:rPr sz="1650">
                          <a:solidFill>
                            <a:srgbClr val="087F95"/>
                          </a:solidFill>
                          <a:hlinkClick r:id="rId8"/>
                        </a:rPr>
                        <a:t>13  Hardware readiness</a:t>
                      </a:r>
                    </a:p>
                  </a:txBody>
                  <a:tcPr marL="95250" marR="95250" marT="76200" marB="76200" anchor="ctr">
                    <a:lnL w="7620">
                      <a:solidFill>
                        <a:srgbClr val="E4EBEF"/>
                      </a:solidFill>
                      <a:prstDash val="solid"/>
                    </a:lnL>
                    <a:lnR w="7620">
                      <a:solidFill>
                        <a:srgbClr val="E4EBEF"/>
                      </a:solidFill>
                      <a:prstDash val="solid"/>
                    </a:lnR>
                    <a:lnT w="7620" cap="flat" cmpd="sng" algn="ctr">
                      <a:solidFill>
                        <a:srgbClr val="E4EBEF"/>
                      </a:solidFill>
                      <a:prstDash val="solid"/>
                      <a:round/>
                      <a:headEnd type="none" w="med" len="med"/>
                      <a:tailEnd type="none" w="med" len="med"/>
                    </a:lnT>
                    <a:lnB w="7620">
                      <a:solidFill>
                        <a:srgbClr val="E4EBEF"/>
                      </a:solidFill>
                      <a:prstDash val="solid"/>
                    </a:lnB>
                    <a:solidFill>
                      <a:srgbClr val="FFFFFF"/>
                    </a:solidFill>
                  </a:tcPr>
                </a:tc>
                <a:tc>
                  <a:txBody>
                    <a:bodyPr/>
                    <a:lstStyle/>
                    <a:p>
                      <a:r>
                        <a:rPr sz="1650">
                          <a:solidFill>
                            <a:srgbClr val="B34C4C"/>
                          </a:solidFill>
                        </a:rPr>
                        <a:t>Open</a:t>
                      </a:r>
                    </a:p>
                  </a:txBody>
                  <a:tcPr marL="95250" marR="95250" marT="76200" marB="76200" anchor="ctr">
                    <a:lnL w="7620" cap="flat" cmpd="sng" algn="ctr">
                      <a:solidFill>
                        <a:srgbClr val="E4EBEF"/>
                      </a:solidFill>
                      <a:prstDash val="solid"/>
                      <a:round/>
                      <a:headEnd type="none" w="med" len="med"/>
                      <a:tailEnd type="none" w="med" len="med"/>
                    </a:lnL>
                    <a:lnR w="7620">
                      <a:solidFill>
                        <a:srgbClr val="E4EBEF"/>
                      </a:solidFill>
                      <a:prstDash val="solid"/>
                    </a:lnR>
                    <a:lnT w="7620" cap="flat" cmpd="sng" algn="ctr">
                      <a:solidFill>
                        <a:srgbClr val="E4EBEF"/>
                      </a:solidFill>
                      <a:prstDash val="solid"/>
                      <a:round/>
                      <a:headEnd type="none" w="med" len="med"/>
                      <a:tailEnd type="none" w="med" len="med"/>
                    </a:lnT>
                    <a:lnB w="7620">
                      <a:solidFill>
                        <a:srgbClr val="E4EBEF"/>
                      </a:solidFill>
                      <a:prstDash val="solid"/>
                    </a:lnB>
                    <a:solidFill>
                      <a:srgbClr val="FFFFFF"/>
                    </a:solidFill>
                  </a:tcPr>
                </a:tc>
                <a:extLst>
                  <a:ext uri="{0D108BD9-81ED-4DB2-BD59-A6C34878D82A}">
                    <a16:rowId xmlns:a16="http://schemas.microsoft.com/office/drawing/2014/main" val="10006"/>
                  </a:ext>
                </a:extLst>
              </a:tr>
            </a:tbl>
          </a:graphicData>
        </a:graphic>
      </p:graphicFrame>
      <p:sp>
        <p:nvSpPr>
          <p:cNvPr id="7" name="9 simulated areas + 1 synthetic workflow     2 planned areas     ">
            <a:extLst>
              <a:ext uri="{FF2B5EF4-FFF2-40B4-BE49-F238E27FC236}">
                <a16:creationId xmlns:a16="http://schemas.microsoft.com/office/drawing/2014/main" id="{A296F9F8-7782-4A3A-9169-9E6904296E20}"/>
              </a:ext>
            </a:extLst>
          </p:cNvPr>
          <p:cNvSpPr>
            <a:spLocks noGrp="1"/>
          </p:cNvSpPr>
          <p:nvPr/>
        </p:nvSpPr>
        <p:spPr>
          <a:xfrm>
            <a:off x="533400" y="5781675"/>
            <a:ext cx="11049000" cy="400050"/>
          </a:xfrm>
          <a:prstGeom prst="rect">
            <a:avLst/>
          </a:prstGeom>
          <a:noFill/>
          <a:ln w="0">
            <a:noFill/>
          </a:ln>
        </p:spPr>
        <p:txBody>
          <a:bodyPr lIns="0" tIns="0" rIns="0" bIns="0" anchor="t"/>
          <a:lstStyle>
            <a:defPPr>
              <a:defRPr sz="2025" b="1">
                <a:solidFill>
                  <a:srgbClr val="142B3D"/>
                </a:solidFill>
              </a:defRPr>
            </a:defPPr>
            <a:lvl1pPr>
              <a:defRPr sz="2025" b="1">
                <a:solidFill>
                  <a:srgbClr val="142B3D"/>
                </a:solidFill>
              </a:defRPr>
            </a:lvl1pPr>
            <a:lvl2pPr>
              <a:defRPr sz="2025" b="1">
                <a:solidFill>
                  <a:srgbClr val="142B3D"/>
                </a:solidFill>
              </a:defRPr>
            </a:lvl2pPr>
            <a:lvl3pPr>
              <a:defRPr sz="2025" b="1">
                <a:solidFill>
                  <a:srgbClr val="142B3D"/>
                </a:solidFill>
              </a:defRPr>
            </a:lvl3pPr>
            <a:lvl4pPr>
              <a:defRPr sz="2025" b="1">
                <a:solidFill>
                  <a:srgbClr val="142B3D"/>
                </a:solidFill>
              </a:defRPr>
            </a:lvl4pPr>
            <a:lvl5pPr>
              <a:defRPr sz="2025" b="1">
                <a:solidFill>
                  <a:srgbClr val="142B3D"/>
                </a:solidFill>
              </a:defRPr>
            </a:lvl5pPr>
            <a:lvl6pPr>
              <a:defRPr sz="2025" b="1">
                <a:solidFill>
                  <a:srgbClr val="142B3D"/>
                </a:solidFill>
              </a:defRPr>
            </a:lvl6pPr>
            <a:lvl7pPr>
              <a:defRPr sz="2025" b="1">
                <a:solidFill>
                  <a:srgbClr val="142B3D"/>
                </a:solidFill>
              </a:defRPr>
            </a:lvl7pPr>
            <a:lvl8pPr>
              <a:defRPr sz="2025" b="1">
                <a:solidFill>
                  <a:srgbClr val="142B3D"/>
                </a:solidFill>
              </a:defRPr>
            </a:lvl8pPr>
            <a:lvl9pPr>
              <a:defRPr sz="2025" b="1">
                <a:solidFill>
                  <a:srgbClr val="142B3D"/>
                </a:solidFill>
              </a:defRPr>
            </a:lvl9pPr>
          </a:lstStyle>
          <a:p>
            <a:pPr>
              <a:defRPr sz="2025" b="1">
                <a:solidFill>
                  <a:srgbClr val="142B3D"/>
                </a:solidFill>
              </a:defRPr>
            </a:pPr>
            <a:r>
              <a:rPr sz="2025" b="1">
                <a:solidFill>
                  <a:srgbClr val="142B3D"/>
                </a:solidFill>
              </a:rPr>
              <a:t>9 simulated areas + 1 synthetic workflow     2 planned areas     1 open gate</a:t>
            </a:r>
          </a:p>
        </p:txBody>
      </p:sp>
    </p:spTree>
    <p:extLst>
      <p:ext uri="{BB962C8B-B14F-4D97-AF65-F5344CB8AC3E}">
        <p14:creationId xmlns:p14="http://schemas.microsoft.com/office/powerpoint/2010/main" val="1460040151"/>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5889</Words>
  <Application>Microsoft Macintosh PowerPoint</Application>
  <DocSecurity>0</DocSecurity>
  <PresentationFormat>Widescreen</PresentationFormat>
  <Paragraphs>496</Paragraphs>
  <Slides>20</Slides>
  <Notes>20</Notes>
  <HiddenSlides>0</HiddenSlides>
  <MMClips>1</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20</vt:i4>
      </vt:variant>
    </vt:vector>
  </HeadingPairs>
  <TitlesOfParts>
    <vt:vector size="22" baseType="lpstr">
      <vt:lpstr>Arial</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Mohammadreza Khani, Ph.D.</cp:lastModifiedBy>
  <cp:revision>1</cp:revision>
  <dcterms:created xsi:type="dcterms:W3CDTF">2026-10-25T01:54:20Z</dcterms:created>
  <dcterms:modified xsi:type="dcterms:W3CDTF">2026-10-25T23:29:54Z</dcterms:modified>
</cp:coreProperties>
</file>